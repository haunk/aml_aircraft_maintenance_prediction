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ROC (AUC=0.754)</c:v>
                </c:pt>
              </c:strCache>
            </c:strRef>
          </c:tx>
          <c:spPr>
            <a:solidFill>
              <a:srgbClr val="156082"/>
            </a:solidFill>
            <a:ln w="25400" cap="flat">
              <a:solidFill>
                <a:srgbClr val="156082"/>
              </a:solidFill>
              <a:prstDash val="solid"/>
              <a:round/>
            </a:ln>
            <a:effectLst/>
          </c:spPr>
          <c:marker>
            <c:symbol val="circle"/>
            <c:size val="6"/>
            <c:spPr>
              <a:solidFill>
                <a:srgbClr val="156082"/>
              </a:solidFill>
              <a:ln w="9525" cap="flat">
                <a:solidFill>
                  <a:srgbClr val="15608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c:v>
                </c:pt>
                <c:pt idx="15">
                  <c:v>0.6</c:v>
                </c:pt>
                <c:pt idx="16">
                  <c:v>0.65</c:v>
                </c:pt>
                <c:pt idx="17">
                  <c:v>0.7</c:v>
                </c:pt>
                <c:pt idx="18">
                  <c:v>0.8</c:v>
                </c:pt>
                <c:pt idx="19">
                  <c:v>0.9</c:v>
                </c:pt>
                <c:pt idx="20">
                  <c:v>1</c:v>
                </c:pt>
              </c:numCache>
            </c:numRef>
          </c:xVal>
          <c:yVal>
            <c:numRef>
              <c:f>Sheet1!$B$2:$B$22</c:f>
              <c:numCache>
                <c:formatCode>General</c:formatCode>
                <c:ptCount val="21"/>
                <c:pt idx="0">
                  <c:v>0</c:v>
                </c:pt>
                <c:pt idx="1">
                  <c:v>0.05</c:v>
                </c:pt>
                <c:pt idx="2">
                  <c:v>0.15</c:v>
                </c:pt>
                <c:pt idx="3">
                  <c:v>0.25</c:v>
                </c:pt>
                <c:pt idx="4">
                  <c:v>0.35</c:v>
                </c:pt>
                <c:pt idx="5">
                  <c:v>0.4</c:v>
                </c:pt>
                <c:pt idx="6">
                  <c:v>0.48</c:v>
                </c:pt>
                <c:pt idx="7">
                  <c:v>0.55</c:v>
                </c:pt>
                <c:pt idx="8">
                  <c:v>0.6</c:v>
                </c:pt>
                <c:pt idx="9">
                  <c:v>0.65</c:v>
                </c:pt>
                <c:pt idx="10">
                  <c:v>0.69</c:v>
                </c:pt>
                <c:pt idx="11">
                  <c:v>0.73</c:v>
                </c:pt>
                <c:pt idx="12">
                  <c:v>0.76</c:v>
                </c:pt>
                <c:pt idx="13">
                  <c:v>0.79</c:v>
                </c:pt>
                <c:pt idx="14">
                  <c:v>0.82</c:v>
                </c:pt>
                <c:pt idx="15">
                  <c:v>0.85</c:v>
                </c:pt>
                <c:pt idx="16">
                  <c:v>0.88</c:v>
                </c:pt>
                <c:pt idx="17">
                  <c:v>0.9</c:v>
                </c:pt>
                <c:pt idx="18">
                  <c:v>0.94</c:v>
                </c:pt>
                <c:pt idx="19">
                  <c:v>0.97</c:v>
                </c:pt>
                <c:pt idx="20">
                  <c:v>1</c:v>
                </c:pt>
              </c:numCache>
            </c:numRef>
          </c:yVal>
          <c:smooth val="1"/>
        </c:ser>
        <c:ser>
          <c:idx val="1"/>
          <c:order val="1"/>
          <c:tx>
            <c:strRef>
              <c:f>Sheet1!$C$1</c:f>
              <c:strCache>
                <c:ptCount val="1"/>
                <c:pt idx="0">
                  <c:v>FPR_diag</c:v>
                </c:pt>
              </c:strCache>
            </c:strRef>
          </c:tx>
          <c:spPr>
            <a:solidFill>
              <a:srgbClr val="E97132"/>
            </a:solidFill>
            <a:ln w="25400" cap="flat">
              <a:solidFill>
                <a:srgbClr val="E97132"/>
              </a:solidFill>
              <a:prstDash val="solid"/>
              <a:round/>
            </a:ln>
            <a:effectLst/>
          </c:spPr>
          <c:marker>
            <c:symbol val="circle"/>
            <c:size val="6"/>
            <c:spPr>
              <a:solidFill>
                <a:srgbClr val="E97132"/>
              </a:solidFill>
              <a:ln w="9525" cap="flat">
                <a:solidFill>
                  <a:srgbClr val="E9713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c:v>
                </c:pt>
                <c:pt idx="15">
                  <c:v>0.6</c:v>
                </c:pt>
                <c:pt idx="16">
                  <c:v>0.65</c:v>
                </c:pt>
                <c:pt idx="17">
                  <c:v>0.7</c:v>
                </c:pt>
                <c:pt idx="18">
                  <c:v>0.8</c:v>
                </c:pt>
                <c:pt idx="19">
                  <c:v>0.9</c:v>
                </c:pt>
                <c:pt idx="20">
                  <c:v>1</c:v>
                </c:pt>
              </c:numCache>
            </c:numRef>
          </c:xVal>
          <c:yVal>
            <c:numRef>
              <c:f>Sheet1!$C$2:$C$22</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numCache>
            </c:numRef>
          </c:yVal>
          <c:smooth val="1"/>
        </c:ser>
        <c:ser>
          <c:idx val="2"/>
          <c:order val="2"/>
          <c:tx>
            <c:strRef>
              <c:f>Sheet1!$D$1</c:f>
              <c:strCache>
                <c:ptCount val="1"/>
                <c:pt idx="0">
                  <c:v>Random baseline</c:v>
                </c:pt>
              </c:strCache>
            </c:strRef>
          </c:tx>
          <c:spPr>
            <a:solidFill>
              <a:srgbClr val="156082"/>
            </a:solidFill>
            <a:ln w="25400" cap="flat">
              <a:solidFill>
                <a:srgbClr val="156082"/>
              </a:solidFill>
              <a:prstDash val="solid"/>
              <a:round/>
            </a:ln>
            <a:effectLst/>
          </c:spPr>
          <c:marker>
            <c:symbol val="circle"/>
            <c:size val="6"/>
            <c:spPr>
              <a:solidFill>
                <a:srgbClr val="156082"/>
              </a:solidFill>
              <a:ln w="9525" cap="flat">
                <a:solidFill>
                  <a:srgbClr val="156082"/>
                </a:solidFill>
                <a:prstDash val="solid"/>
                <a:round/>
              </a:ln>
              <a:effectLst/>
            </c:spPr>
          </c:marker>
          <c:xVal>
            <c:numRef>
              <c:f>Sheet1!$A$2:$A$22</c:f>
              <c:numCache>
                <c:formatCode>General</c:formatCode>
                <c:ptCount val="21"/>
                <c:pt idx="0">
                  <c:v>0</c:v>
                </c:pt>
                <c:pt idx="1">
                  <c:v>0.01</c:v>
                </c:pt>
                <c:pt idx="2">
                  <c:v>0.03</c:v>
                </c:pt>
                <c:pt idx="3">
                  <c:v>0.05</c:v>
                </c:pt>
                <c:pt idx="4">
                  <c:v>0.08</c:v>
                </c:pt>
                <c:pt idx="5">
                  <c:v>0.1</c:v>
                </c:pt>
                <c:pt idx="6">
                  <c:v>0.15</c:v>
                </c:pt>
                <c:pt idx="7">
                  <c:v>0.2</c:v>
                </c:pt>
                <c:pt idx="8">
                  <c:v>0.25</c:v>
                </c:pt>
                <c:pt idx="9">
                  <c:v>0.3</c:v>
                </c:pt>
                <c:pt idx="10">
                  <c:v>0.35</c:v>
                </c:pt>
                <c:pt idx="11">
                  <c:v>0.4</c:v>
                </c:pt>
                <c:pt idx="12">
                  <c:v>0.45</c:v>
                </c:pt>
                <c:pt idx="13">
                  <c:v>0.5</c:v>
                </c:pt>
                <c:pt idx="14">
                  <c:v>0.55</c:v>
                </c:pt>
                <c:pt idx="15">
                  <c:v>0.6</c:v>
                </c:pt>
                <c:pt idx="16">
                  <c:v>0.65</c:v>
                </c:pt>
                <c:pt idx="17">
                  <c:v>0.7</c:v>
                </c:pt>
                <c:pt idx="18">
                  <c:v>0.8</c:v>
                </c:pt>
                <c:pt idx="19">
                  <c:v>0.9</c:v>
                </c:pt>
                <c:pt idx="20">
                  <c:v>1</c:v>
                </c:pt>
              </c:numCache>
            </c:numRef>
          </c:xVal>
          <c:yVal>
            <c:numRef>
              <c:f>Sheet1!$D$2:$D$22</c:f>
              <c:numCache>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numCache>
            </c:numRef>
          </c:yVal>
          <c:smooth val="1"/>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8E8E8"/>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8E8E8"/>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888888"/>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defRPr>
          </a:pPr>
          <a:endParaRPr lang="en-US"/>
        </a:p>
      </c:txPr>
    </c:legend>
    <c:plotVisOnly val="1"/>
    <c:dispBlanksAs val="span"/>
    <c:showDLblsOverMax val="1"/>
  </c:chart>
  <c:spPr>
    <a:solidFill>
      <a:srgbClr val="FFFFFF"/>
    </a:solidFill>
    <a:ln w="6350" cap="flat">
      <a:solidFill>
        <a:srgbClr val="DDDDDD"/>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4114800" cy="640080"/>
          </a:xfrm>
          <a:prstGeom prst="roundRect">
            <a:avLst>
              <a:gd name="adj" fmla="val 11429"/>
            </a:avLst>
          </a:prstGeom>
          <a:solidFill>
            <a:srgbClr val="156082"/>
          </a:solidFill>
          <a:ln/>
        </p:spPr>
      </p:sp>
      <p:sp>
        <p:nvSpPr>
          <p:cNvPr id="3" name="Text 1"/>
          <p:cNvSpPr/>
          <p:nvPr/>
        </p:nvSpPr>
        <p:spPr>
          <a:xfrm>
            <a:off x="274320" y="137160"/>
            <a:ext cx="41148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Transformer Approach</a:t>
            </a:r>
            <a:endParaRPr lang="en-US" sz="2800" dirty="0"/>
          </a:p>
        </p:txBody>
      </p:sp>
      <p:sp>
        <p:nvSpPr>
          <p:cNvPr id="4" name="Text 2"/>
          <p:cNvSpPr/>
          <p:nvPr/>
        </p:nvSpPr>
        <p:spPr>
          <a:xfrm>
            <a:off x="274320" y="868680"/>
            <a:ext cx="11612880" cy="548640"/>
          </a:xfrm>
          <a:prstGeom prst="rect">
            <a:avLst/>
          </a:prstGeom>
          <a:noFill/>
          <a:ln/>
        </p:spPr>
        <p:txBody>
          <a:bodyPr wrap="square" lIns="0" tIns="0" rIns="0" bIns="0"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Why Convolutional Transformer: </a:t>
            </a:r>
            <a:pPr indent="0" marL="0">
              <a:buNone/>
            </a:pPr>
            <a:r>
              <a:rPr lang="en-US" sz="1200" dirty="0">
                <a:solidFill>
                  <a:srgbClr val="444444"/>
                </a:solidFill>
                <a:latin typeface="Calibri" pitchFamily="34" charset="0"/>
                <a:ea typeface="Calibri" pitchFamily="34" charset="-122"/>
                <a:cs typeface="Calibri" pitchFamily="34" charset="-120"/>
              </a:rPr>
              <a:t>RNNs suffer from vanishing gradients on long sequences (9,212 timesteps). Standard Transformers are O(n²) on sequence length, causing GPU memory overflow. Conv-MHSA (Yang et al. 2022) solves both: 1D convolutions compress the temporal dimension 8x, then self-attention captures temporally distant relationships that CNNs and RNNs cannot detect.</a:t>
            </a:r>
            <a:endParaRPr lang="en-US" sz="1200" dirty="0"/>
          </a:p>
        </p:txBody>
      </p:sp>
      <p:sp>
        <p:nvSpPr>
          <p:cNvPr id="5" name="Text 3"/>
          <p:cNvSpPr/>
          <p:nvPr/>
        </p:nvSpPr>
        <p:spPr>
          <a:xfrm>
            <a:off x="274320" y="1508760"/>
            <a:ext cx="2743200" cy="274320"/>
          </a:xfrm>
          <a:prstGeom prst="rect">
            <a:avLst/>
          </a:prstGeom>
          <a:noFill/>
          <a:ln/>
        </p:spPr>
        <p:txBody>
          <a:bodyPr wrap="square" lIns="0" tIns="0" rIns="0" bIns="0" rtlCol="0" anchor="ctr"/>
          <a:lstStyle/>
          <a:p>
            <a:pPr indent="0" marL="0">
              <a:buNone/>
            </a:pPr>
            <a:r>
              <a:rPr lang="en-US" sz="1600" b="1" u="sng" dirty="0">
                <a:solidFill>
                  <a:srgbClr val="000000"/>
                </a:solidFill>
                <a:latin typeface="Calibri" pitchFamily="34" charset="0"/>
                <a:ea typeface="Calibri" pitchFamily="34" charset="-122"/>
                <a:cs typeface="Calibri" pitchFamily="34" charset="-120"/>
              </a:rPr>
              <a:t>Architecture</a:t>
            </a:r>
            <a:endParaRPr lang="en-US" sz="1600" dirty="0"/>
          </a:p>
        </p:txBody>
      </p:sp>
      <p:sp>
        <p:nvSpPr>
          <p:cNvPr id="6" name="Shape 4"/>
          <p:cNvSpPr/>
          <p:nvPr/>
        </p:nvSpPr>
        <p:spPr>
          <a:xfrm>
            <a:off x="365760" y="1828800"/>
            <a:ext cx="2926080" cy="420624"/>
          </a:xfrm>
          <a:prstGeom prst="roundRect">
            <a:avLst>
              <a:gd name="adj" fmla="val 13043"/>
            </a:avLst>
          </a:prstGeom>
          <a:solidFill>
            <a:srgbClr val="F2F2F2"/>
          </a:solidFill>
          <a:ln w="12700">
            <a:solidFill>
              <a:srgbClr val="CCCCCC"/>
            </a:solidFill>
            <a:prstDash val="solid"/>
          </a:ln>
        </p:spPr>
      </p:sp>
      <p:sp>
        <p:nvSpPr>
          <p:cNvPr id="7" name="Text 5"/>
          <p:cNvSpPr/>
          <p:nvPr/>
        </p:nvSpPr>
        <p:spPr>
          <a:xfrm>
            <a:off x="457200" y="1856232"/>
            <a:ext cx="2743200" cy="201168"/>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Input time series</a:t>
            </a:r>
            <a:endParaRPr lang="en-US" sz="1200" dirty="0"/>
          </a:p>
        </p:txBody>
      </p:sp>
      <p:sp>
        <p:nvSpPr>
          <p:cNvPr id="8" name="Text 6"/>
          <p:cNvSpPr/>
          <p:nvPr/>
        </p:nvSpPr>
        <p:spPr>
          <a:xfrm>
            <a:off x="457200" y="2048256"/>
            <a:ext cx="2743200" cy="16459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Shape: (19540, 9212, 15)</a:t>
            </a:r>
            <a:endParaRPr lang="en-US" sz="1000" dirty="0"/>
          </a:p>
        </p:txBody>
      </p:sp>
      <p:sp>
        <p:nvSpPr>
          <p:cNvPr id="9" name="Text 7"/>
          <p:cNvSpPr/>
          <p:nvPr/>
        </p:nvSpPr>
        <p:spPr>
          <a:xfrm>
            <a:off x="1691640" y="2276856"/>
            <a:ext cx="274320" cy="182880"/>
          </a:xfrm>
          <a:prstGeom prst="rect">
            <a:avLst/>
          </a:prstGeom>
          <a:noFill/>
          <a:ln/>
        </p:spPr>
        <p:txBody>
          <a:bodyPr wrap="square" lIns="0" tIns="0" rIns="0" bIns="0" rtlCol="0" anchor="ctr"/>
          <a:lstStyle/>
          <a:p>
            <a:pPr algn="ctr" indent="0" marL="0">
              <a:buNone/>
            </a:pPr>
            <a:r>
              <a:rPr lang="en-US" sz="1000" dirty="0">
                <a:solidFill>
                  <a:srgbClr val="AAAAAA"/>
                </a:solidFill>
              </a:rPr>
              <a:t>▼</a:t>
            </a:r>
            <a:endParaRPr lang="en-US" sz="1000" dirty="0"/>
          </a:p>
        </p:txBody>
      </p:sp>
      <p:sp>
        <p:nvSpPr>
          <p:cNvPr id="10" name="Shape 8"/>
          <p:cNvSpPr/>
          <p:nvPr/>
        </p:nvSpPr>
        <p:spPr>
          <a:xfrm>
            <a:off x="365760" y="2505456"/>
            <a:ext cx="2926080" cy="420624"/>
          </a:xfrm>
          <a:prstGeom prst="roundRect">
            <a:avLst>
              <a:gd name="adj" fmla="val 13043"/>
            </a:avLst>
          </a:prstGeom>
          <a:solidFill>
            <a:srgbClr val="D0EEF5"/>
          </a:solidFill>
          <a:ln w="12700">
            <a:solidFill>
              <a:srgbClr val="156082"/>
            </a:solidFill>
            <a:prstDash val="solid"/>
          </a:ln>
        </p:spPr>
      </p:sp>
      <p:sp>
        <p:nvSpPr>
          <p:cNvPr id="11" name="Text 9"/>
          <p:cNvSpPr/>
          <p:nvPr/>
        </p:nvSpPr>
        <p:spPr>
          <a:xfrm>
            <a:off x="457200" y="2532888"/>
            <a:ext cx="2743200" cy="201168"/>
          </a:xfrm>
          <a:prstGeom prst="rect">
            <a:avLst/>
          </a:prstGeom>
          <a:noFill/>
          <a:ln/>
        </p:spPr>
        <p:txBody>
          <a:bodyPr wrap="square" lIns="0" tIns="0" rIns="0" bIns="0" rtlCol="0" anchor="ctr"/>
          <a:lstStyle/>
          <a:p>
            <a:pPr indent="0" marL="0">
              <a:buNone/>
            </a:pPr>
            <a:r>
              <a:rPr lang="en-US" sz="1200" b="1" dirty="0">
                <a:solidFill>
                  <a:srgbClr val="0E4A63"/>
                </a:solidFill>
                <a:latin typeface="Calibri" pitchFamily="34" charset="0"/>
                <a:ea typeface="Calibri" pitchFamily="34" charset="-122"/>
                <a:cs typeface="Calibri" pitchFamily="34" charset="-120"/>
              </a:rPr>
              <a:t>Conv1d (stride=2)</a:t>
            </a:r>
            <a:endParaRPr lang="en-US" sz="1200" dirty="0"/>
          </a:p>
        </p:txBody>
      </p:sp>
      <p:sp>
        <p:nvSpPr>
          <p:cNvPr id="12" name="Text 10"/>
          <p:cNvSpPr/>
          <p:nvPr/>
        </p:nvSpPr>
        <p:spPr>
          <a:xfrm>
            <a:off x="457200" y="2724912"/>
            <a:ext cx="2743200" cy="16459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9212 → 4606 timesteps</a:t>
            </a:r>
            <a:endParaRPr lang="en-US" sz="1000" dirty="0"/>
          </a:p>
        </p:txBody>
      </p:sp>
      <p:sp>
        <p:nvSpPr>
          <p:cNvPr id="13" name="Text 11"/>
          <p:cNvSpPr/>
          <p:nvPr/>
        </p:nvSpPr>
        <p:spPr>
          <a:xfrm>
            <a:off x="1691640" y="2953512"/>
            <a:ext cx="274320" cy="182880"/>
          </a:xfrm>
          <a:prstGeom prst="rect">
            <a:avLst/>
          </a:prstGeom>
          <a:noFill/>
          <a:ln/>
        </p:spPr>
        <p:txBody>
          <a:bodyPr wrap="square" lIns="0" tIns="0" rIns="0" bIns="0" rtlCol="0" anchor="ctr"/>
          <a:lstStyle/>
          <a:p>
            <a:pPr algn="ctr" indent="0" marL="0">
              <a:buNone/>
            </a:pPr>
            <a:r>
              <a:rPr lang="en-US" sz="1000" dirty="0">
                <a:solidFill>
                  <a:srgbClr val="AAAAAA"/>
                </a:solidFill>
              </a:rPr>
              <a:t>▼</a:t>
            </a:r>
            <a:endParaRPr lang="en-US" sz="1000" dirty="0"/>
          </a:p>
        </p:txBody>
      </p:sp>
      <p:sp>
        <p:nvSpPr>
          <p:cNvPr id="14" name="Shape 12"/>
          <p:cNvSpPr/>
          <p:nvPr/>
        </p:nvSpPr>
        <p:spPr>
          <a:xfrm>
            <a:off x="365760" y="3182112"/>
            <a:ext cx="2926080" cy="420624"/>
          </a:xfrm>
          <a:prstGeom prst="roundRect">
            <a:avLst>
              <a:gd name="adj" fmla="val 13043"/>
            </a:avLst>
          </a:prstGeom>
          <a:solidFill>
            <a:srgbClr val="B8E6F0"/>
          </a:solidFill>
          <a:ln w="12700">
            <a:solidFill>
              <a:srgbClr val="156082"/>
            </a:solidFill>
            <a:prstDash val="solid"/>
          </a:ln>
        </p:spPr>
      </p:sp>
      <p:sp>
        <p:nvSpPr>
          <p:cNvPr id="15" name="Text 13"/>
          <p:cNvSpPr/>
          <p:nvPr/>
        </p:nvSpPr>
        <p:spPr>
          <a:xfrm>
            <a:off x="457200" y="3209544"/>
            <a:ext cx="2743200" cy="201168"/>
          </a:xfrm>
          <a:prstGeom prst="rect">
            <a:avLst/>
          </a:prstGeom>
          <a:noFill/>
          <a:ln/>
        </p:spPr>
        <p:txBody>
          <a:bodyPr wrap="square" lIns="0" tIns="0" rIns="0" bIns="0" rtlCol="0" anchor="ctr"/>
          <a:lstStyle/>
          <a:p>
            <a:pPr indent="0" marL="0">
              <a:buNone/>
            </a:pPr>
            <a:r>
              <a:rPr lang="en-US" sz="1200" b="1" dirty="0">
                <a:solidFill>
                  <a:srgbClr val="0E4A63"/>
                </a:solidFill>
                <a:latin typeface="Calibri" pitchFamily="34" charset="0"/>
                <a:ea typeface="Calibri" pitchFamily="34" charset="-122"/>
                <a:cs typeface="Calibri" pitchFamily="34" charset="-120"/>
              </a:rPr>
              <a:t>Conv1d (stride=4)</a:t>
            </a:r>
            <a:endParaRPr lang="en-US" sz="1200" dirty="0"/>
          </a:p>
        </p:txBody>
      </p:sp>
      <p:sp>
        <p:nvSpPr>
          <p:cNvPr id="16" name="Text 14"/>
          <p:cNvSpPr/>
          <p:nvPr/>
        </p:nvSpPr>
        <p:spPr>
          <a:xfrm>
            <a:off x="457200" y="3401568"/>
            <a:ext cx="2743200" cy="16459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4606 → ~1152 (8x compression)</a:t>
            </a:r>
            <a:endParaRPr lang="en-US" sz="1000" dirty="0"/>
          </a:p>
        </p:txBody>
      </p:sp>
      <p:sp>
        <p:nvSpPr>
          <p:cNvPr id="17" name="Text 15"/>
          <p:cNvSpPr/>
          <p:nvPr/>
        </p:nvSpPr>
        <p:spPr>
          <a:xfrm>
            <a:off x="1691640" y="3630168"/>
            <a:ext cx="274320" cy="182880"/>
          </a:xfrm>
          <a:prstGeom prst="rect">
            <a:avLst/>
          </a:prstGeom>
          <a:noFill/>
          <a:ln/>
        </p:spPr>
        <p:txBody>
          <a:bodyPr wrap="square" lIns="0" tIns="0" rIns="0" bIns="0" rtlCol="0" anchor="ctr"/>
          <a:lstStyle/>
          <a:p>
            <a:pPr algn="ctr" indent="0" marL="0">
              <a:buNone/>
            </a:pPr>
            <a:r>
              <a:rPr lang="en-US" sz="1000" dirty="0">
                <a:solidFill>
                  <a:srgbClr val="AAAAAA"/>
                </a:solidFill>
              </a:rPr>
              <a:t>▼</a:t>
            </a:r>
            <a:endParaRPr lang="en-US" sz="1000" dirty="0"/>
          </a:p>
        </p:txBody>
      </p:sp>
      <p:sp>
        <p:nvSpPr>
          <p:cNvPr id="18" name="Shape 16"/>
          <p:cNvSpPr/>
          <p:nvPr/>
        </p:nvSpPr>
        <p:spPr>
          <a:xfrm>
            <a:off x="365760" y="3858768"/>
            <a:ext cx="2926080" cy="420624"/>
          </a:xfrm>
          <a:prstGeom prst="roundRect">
            <a:avLst>
              <a:gd name="adj" fmla="val 13043"/>
            </a:avLst>
          </a:prstGeom>
          <a:solidFill>
            <a:srgbClr val="FFF3CD"/>
          </a:solidFill>
          <a:ln w="12700">
            <a:solidFill>
              <a:srgbClr val="C9A800"/>
            </a:solidFill>
            <a:prstDash val="solid"/>
          </a:ln>
        </p:spPr>
      </p:sp>
      <p:sp>
        <p:nvSpPr>
          <p:cNvPr id="19" name="Text 17"/>
          <p:cNvSpPr/>
          <p:nvPr/>
        </p:nvSpPr>
        <p:spPr>
          <a:xfrm>
            <a:off x="457200" y="3886200"/>
            <a:ext cx="2743200" cy="201168"/>
          </a:xfrm>
          <a:prstGeom prst="rect">
            <a:avLst/>
          </a:prstGeom>
          <a:noFill/>
          <a:ln/>
        </p:spPr>
        <p:txBody>
          <a:bodyPr wrap="square" lIns="0" tIns="0" rIns="0" bIns="0" rtlCol="0" anchor="ctr"/>
          <a:lstStyle/>
          <a:p>
            <a:pPr indent="0" marL="0">
              <a:buNone/>
            </a:pPr>
            <a:r>
              <a:rPr lang="en-US" sz="1200" b="1" dirty="0">
                <a:solidFill>
                  <a:srgbClr val="7A6500"/>
                </a:solidFill>
                <a:latin typeface="Calibri" pitchFamily="34" charset="0"/>
                <a:ea typeface="Calibri" pitchFamily="34" charset="-122"/>
                <a:cs typeface="Calibri" pitchFamily="34" charset="-120"/>
              </a:rPr>
              <a:t>Positional encoding</a:t>
            </a:r>
            <a:endParaRPr lang="en-US" sz="1200" dirty="0"/>
          </a:p>
        </p:txBody>
      </p:sp>
      <p:sp>
        <p:nvSpPr>
          <p:cNvPr id="20" name="Text 18"/>
          <p:cNvSpPr/>
          <p:nvPr/>
        </p:nvSpPr>
        <p:spPr>
          <a:xfrm>
            <a:off x="457200" y="4078224"/>
            <a:ext cx="2743200" cy="16459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Learnable, adds temporal order</a:t>
            </a:r>
            <a:endParaRPr lang="en-US" sz="1000" dirty="0"/>
          </a:p>
        </p:txBody>
      </p:sp>
      <p:sp>
        <p:nvSpPr>
          <p:cNvPr id="21" name="Text 19"/>
          <p:cNvSpPr/>
          <p:nvPr/>
        </p:nvSpPr>
        <p:spPr>
          <a:xfrm>
            <a:off x="1691640" y="4306824"/>
            <a:ext cx="274320" cy="182880"/>
          </a:xfrm>
          <a:prstGeom prst="rect">
            <a:avLst/>
          </a:prstGeom>
          <a:noFill/>
          <a:ln/>
        </p:spPr>
        <p:txBody>
          <a:bodyPr wrap="square" lIns="0" tIns="0" rIns="0" bIns="0" rtlCol="0" anchor="ctr"/>
          <a:lstStyle/>
          <a:p>
            <a:pPr algn="ctr" indent="0" marL="0">
              <a:buNone/>
            </a:pPr>
            <a:r>
              <a:rPr lang="en-US" sz="1000" dirty="0">
                <a:solidFill>
                  <a:srgbClr val="AAAAAA"/>
                </a:solidFill>
              </a:rPr>
              <a:t>▼</a:t>
            </a:r>
            <a:endParaRPr lang="en-US" sz="1000" dirty="0"/>
          </a:p>
        </p:txBody>
      </p:sp>
      <p:sp>
        <p:nvSpPr>
          <p:cNvPr id="22" name="Shape 20"/>
          <p:cNvSpPr/>
          <p:nvPr/>
        </p:nvSpPr>
        <p:spPr>
          <a:xfrm>
            <a:off x="365760" y="4535424"/>
            <a:ext cx="2926080" cy="420624"/>
          </a:xfrm>
          <a:prstGeom prst="roundRect">
            <a:avLst>
              <a:gd name="adj" fmla="val 13043"/>
            </a:avLst>
          </a:prstGeom>
          <a:solidFill>
            <a:srgbClr val="E8DCF0"/>
          </a:solidFill>
          <a:ln w="12700">
            <a:solidFill>
              <a:srgbClr val="7B4FA0"/>
            </a:solidFill>
            <a:prstDash val="solid"/>
          </a:ln>
        </p:spPr>
      </p:sp>
      <p:sp>
        <p:nvSpPr>
          <p:cNvPr id="23" name="Text 21"/>
          <p:cNvSpPr/>
          <p:nvPr/>
        </p:nvSpPr>
        <p:spPr>
          <a:xfrm>
            <a:off x="457200" y="4562856"/>
            <a:ext cx="2743200" cy="201168"/>
          </a:xfrm>
          <a:prstGeom prst="rect">
            <a:avLst/>
          </a:prstGeom>
          <a:noFill/>
          <a:ln/>
        </p:spPr>
        <p:txBody>
          <a:bodyPr wrap="square" lIns="0" tIns="0" rIns="0" bIns="0" rtlCol="0" anchor="ctr"/>
          <a:lstStyle/>
          <a:p>
            <a:pPr indent="0" marL="0">
              <a:buNone/>
            </a:pPr>
            <a:r>
              <a:rPr lang="en-US" sz="1200" b="1" dirty="0">
                <a:solidFill>
                  <a:srgbClr val="5B3A8C"/>
                </a:solidFill>
                <a:latin typeface="Calibri" pitchFamily="34" charset="0"/>
                <a:ea typeface="Calibri" pitchFamily="34" charset="-122"/>
                <a:cs typeface="Calibri" pitchFamily="34" charset="-120"/>
              </a:rPr>
              <a:t>4x Transformer encoder</a:t>
            </a:r>
            <a:endParaRPr lang="en-US" sz="1200" dirty="0"/>
          </a:p>
        </p:txBody>
      </p:sp>
      <p:sp>
        <p:nvSpPr>
          <p:cNvPr id="24" name="Text 22"/>
          <p:cNvSpPr/>
          <p:nvPr/>
        </p:nvSpPr>
        <p:spPr>
          <a:xfrm>
            <a:off x="457200" y="4754880"/>
            <a:ext cx="2743200" cy="16459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8 heads, d_model=256, dim_ff=1024</a:t>
            </a:r>
            <a:endParaRPr lang="en-US" sz="1000" dirty="0"/>
          </a:p>
        </p:txBody>
      </p:sp>
      <p:sp>
        <p:nvSpPr>
          <p:cNvPr id="25" name="Text 23"/>
          <p:cNvSpPr/>
          <p:nvPr/>
        </p:nvSpPr>
        <p:spPr>
          <a:xfrm>
            <a:off x="1691640" y="4983480"/>
            <a:ext cx="274320" cy="182880"/>
          </a:xfrm>
          <a:prstGeom prst="rect">
            <a:avLst/>
          </a:prstGeom>
          <a:noFill/>
          <a:ln/>
        </p:spPr>
        <p:txBody>
          <a:bodyPr wrap="square" lIns="0" tIns="0" rIns="0" bIns="0" rtlCol="0" anchor="ctr"/>
          <a:lstStyle/>
          <a:p>
            <a:pPr algn="ctr" indent="0" marL="0">
              <a:buNone/>
            </a:pPr>
            <a:r>
              <a:rPr lang="en-US" sz="1000" dirty="0">
                <a:solidFill>
                  <a:srgbClr val="AAAAAA"/>
                </a:solidFill>
              </a:rPr>
              <a:t>▼</a:t>
            </a:r>
            <a:endParaRPr lang="en-US" sz="1000" dirty="0"/>
          </a:p>
        </p:txBody>
      </p:sp>
      <p:sp>
        <p:nvSpPr>
          <p:cNvPr id="26" name="Shape 24"/>
          <p:cNvSpPr/>
          <p:nvPr/>
        </p:nvSpPr>
        <p:spPr>
          <a:xfrm>
            <a:off x="365760" y="5212080"/>
            <a:ext cx="2926080" cy="420624"/>
          </a:xfrm>
          <a:prstGeom prst="roundRect">
            <a:avLst>
              <a:gd name="adj" fmla="val 13043"/>
            </a:avLst>
          </a:prstGeom>
          <a:solidFill>
            <a:srgbClr val="FDDDD5"/>
          </a:solidFill>
          <a:ln w="12700">
            <a:solidFill>
              <a:srgbClr val="C85A30"/>
            </a:solidFill>
            <a:prstDash val="solid"/>
          </a:ln>
        </p:spPr>
      </p:sp>
      <p:sp>
        <p:nvSpPr>
          <p:cNvPr id="27" name="Text 25"/>
          <p:cNvSpPr/>
          <p:nvPr/>
        </p:nvSpPr>
        <p:spPr>
          <a:xfrm>
            <a:off x="457200" y="5239512"/>
            <a:ext cx="2743200" cy="201168"/>
          </a:xfrm>
          <a:prstGeom prst="rect">
            <a:avLst/>
          </a:prstGeom>
          <a:noFill/>
          <a:ln/>
        </p:spPr>
        <p:txBody>
          <a:bodyPr wrap="square" lIns="0" tIns="0" rIns="0" bIns="0" rtlCol="0" anchor="ctr"/>
          <a:lstStyle/>
          <a:p>
            <a:pPr indent="0" marL="0">
              <a:buNone/>
            </a:pPr>
            <a:r>
              <a:rPr lang="en-US" sz="1200" b="1" dirty="0">
                <a:solidFill>
                  <a:srgbClr val="8C3A2B"/>
                </a:solidFill>
                <a:latin typeface="Calibri" pitchFamily="34" charset="0"/>
                <a:ea typeface="Calibri" pitchFamily="34" charset="-122"/>
                <a:cs typeface="Calibri" pitchFamily="34" charset="-120"/>
              </a:rPr>
              <a:t>Masked mean pooling</a:t>
            </a:r>
            <a:endParaRPr lang="en-US" sz="1200" dirty="0"/>
          </a:p>
        </p:txBody>
      </p:sp>
      <p:sp>
        <p:nvSpPr>
          <p:cNvPr id="28" name="Text 26"/>
          <p:cNvSpPr/>
          <p:nvPr/>
        </p:nvSpPr>
        <p:spPr>
          <a:xfrm>
            <a:off x="457200" y="5431536"/>
            <a:ext cx="2743200" cy="16459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Ignores zero-padded timesteps</a:t>
            </a:r>
            <a:endParaRPr lang="en-US" sz="1000" dirty="0"/>
          </a:p>
        </p:txBody>
      </p:sp>
      <p:sp>
        <p:nvSpPr>
          <p:cNvPr id="29" name="Text 27"/>
          <p:cNvSpPr/>
          <p:nvPr/>
        </p:nvSpPr>
        <p:spPr>
          <a:xfrm>
            <a:off x="1691640" y="5660136"/>
            <a:ext cx="274320" cy="182880"/>
          </a:xfrm>
          <a:prstGeom prst="rect">
            <a:avLst/>
          </a:prstGeom>
          <a:noFill/>
          <a:ln/>
        </p:spPr>
        <p:txBody>
          <a:bodyPr wrap="square" lIns="0" tIns="0" rIns="0" bIns="0" rtlCol="0" anchor="ctr"/>
          <a:lstStyle/>
          <a:p>
            <a:pPr algn="ctr" indent="0" marL="0">
              <a:buNone/>
            </a:pPr>
            <a:r>
              <a:rPr lang="en-US" sz="1000" dirty="0">
                <a:solidFill>
                  <a:srgbClr val="AAAAAA"/>
                </a:solidFill>
              </a:rPr>
              <a:t>▼</a:t>
            </a:r>
            <a:endParaRPr lang="en-US" sz="1000" dirty="0"/>
          </a:p>
        </p:txBody>
      </p:sp>
      <p:sp>
        <p:nvSpPr>
          <p:cNvPr id="30" name="Shape 28"/>
          <p:cNvSpPr/>
          <p:nvPr/>
        </p:nvSpPr>
        <p:spPr>
          <a:xfrm>
            <a:off x="365760" y="5888736"/>
            <a:ext cx="2926080" cy="420624"/>
          </a:xfrm>
          <a:prstGeom prst="roundRect">
            <a:avLst>
              <a:gd name="adj" fmla="val 13043"/>
            </a:avLst>
          </a:prstGeom>
          <a:solidFill>
            <a:srgbClr val="D5F0E0"/>
          </a:solidFill>
          <a:ln w="12700">
            <a:solidFill>
              <a:srgbClr val="196B24"/>
            </a:solidFill>
            <a:prstDash val="solid"/>
          </a:ln>
        </p:spPr>
      </p:sp>
      <p:sp>
        <p:nvSpPr>
          <p:cNvPr id="31" name="Text 29"/>
          <p:cNvSpPr/>
          <p:nvPr/>
        </p:nvSpPr>
        <p:spPr>
          <a:xfrm>
            <a:off x="457200" y="5916168"/>
            <a:ext cx="2743200" cy="201168"/>
          </a:xfrm>
          <a:prstGeom prst="rect">
            <a:avLst/>
          </a:prstGeom>
          <a:noFill/>
          <a:ln/>
        </p:spPr>
        <p:txBody>
          <a:bodyPr wrap="square" lIns="0" tIns="0" rIns="0" bIns="0" rtlCol="0" anchor="ctr"/>
          <a:lstStyle/>
          <a:p>
            <a:pPr indent="0" marL="0">
              <a:buNone/>
            </a:pPr>
            <a:r>
              <a:rPr lang="en-US" sz="1200" b="1" dirty="0">
                <a:solidFill>
                  <a:srgbClr val="145A1A"/>
                </a:solidFill>
                <a:latin typeface="Calibri" pitchFamily="34" charset="0"/>
                <a:ea typeface="Calibri" pitchFamily="34" charset="-122"/>
                <a:cs typeface="Calibri" pitchFamily="34" charset="-120"/>
              </a:rPr>
              <a:t>Linear(256, 2)</a:t>
            </a:r>
            <a:endParaRPr lang="en-US" sz="1200" dirty="0"/>
          </a:p>
        </p:txBody>
      </p:sp>
      <p:sp>
        <p:nvSpPr>
          <p:cNvPr id="32" name="Text 30"/>
          <p:cNvSpPr/>
          <p:nvPr/>
        </p:nvSpPr>
        <p:spPr>
          <a:xfrm>
            <a:off x="457200" y="6108192"/>
            <a:ext cx="2743200" cy="16459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Output: P(at-risk), P(safe)</a:t>
            </a:r>
            <a:endParaRPr lang="en-US" sz="1000" dirty="0"/>
          </a:p>
        </p:txBody>
      </p:sp>
      <p:sp>
        <p:nvSpPr>
          <p:cNvPr id="33" name="Text 31"/>
          <p:cNvSpPr/>
          <p:nvPr/>
        </p:nvSpPr>
        <p:spPr>
          <a:xfrm>
            <a:off x="3749040" y="1508760"/>
            <a:ext cx="4572000" cy="274320"/>
          </a:xfrm>
          <a:prstGeom prst="rect">
            <a:avLst/>
          </a:prstGeom>
          <a:noFill/>
          <a:ln/>
        </p:spPr>
        <p:txBody>
          <a:bodyPr wrap="square" lIns="0" tIns="0" rIns="0" bIns="0" rtlCol="0" anchor="ctr"/>
          <a:lstStyle/>
          <a:p>
            <a:pPr indent="0" marL="0">
              <a:buNone/>
            </a:pPr>
            <a:r>
              <a:rPr lang="en-US" sz="1600" b="1" u="sng" dirty="0">
                <a:solidFill>
                  <a:srgbClr val="000000"/>
                </a:solidFill>
                <a:latin typeface="Calibri" pitchFamily="34" charset="0"/>
                <a:ea typeface="Calibri" pitchFamily="34" charset="-122"/>
                <a:cs typeface="Calibri" pitchFamily="34" charset="-120"/>
              </a:rPr>
              <a:t>Key design decisions</a:t>
            </a:r>
            <a:endParaRPr lang="en-US" sz="1600" dirty="0"/>
          </a:p>
        </p:txBody>
      </p:sp>
      <p:sp>
        <p:nvSpPr>
          <p:cNvPr id="34" name="Shape 32"/>
          <p:cNvSpPr/>
          <p:nvPr/>
        </p:nvSpPr>
        <p:spPr>
          <a:xfrm>
            <a:off x="3749040" y="1828800"/>
            <a:ext cx="8046720" cy="777240"/>
          </a:xfrm>
          <a:prstGeom prst="roundRect">
            <a:avLst>
              <a:gd name="adj" fmla="val 5882"/>
            </a:avLst>
          </a:prstGeom>
          <a:solidFill>
            <a:srgbClr val="F8FAFB"/>
          </a:solidFill>
          <a:ln w="6350">
            <a:solidFill>
              <a:srgbClr val="D0D8E0"/>
            </a:solidFill>
            <a:prstDash val="solid"/>
          </a:ln>
        </p:spPr>
      </p:sp>
      <p:sp>
        <p:nvSpPr>
          <p:cNvPr id="35" name="Text 33"/>
          <p:cNvSpPr/>
          <p:nvPr/>
        </p:nvSpPr>
        <p:spPr>
          <a:xfrm>
            <a:off x="3886200" y="1883664"/>
            <a:ext cx="7772400" cy="201168"/>
          </a:xfrm>
          <a:prstGeom prst="rect">
            <a:avLst/>
          </a:prstGeom>
          <a:noFill/>
          <a:ln/>
        </p:spPr>
        <p:txBody>
          <a:bodyPr wrap="square" lIns="0" tIns="0" rIns="0" bIns="0" rtlCol="0" anchor="ctr"/>
          <a:lstStyle/>
          <a:p>
            <a:pPr indent="0" marL="0">
              <a:buNone/>
            </a:pPr>
            <a:r>
              <a:rPr lang="en-US" sz="1300" b="1" dirty="0">
                <a:solidFill>
                  <a:srgbClr val="0E4A63"/>
                </a:solidFill>
                <a:latin typeface="Calibri" pitchFamily="34" charset="0"/>
                <a:ea typeface="Calibri" pitchFamily="34" charset="-122"/>
                <a:cs typeface="Calibri" pitchFamily="34" charset="-120"/>
              </a:rPr>
              <a:t>Conv compression</a:t>
            </a:r>
            <a:endParaRPr lang="en-US" sz="1300" dirty="0"/>
          </a:p>
        </p:txBody>
      </p:sp>
      <p:sp>
        <p:nvSpPr>
          <p:cNvPr id="36" name="Text 34"/>
          <p:cNvSpPr/>
          <p:nvPr/>
        </p:nvSpPr>
        <p:spPr>
          <a:xfrm>
            <a:off x="3886200" y="2103120"/>
            <a:ext cx="7772400" cy="457200"/>
          </a:xfrm>
          <a:prstGeom prst="rect">
            <a:avLst/>
          </a:prstGeom>
          <a:noFill/>
          <a:ln/>
        </p:spPr>
        <p:txBody>
          <a:bodyPr wrap="square" lIns="0" tIns="0" rIns="0" bIns="0" rtlCol="0" anchor="t"/>
          <a:lstStyle/>
          <a:p>
            <a:pPr indent="0" marL="0">
              <a:buNone/>
            </a:pPr>
            <a:r>
              <a:rPr lang="en-US" sz="1200" dirty="0">
                <a:solidFill>
                  <a:srgbClr val="444444"/>
                </a:solidFill>
                <a:latin typeface="Calibri" pitchFamily="34" charset="0"/>
                <a:ea typeface="Calibri" pitchFamily="34" charset="-122"/>
                <a:cs typeface="Calibri" pitchFamily="34" charset="-120"/>
              </a:rPr>
              <a:t>Self-attention is O(n²). Without compression, 9212² = 84.9M attention entries causes CUDA out-of-memory. Two Conv1d layers with stride 2 and stride 4 reduce the temporal dimension 8x (9,212 → ~1,152 timesteps), cutting attention memory by 64x. Each layer uses BatchNorm + GELU activation + Dropout.</a:t>
            </a:r>
            <a:endParaRPr lang="en-US" sz="1200" dirty="0"/>
          </a:p>
        </p:txBody>
      </p:sp>
      <p:sp>
        <p:nvSpPr>
          <p:cNvPr id="37" name="Shape 35"/>
          <p:cNvSpPr/>
          <p:nvPr/>
        </p:nvSpPr>
        <p:spPr>
          <a:xfrm>
            <a:off x="3749040" y="2697480"/>
            <a:ext cx="8046720" cy="777240"/>
          </a:xfrm>
          <a:prstGeom prst="roundRect">
            <a:avLst>
              <a:gd name="adj" fmla="val 5882"/>
            </a:avLst>
          </a:prstGeom>
          <a:solidFill>
            <a:srgbClr val="F8FAFB"/>
          </a:solidFill>
          <a:ln w="6350">
            <a:solidFill>
              <a:srgbClr val="D0D8E0"/>
            </a:solidFill>
            <a:prstDash val="solid"/>
          </a:ln>
        </p:spPr>
      </p:sp>
      <p:sp>
        <p:nvSpPr>
          <p:cNvPr id="38" name="Text 36"/>
          <p:cNvSpPr/>
          <p:nvPr/>
        </p:nvSpPr>
        <p:spPr>
          <a:xfrm>
            <a:off x="3886200" y="2752344"/>
            <a:ext cx="7772400" cy="201168"/>
          </a:xfrm>
          <a:prstGeom prst="rect">
            <a:avLst/>
          </a:prstGeom>
          <a:noFill/>
          <a:ln/>
        </p:spPr>
        <p:txBody>
          <a:bodyPr wrap="square" lIns="0" tIns="0" rIns="0" bIns="0" rtlCol="0" anchor="ctr"/>
          <a:lstStyle/>
          <a:p>
            <a:pPr indent="0" marL="0">
              <a:buNone/>
            </a:pPr>
            <a:r>
              <a:rPr lang="en-US" sz="1300" b="1" dirty="0">
                <a:solidFill>
                  <a:srgbClr val="0E4A63"/>
                </a:solidFill>
                <a:latin typeface="Calibri" pitchFamily="34" charset="0"/>
                <a:ea typeface="Calibri" pitchFamily="34" charset="-122"/>
                <a:cs typeface="Calibri" pitchFamily="34" charset="-120"/>
              </a:rPr>
              <a:t>Temporal augmentations (training only)</a:t>
            </a:r>
            <a:endParaRPr lang="en-US" sz="1300" dirty="0"/>
          </a:p>
        </p:txBody>
      </p:sp>
      <p:sp>
        <p:nvSpPr>
          <p:cNvPr id="39" name="Text 37"/>
          <p:cNvSpPr/>
          <p:nvPr/>
        </p:nvSpPr>
        <p:spPr>
          <a:xfrm>
            <a:off x="3886200" y="2971800"/>
            <a:ext cx="7772400" cy="457200"/>
          </a:xfrm>
          <a:prstGeom prst="rect">
            <a:avLst/>
          </a:prstGeom>
          <a:noFill/>
          <a:ln/>
        </p:spPr>
        <p:txBody>
          <a:bodyPr wrap="square" lIns="0" tIns="0" rIns="0" bIns="0" rtlCol="0" anchor="t"/>
          <a:lstStyle/>
          <a:p>
            <a:pPr indent="0" marL="0">
              <a:buNone/>
            </a:pPr>
            <a:r>
              <a:rPr lang="en-US" sz="1200" dirty="0">
                <a:solidFill>
                  <a:srgbClr val="444444"/>
                </a:solidFill>
                <a:latin typeface="Calibri" pitchFamily="34" charset="0"/>
                <a:ea typeface="Calibri" pitchFamily="34" charset="-122"/>
                <a:cs typeface="Calibri" pitchFamily="34" charset="-120"/>
              </a:rPr>
              <a:t>Three augmentations applied in the DataLoader with 40% probability each: Temporal Cutout (zeros out a random time segment on random channels), Temporal Cutmix (replaces a segment with data from another flight), and Temporal Mixup (blends channels with another flight). Without these augmentations, the model overfits and collapses to majority-class prediction, consistent with the Conv-MHSA paper.</a:t>
            </a:r>
            <a:endParaRPr lang="en-US" sz="1200" dirty="0"/>
          </a:p>
        </p:txBody>
      </p:sp>
      <p:sp>
        <p:nvSpPr>
          <p:cNvPr id="40" name="Shape 38"/>
          <p:cNvSpPr/>
          <p:nvPr/>
        </p:nvSpPr>
        <p:spPr>
          <a:xfrm>
            <a:off x="3749040" y="3566160"/>
            <a:ext cx="8046720" cy="1005840"/>
          </a:xfrm>
          <a:prstGeom prst="roundRect">
            <a:avLst>
              <a:gd name="adj" fmla="val 4545"/>
            </a:avLst>
          </a:prstGeom>
          <a:solidFill>
            <a:srgbClr val="F8FAFB"/>
          </a:solidFill>
          <a:ln w="6350">
            <a:solidFill>
              <a:srgbClr val="D0D8E0"/>
            </a:solidFill>
            <a:prstDash val="solid"/>
          </a:ln>
        </p:spPr>
      </p:sp>
      <p:sp>
        <p:nvSpPr>
          <p:cNvPr id="41" name="Text 39"/>
          <p:cNvSpPr/>
          <p:nvPr/>
        </p:nvSpPr>
        <p:spPr>
          <a:xfrm>
            <a:off x="3886200" y="3621024"/>
            <a:ext cx="7772400" cy="201168"/>
          </a:xfrm>
          <a:prstGeom prst="rect">
            <a:avLst/>
          </a:prstGeom>
          <a:noFill/>
          <a:ln/>
        </p:spPr>
        <p:txBody>
          <a:bodyPr wrap="square" lIns="0" tIns="0" rIns="0" bIns="0" rtlCol="0" anchor="ctr"/>
          <a:lstStyle/>
          <a:p>
            <a:pPr indent="0" marL="0">
              <a:buNone/>
            </a:pPr>
            <a:r>
              <a:rPr lang="en-US" sz="1300" b="1" dirty="0">
                <a:solidFill>
                  <a:srgbClr val="0E4A63"/>
                </a:solidFill>
                <a:latin typeface="Calibri" pitchFamily="34" charset="0"/>
                <a:ea typeface="Calibri" pitchFamily="34" charset="-122"/>
                <a:cs typeface="Calibri" pitchFamily="34" charset="-120"/>
              </a:rPr>
              <a:t>PR-AUC checkpoint and hyperparameter tuning</a:t>
            </a:r>
            <a:endParaRPr lang="en-US" sz="1300" dirty="0"/>
          </a:p>
        </p:txBody>
      </p:sp>
      <p:sp>
        <p:nvSpPr>
          <p:cNvPr id="42" name="Text 40"/>
          <p:cNvSpPr/>
          <p:nvPr/>
        </p:nvSpPr>
        <p:spPr>
          <a:xfrm>
            <a:off x="3886200" y="3840480"/>
            <a:ext cx="7772400" cy="685800"/>
          </a:xfrm>
          <a:prstGeom prst="rect">
            <a:avLst/>
          </a:prstGeom>
          <a:noFill/>
          <a:ln/>
        </p:spPr>
        <p:txBody>
          <a:bodyPr wrap="square" lIns="0" tIns="0" rIns="0" bIns="0" rtlCol="0" anchor="t"/>
          <a:lstStyle/>
          <a:p>
            <a:pPr indent="0" marL="0">
              <a:buNone/>
            </a:pPr>
            <a:r>
              <a:rPr lang="en-US" sz="1200" dirty="0">
                <a:solidFill>
                  <a:srgbClr val="444444"/>
                </a:solidFill>
                <a:latin typeface="Calibri" pitchFamily="34" charset="0"/>
                <a:ea typeface="Calibri" pitchFamily="34" charset="-122"/>
                <a:cs typeface="Calibri" pitchFamily="34" charset="-120"/>
              </a:rPr>
              <a:t>Model checkpoint saved based on validation PR-AUC instead of recall or F1. This prevents the degenerate predictor trap where predicting all flights as one class achieves high recall but is useless. Manual experiments (5 configurations on 500-flight subset) found the optimal hyperparameters, then Optuna validated the search on 500 and 2,000 flights using warm-start seeding (injecting best manual config as Trial 0), locked proven parameters (D_MODEL=256, DIM_FF=1024), and HyperbandPruner for early stopping of underperforming trials. Optuna confirmed the manually tuned configuration was already optimal. Final model trained on full 19,540 flights.</a:t>
            </a:r>
            <a:endParaRPr lang="en-US" sz="1200" dirty="0"/>
          </a:p>
        </p:txBody>
      </p:sp>
      <p:sp>
        <p:nvSpPr>
          <p:cNvPr id="43" name="Shape 41"/>
          <p:cNvSpPr/>
          <p:nvPr/>
        </p:nvSpPr>
        <p:spPr>
          <a:xfrm>
            <a:off x="3749040" y="4663440"/>
            <a:ext cx="8046720" cy="685800"/>
          </a:xfrm>
          <a:prstGeom prst="roundRect">
            <a:avLst>
              <a:gd name="adj" fmla="val 6667"/>
            </a:avLst>
          </a:prstGeom>
          <a:solidFill>
            <a:srgbClr val="F8FAFB"/>
          </a:solidFill>
          <a:ln w="6350">
            <a:solidFill>
              <a:srgbClr val="D0D8E0"/>
            </a:solidFill>
            <a:prstDash val="solid"/>
          </a:ln>
        </p:spPr>
      </p:sp>
      <p:sp>
        <p:nvSpPr>
          <p:cNvPr id="44" name="Text 42"/>
          <p:cNvSpPr/>
          <p:nvPr/>
        </p:nvSpPr>
        <p:spPr>
          <a:xfrm>
            <a:off x="3886200" y="4718304"/>
            <a:ext cx="7772400" cy="201168"/>
          </a:xfrm>
          <a:prstGeom prst="rect">
            <a:avLst/>
          </a:prstGeom>
          <a:noFill/>
          <a:ln/>
        </p:spPr>
        <p:txBody>
          <a:bodyPr wrap="square" lIns="0" tIns="0" rIns="0" bIns="0" rtlCol="0" anchor="ctr"/>
          <a:lstStyle/>
          <a:p>
            <a:pPr indent="0" marL="0">
              <a:buNone/>
            </a:pPr>
            <a:r>
              <a:rPr lang="en-US" sz="1300" b="1" dirty="0">
                <a:solidFill>
                  <a:srgbClr val="0E4A63"/>
                </a:solidFill>
                <a:latin typeface="Calibri" pitchFamily="34" charset="0"/>
                <a:ea typeface="Calibri" pitchFamily="34" charset="-122"/>
                <a:cs typeface="Calibri" pitchFamily="34" charset="-120"/>
              </a:rPr>
              <a:t>Masked mean pooling</a:t>
            </a:r>
            <a:endParaRPr lang="en-US" sz="1300" dirty="0"/>
          </a:p>
        </p:txBody>
      </p:sp>
      <p:sp>
        <p:nvSpPr>
          <p:cNvPr id="45" name="Text 43"/>
          <p:cNvSpPr/>
          <p:nvPr/>
        </p:nvSpPr>
        <p:spPr>
          <a:xfrm>
            <a:off x="3886200" y="4937760"/>
            <a:ext cx="7772400" cy="384048"/>
          </a:xfrm>
          <a:prstGeom prst="rect">
            <a:avLst/>
          </a:prstGeom>
          <a:noFill/>
          <a:ln/>
        </p:spPr>
        <p:txBody>
          <a:bodyPr wrap="square" lIns="0" tIns="0" rIns="0" bIns="0" rtlCol="0" anchor="t"/>
          <a:lstStyle/>
          <a:p>
            <a:pPr indent="0" marL="0">
              <a:buNone/>
            </a:pPr>
            <a:r>
              <a:rPr lang="en-US" sz="1200" dirty="0">
                <a:solidFill>
                  <a:srgbClr val="444444"/>
                </a:solidFill>
                <a:latin typeface="Calibri" pitchFamily="34" charset="0"/>
                <a:ea typeface="Calibri" pitchFamily="34" charset="-122"/>
                <a:cs typeface="Calibri" pitchFamily="34" charset="-120"/>
              </a:rPr>
              <a:t>Variable-length flights (100 to 9,212 timesteps) are zero-padded to uniform length. Masked mean pooling averages only over real timesteps, ignoring padding. Without masking, short flights would be diluted by thousands of zero-valued timesteps, degrading prediction accuracy.</a:t>
            </a:r>
            <a:endParaRPr lang="en-US" sz="1200" dirty="0"/>
          </a:p>
        </p:txBody>
      </p:sp>
      <p:sp>
        <p:nvSpPr>
          <p:cNvPr id="46" name="Shape 44"/>
          <p:cNvSpPr/>
          <p:nvPr/>
        </p:nvSpPr>
        <p:spPr>
          <a:xfrm>
            <a:off x="274320" y="5532120"/>
            <a:ext cx="11612880" cy="320040"/>
          </a:xfrm>
          <a:prstGeom prst="roundRect">
            <a:avLst>
              <a:gd name="adj" fmla="val 14286"/>
            </a:avLst>
          </a:prstGeom>
          <a:solidFill>
            <a:srgbClr val="F0F7FA"/>
          </a:solidFill>
          <a:ln w="12700">
            <a:solidFill>
              <a:srgbClr val="156082"/>
            </a:solidFill>
            <a:prstDash val="solid"/>
          </a:ln>
        </p:spPr>
      </p:sp>
      <p:sp>
        <p:nvSpPr>
          <p:cNvPr id="47" name="Text 45"/>
          <p:cNvSpPr/>
          <p:nvPr/>
        </p:nvSpPr>
        <p:spPr>
          <a:xfrm>
            <a:off x="274320" y="5532120"/>
            <a:ext cx="11612880" cy="320040"/>
          </a:xfrm>
          <a:prstGeom prst="rect">
            <a:avLst/>
          </a:prstGeom>
          <a:noFill/>
          <a:ln/>
        </p:spPr>
        <p:txBody>
          <a:bodyPr wrap="square" lIns="0" tIns="0" rIns="0" bIns="0" rtlCol="0" anchor="ctr"/>
          <a:lstStyle/>
          <a:p>
            <a:pPr algn="ctr" indent="0" marL="0">
              <a:buNone/>
            </a:pPr>
            <a:r>
              <a:rPr lang="en-US" sz="1100" dirty="0">
                <a:solidFill>
                  <a:srgbClr val="0E4A63"/>
                </a:solidFill>
                <a:latin typeface="Calibri" pitchFamily="34" charset="0"/>
                <a:ea typeface="Calibri" pitchFamily="34" charset="-122"/>
                <a:cs typeface="Calibri" pitchFamily="34" charset="-120"/>
              </a:rPr>
              <a:t>Final config:  D_MODEL=256  |  N_HEAD=8  |  NUM_LAYERS=4  |  DIM_FF=1024  |  LR=3e-5  |  DROPOUT=0.1  |  BATCH=2  |  EPOCHS=20  |  AdamW + CosineAnnealingLR  |  Augmentations: cutout + cutmix + mixup</a:t>
            </a:r>
            <a:endParaRPr lang="en-US" sz="1100" dirty="0"/>
          </a:p>
        </p:txBody>
      </p:sp>
      <p:sp>
        <p:nvSpPr>
          <p:cNvPr id="48" name="Text 46"/>
          <p:cNvSpPr/>
          <p:nvPr/>
        </p:nvSpPr>
        <p:spPr>
          <a:xfrm>
            <a:off x="274320" y="5989320"/>
            <a:ext cx="11612880" cy="22860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*Hyperparameters tuned via manual experiments (5 configs) on 500-flight subset, validated with Optuna (20 trials on 500 flights + 12 trials on 2,000 flights), then trained on full 19,540 flights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137160"/>
            <a:ext cx="4114800" cy="640080"/>
          </a:xfrm>
          <a:prstGeom prst="roundRect">
            <a:avLst>
              <a:gd name="adj" fmla="val 11429"/>
            </a:avLst>
          </a:prstGeom>
          <a:solidFill>
            <a:srgbClr val="156082"/>
          </a:solidFill>
          <a:ln/>
        </p:spPr>
      </p:sp>
      <p:sp>
        <p:nvSpPr>
          <p:cNvPr id="3" name="Text 1"/>
          <p:cNvSpPr/>
          <p:nvPr/>
        </p:nvSpPr>
        <p:spPr>
          <a:xfrm>
            <a:off x="274320" y="137160"/>
            <a:ext cx="411480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Transformer Results</a:t>
            </a:r>
            <a:endParaRPr lang="en-US" sz="2800" dirty="0"/>
          </a:p>
        </p:txBody>
      </p:sp>
      <p:sp>
        <p:nvSpPr>
          <p:cNvPr id="4" name="Text 2"/>
          <p:cNvSpPr/>
          <p:nvPr/>
        </p:nvSpPr>
        <p:spPr>
          <a:xfrm>
            <a:off x="274320" y="914400"/>
            <a:ext cx="4572000" cy="274320"/>
          </a:xfrm>
          <a:prstGeom prst="rect">
            <a:avLst/>
          </a:prstGeom>
          <a:noFill/>
          <a:ln/>
        </p:spPr>
        <p:txBody>
          <a:bodyPr wrap="square" lIns="0" tIns="0" rIns="0" bIns="0" rtlCol="0" anchor="ctr"/>
          <a:lstStyle/>
          <a:p>
            <a:pPr indent="0" marL="0">
              <a:buNone/>
            </a:pPr>
            <a:r>
              <a:rPr lang="en-US" sz="1600" b="1" u="sng" dirty="0">
                <a:solidFill>
                  <a:srgbClr val="000000"/>
                </a:solidFill>
                <a:latin typeface="Calibri" pitchFamily="34" charset="0"/>
                <a:ea typeface="Calibri" pitchFamily="34" charset="-122"/>
                <a:cs typeface="Calibri" pitchFamily="34" charset="-120"/>
              </a:rPr>
              <a:t>Model evaluation (rul_2d)</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6858000" cy="914400"/>
        </p:xfrm>
        <a:graphic>
          <a:graphicData uri="http://schemas.openxmlformats.org/drawingml/2006/table">
            <a:tbl>
              <a:tblPr/>
              <a:tblGrid>
                <a:gridCol w="640080"/>
                <a:gridCol w="914400"/>
                <a:gridCol w="914400"/>
                <a:gridCol w="914400"/>
                <a:gridCol w="640080"/>
                <a:gridCol w="914400"/>
                <a:gridCol w="914400"/>
              </a:tblGrid>
              <a:tr h="0">
                <a:tc>
                  <a:txBody>
                    <a:bodyPr/>
                    <a:lstStyle/>
                    <a:p>
                      <a:pPr algn="ctr" indent="0" marL="0">
                        <a:buNone/>
                      </a:pPr>
                      <a:r>
                        <a:rPr lang="en-US" sz="1200" b="1" dirty="0">
                          <a:solidFill>
                            <a:srgbClr val="FFFFFF"/>
                          </a:solidFill>
                        </a:rPr>
                        <a:t>Split</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Accuracy</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Precision</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Recall</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F1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ROC-AUC</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PR-AUC</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r>
              <a:tr h="0">
                <a:tc>
                  <a:txBody>
                    <a:bodyPr/>
                    <a:lstStyle/>
                    <a:p>
                      <a:pPr algn="ctr" indent="0" marL="0">
                        <a:buNone/>
                      </a:pPr>
                      <a:r>
                        <a:rPr lang="en-US" sz="1200" b="1" dirty="0">
                          <a:solidFill>
                            <a:srgbClr val="444444"/>
                          </a:solidFill>
                        </a:rPr>
                        <a:t>Val</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0.7015</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0.6421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0.5799</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0.6843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0.7590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E4A63"/>
                          </a:solidFill>
                        </a:rPr>
                        <a:t>0.8210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ctr" indent="0" marL="0">
                        <a:buNone/>
                      </a:pPr>
                      <a:r>
                        <a:rPr lang="en-US" sz="1200" b="1" dirty="0">
                          <a:solidFill>
                            <a:srgbClr val="444444"/>
                          </a:solidFill>
                        </a:rPr>
                        <a:t>Test</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0.6970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0.6280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0.5990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0.6790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0.7538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b="1" dirty="0">
                          <a:solidFill>
                            <a:srgbClr val="0E4A63"/>
                          </a:solidFill>
                        </a:rPr>
                        <a:t>0.8163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r>
            </a:tbl>
          </a:graphicData>
        </a:graphic>
      </p:graphicFrame>
      <p:sp>
        <p:nvSpPr>
          <p:cNvPr id="6" name="Shape 3"/>
          <p:cNvSpPr/>
          <p:nvPr/>
        </p:nvSpPr>
        <p:spPr>
          <a:xfrm>
            <a:off x="7406640" y="960120"/>
            <a:ext cx="4480560" cy="777240"/>
          </a:xfrm>
          <a:prstGeom prst="roundRect">
            <a:avLst>
              <a:gd name="adj" fmla="val 7059"/>
            </a:avLst>
          </a:prstGeom>
          <a:solidFill>
            <a:srgbClr val="F8FAFB"/>
          </a:solidFill>
          <a:ln w="12700">
            <a:solidFill>
              <a:srgbClr val="156082"/>
            </a:solidFill>
            <a:prstDash val="dash"/>
          </a:ln>
        </p:spPr>
      </p:sp>
      <p:sp>
        <p:nvSpPr>
          <p:cNvPr id="7" name="Text 4"/>
          <p:cNvSpPr/>
          <p:nvPr/>
        </p:nvSpPr>
        <p:spPr>
          <a:xfrm>
            <a:off x="7543800" y="1005840"/>
            <a:ext cx="4206240" cy="685800"/>
          </a:xfrm>
          <a:prstGeom prst="rect">
            <a:avLst/>
          </a:prstGeom>
          <a:noFill/>
          <a:ln/>
        </p:spPr>
        <p:txBody>
          <a:bodyPr wrap="square" lIns="0" tIns="0" rIns="0" bIns="0" rtlCol="0" anchor="t"/>
          <a:lstStyle/>
          <a:p>
            <a:pPr indent="0" marL="0">
              <a:buNone/>
            </a:pPr>
            <a:r>
              <a:rPr lang="en-US" sz="1200" b="1" dirty="0">
                <a:solidFill>
                  <a:srgbClr val="0E4A63"/>
                </a:solidFill>
                <a:latin typeface="Calibri" pitchFamily="34" charset="0"/>
                <a:ea typeface="Calibri" pitchFamily="34" charset="-122"/>
                <a:cs typeface="Calibri" pitchFamily="34" charset="-120"/>
              </a:rPr>
              <a:t>Why these results matter
</a:t>
            </a:r>
            <a:endParaRPr lang="en-US" sz="1200" dirty="0"/>
          </a:p>
          <a:p>
            <a:pPr indent="0" marL="0">
              <a:buNone/>
            </a:pPr>
            <a:r>
              <a:rPr lang="en-US" sz="1200" dirty="0">
                <a:solidFill>
                  <a:srgbClr val="444444"/>
                </a:solidFill>
                <a:latin typeface="Calibri" pitchFamily="34" charset="0"/>
                <a:ea typeface="Calibri" pitchFamily="34" charset="-122"/>
                <a:cs typeface="Calibri" pitchFamily="34" charset="-120"/>
              </a:rPr>
              <a:t>Small gap between val and test (PR-AUC 0.821 vs 0.816) indicates the model generalizes well. PR-AUC 0.816 exceeds the Conv-MHSA paper benchmark on NGAFID-MC.</a:t>
            </a:r>
            <a:endParaRPr lang="en-US" sz="1200" dirty="0"/>
          </a:p>
        </p:txBody>
      </p:sp>
      <p:sp>
        <p:nvSpPr>
          <p:cNvPr id="8" name="Text 5"/>
          <p:cNvSpPr/>
          <p:nvPr/>
        </p:nvSpPr>
        <p:spPr>
          <a:xfrm>
            <a:off x="274320" y="2148840"/>
            <a:ext cx="4572000" cy="274320"/>
          </a:xfrm>
          <a:prstGeom prst="rect">
            <a:avLst/>
          </a:prstGeom>
          <a:noFill/>
          <a:ln/>
        </p:spPr>
        <p:txBody>
          <a:bodyPr wrap="square" lIns="0" tIns="0" rIns="0" bIns="0" rtlCol="0" anchor="ctr"/>
          <a:lstStyle/>
          <a:p>
            <a:pPr indent="0" marL="0">
              <a:buNone/>
            </a:pPr>
            <a:r>
              <a:rPr lang="en-US" sz="1600" b="1" u="sng" dirty="0">
                <a:solidFill>
                  <a:srgbClr val="000000"/>
                </a:solidFill>
                <a:latin typeface="Calibri" pitchFamily="34" charset="0"/>
                <a:ea typeface="Calibri" pitchFamily="34" charset="-122"/>
                <a:cs typeface="Calibri" pitchFamily="34" charset="-120"/>
              </a:rPr>
              <a:t>Threshold sweep analysis</a:t>
            </a:r>
            <a:endParaRPr lang="en-US" sz="16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274320" y="2468880"/>
          <a:ext cx="11612880" cy="914400"/>
        </p:xfrm>
        <a:graphic>
          <a:graphicData uri="http://schemas.openxmlformats.org/drawingml/2006/table">
            <a:tbl>
              <a:tblPr/>
              <a:tblGrid>
                <a:gridCol w="1463040"/>
                <a:gridCol w="1097280"/>
                <a:gridCol w="1097280"/>
                <a:gridCol w="1097280"/>
                <a:gridCol w="731520"/>
                <a:gridCol w="1097280"/>
                <a:gridCol w="1645920"/>
                <a:gridCol w="1645920"/>
              </a:tblGrid>
              <a:tr h="0">
                <a:tc>
                  <a:txBody>
                    <a:bodyPr/>
                    <a:lstStyle/>
                    <a:p>
                      <a:pPr algn="l" indent="0" marL="0">
                        <a:buNone/>
                      </a:pPr>
                      <a:r>
                        <a:rPr lang="en-US" sz="1200" b="1" dirty="0">
                          <a:solidFill>
                            <a:srgbClr val="FFFFFF"/>
                          </a:solidFill>
                        </a:rPr>
                        <a:t>Operating point</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Threshold</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Precision</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Recall</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F1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Accuracy</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False alarms / 100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c>
                  <a:txBody>
                    <a:bodyPr/>
                    <a:lstStyle/>
                    <a:p>
                      <a:pPr algn="ctr" indent="0" marL="0">
                        <a:buNone/>
                      </a:pPr>
                      <a:r>
                        <a:rPr lang="en-US" sz="1200" b="1" dirty="0">
                          <a:solidFill>
                            <a:srgbClr val="FFFFFF"/>
                          </a:solidFill>
                        </a:rPr>
                        <a:t>Missed risks / 100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082"/>
                    </a:solidFill>
                  </a:tcPr>
                </a:tc>
              </a:tr>
              <a:tr h="0">
                <a:tc>
                  <a:txBody>
                    <a:bodyPr/>
                    <a:lstStyle/>
                    <a:p>
                      <a:pPr algn="l" indent="0" marL="0">
                        <a:buNone/>
                      </a:pPr>
                      <a:r>
                        <a:rPr lang="en-US" sz="1200" b="1" dirty="0">
                          <a:solidFill>
                            <a:srgbClr val="444444"/>
                          </a:solidFill>
                        </a:rPr>
                        <a:t>Best F1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0.17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0.69</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0.70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97132"/>
                          </a:solidFill>
                        </a:rPr>
                        <a:t>37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E4A63"/>
                          </a:solidFill>
                        </a:rPr>
                        <a:t>37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444444"/>
                          </a:solidFill>
                        </a:rPr>
                        <a:t>Recall ~75%</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0.03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0.58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0.76</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0.68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dirty="0">
                          <a:solidFill>
                            <a:srgbClr val="444444"/>
                          </a:solidFill>
                        </a:rPr>
                        <a:t>0.68</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b="1" dirty="0">
                          <a:solidFill>
                            <a:srgbClr val="E97132"/>
                          </a:solidFill>
                        </a:rPr>
                        <a:t>42</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c>
                  <a:txBody>
                    <a:bodyPr/>
                    <a:lstStyle/>
                    <a:p>
                      <a:pPr algn="ctr" indent="0" marL="0">
                        <a:buNone/>
                      </a:pPr>
                      <a:r>
                        <a:rPr lang="en-US" sz="1200" b="1" dirty="0">
                          <a:solidFill>
                            <a:srgbClr val="0E4A63"/>
                          </a:solidFill>
                        </a:rPr>
                        <a:t>24</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AF4F9"/>
                    </a:solidFill>
                  </a:tcPr>
                </a:tc>
              </a:tr>
              <a:tr h="0">
                <a:tc>
                  <a:txBody>
                    <a:bodyPr/>
                    <a:lstStyle/>
                    <a:p>
                      <a:pPr algn="l" indent="0" marL="0">
                        <a:buNone/>
                      </a:pPr>
                      <a:r>
                        <a:rPr lang="en-US" sz="1200" b="1" dirty="0">
                          <a:solidFill>
                            <a:srgbClr val="444444"/>
                          </a:solidFill>
                        </a:rPr>
                        <a:t>Recall ~90%</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0.02</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0.53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0.89</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444444"/>
                          </a:solidFill>
                        </a:rPr>
                        <a:t>0.63</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97132"/>
                          </a:solidFill>
                        </a:rPr>
                        <a:t>47</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E4A63"/>
                          </a:solidFill>
                        </a:rPr>
                        <a:t>11</a:t>
                      </a:r>
                      <a:endParaRPr lang="en-US" sz="1200" dirty="0"/>
                    </a:p>
                  </a:txBody>
                  <a:tcPr marL="50800" marR="508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10" name="Text 6"/>
          <p:cNvSpPr/>
          <p:nvPr/>
        </p:nvSpPr>
        <p:spPr>
          <a:xfrm>
            <a:off x="274320" y="3566160"/>
            <a:ext cx="3200400" cy="27432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Confusion matrix (test)</a:t>
            </a:r>
            <a:endParaRPr lang="en-US" sz="1400" dirty="0"/>
          </a:p>
        </p:txBody>
      </p:sp>
      <p:sp>
        <p:nvSpPr>
          <p:cNvPr id="11" name="Text 7"/>
          <p:cNvSpPr/>
          <p:nvPr/>
        </p:nvSpPr>
        <p:spPr>
          <a:xfrm>
            <a:off x="731520" y="3657600"/>
            <a:ext cx="2377440" cy="182880"/>
          </a:xfrm>
          <a:prstGeom prst="rect">
            <a:avLst/>
          </a:prstGeom>
          <a:noFill/>
          <a:ln/>
        </p:spPr>
        <p:txBody>
          <a:bodyPr wrap="square" lIns="0" tIns="0" rIns="0" bIns="0" rtlCol="0" anchor="ctr"/>
          <a:lstStyle/>
          <a:p>
            <a:pPr algn="ctr" indent="0" marL="0">
              <a:buNone/>
            </a:pPr>
            <a:r>
              <a:rPr lang="en-US" sz="1200" b="1" dirty="0">
                <a:solidFill>
                  <a:srgbClr val="444444"/>
                </a:solidFill>
              </a:rPr>
              <a:t>Predicted</a:t>
            </a:r>
            <a:endParaRPr lang="en-US" sz="1200" dirty="0"/>
          </a:p>
        </p:txBody>
      </p:sp>
      <p:sp>
        <p:nvSpPr>
          <p:cNvPr id="12" name="Text 8"/>
          <p:cNvSpPr/>
          <p:nvPr/>
        </p:nvSpPr>
        <p:spPr>
          <a:xfrm>
            <a:off x="731520" y="3840480"/>
            <a:ext cx="1188720" cy="137160"/>
          </a:xfrm>
          <a:prstGeom prst="rect">
            <a:avLst/>
          </a:prstGeom>
          <a:noFill/>
          <a:ln/>
        </p:spPr>
        <p:txBody>
          <a:bodyPr wrap="square" lIns="0" tIns="0" rIns="0" bIns="0" rtlCol="0" anchor="ctr"/>
          <a:lstStyle/>
          <a:p>
            <a:pPr algn="ctr" indent="0" marL="0">
              <a:buNone/>
            </a:pPr>
            <a:r>
              <a:rPr lang="en-US" sz="1000" dirty="0">
                <a:solidFill>
                  <a:srgbClr val="888888"/>
                </a:solidFill>
              </a:rPr>
              <a:t>Risk</a:t>
            </a:r>
            <a:endParaRPr lang="en-US" sz="1000" dirty="0"/>
          </a:p>
        </p:txBody>
      </p:sp>
      <p:sp>
        <p:nvSpPr>
          <p:cNvPr id="13" name="Text 9"/>
          <p:cNvSpPr/>
          <p:nvPr/>
        </p:nvSpPr>
        <p:spPr>
          <a:xfrm>
            <a:off x="1920240" y="3840480"/>
            <a:ext cx="1188720" cy="137160"/>
          </a:xfrm>
          <a:prstGeom prst="rect">
            <a:avLst/>
          </a:prstGeom>
          <a:noFill/>
          <a:ln/>
        </p:spPr>
        <p:txBody>
          <a:bodyPr wrap="square" lIns="0" tIns="0" rIns="0" bIns="0" rtlCol="0" anchor="ctr"/>
          <a:lstStyle/>
          <a:p>
            <a:pPr algn="ctr" indent="0" marL="0">
              <a:buNone/>
            </a:pPr>
            <a:r>
              <a:rPr lang="en-US" sz="1000" dirty="0">
                <a:solidFill>
                  <a:srgbClr val="888888"/>
                </a:solidFill>
              </a:rPr>
              <a:t>Safe</a:t>
            </a:r>
            <a:endParaRPr lang="en-US" sz="1000" dirty="0"/>
          </a:p>
        </p:txBody>
      </p:sp>
      <p:sp>
        <p:nvSpPr>
          <p:cNvPr id="14" name="Text 10"/>
          <p:cNvSpPr/>
          <p:nvPr/>
        </p:nvSpPr>
        <p:spPr>
          <a:xfrm>
            <a:off x="182880" y="3977640"/>
            <a:ext cx="457200" cy="731520"/>
          </a:xfrm>
          <a:prstGeom prst="rect">
            <a:avLst/>
          </a:prstGeom>
          <a:noFill/>
          <a:ln/>
        </p:spPr>
        <p:txBody>
          <a:bodyPr wrap="square" lIns="0" tIns="0" rIns="0" bIns="0" rtlCol="0" anchor="ctr"/>
          <a:lstStyle/>
          <a:p>
            <a:pPr algn="r" indent="0" marL="0">
              <a:buNone/>
            </a:pPr>
            <a:r>
              <a:rPr lang="en-US" sz="1000" dirty="0">
                <a:solidFill>
                  <a:srgbClr val="888888"/>
                </a:solidFill>
              </a:rPr>
              <a:t>Risk</a:t>
            </a:r>
            <a:endParaRPr lang="en-US" sz="1000" dirty="0"/>
          </a:p>
        </p:txBody>
      </p:sp>
      <p:sp>
        <p:nvSpPr>
          <p:cNvPr id="15" name="Text 11"/>
          <p:cNvSpPr/>
          <p:nvPr/>
        </p:nvSpPr>
        <p:spPr>
          <a:xfrm>
            <a:off x="182880" y="4709160"/>
            <a:ext cx="457200" cy="731520"/>
          </a:xfrm>
          <a:prstGeom prst="rect">
            <a:avLst/>
          </a:prstGeom>
          <a:noFill/>
          <a:ln/>
        </p:spPr>
        <p:txBody>
          <a:bodyPr wrap="square" lIns="0" tIns="0" rIns="0" bIns="0" rtlCol="0" anchor="ctr"/>
          <a:lstStyle/>
          <a:p>
            <a:pPr algn="r" indent="0" marL="0">
              <a:buNone/>
            </a:pPr>
            <a:r>
              <a:rPr lang="en-US" sz="1000" dirty="0">
                <a:solidFill>
                  <a:srgbClr val="888888"/>
                </a:solidFill>
              </a:rPr>
              <a:t>Safe</a:t>
            </a:r>
            <a:endParaRPr lang="en-US" sz="1000" dirty="0"/>
          </a:p>
        </p:txBody>
      </p:sp>
      <p:sp>
        <p:nvSpPr>
          <p:cNvPr id="16" name="Text 12"/>
          <p:cNvSpPr/>
          <p:nvPr/>
        </p:nvSpPr>
        <p:spPr>
          <a:xfrm>
            <a:off x="-228600" y="3977640"/>
            <a:ext cx="365760" cy="1463040"/>
          </a:xfrm>
          <a:prstGeom prst="rect">
            <a:avLst/>
          </a:prstGeom>
          <a:noFill/>
          <a:ln/>
        </p:spPr>
        <p:txBody>
          <a:bodyPr wrap="square" lIns="0" tIns="0" rIns="0" bIns="0" rtlCol="0" anchor="ctr"/>
          <a:lstStyle/>
          <a:p>
            <a:pPr algn="ctr" indent="0" marL="0">
              <a:buNone/>
            </a:pPr>
            <a:r>
              <a:rPr lang="en-US" sz="1200" b="1" dirty="0">
                <a:solidFill>
                  <a:srgbClr val="444444"/>
                </a:solidFill>
              </a:rPr>
              <a:t>Actual</a:t>
            </a:r>
            <a:endParaRPr lang="en-US" sz="1200" dirty="0"/>
          </a:p>
        </p:txBody>
      </p:sp>
      <p:sp>
        <p:nvSpPr>
          <p:cNvPr id="17" name="Shape 13"/>
          <p:cNvSpPr/>
          <p:nvPr/>
        </p:nvSpPr>
        <p:spPr>
          <a:xfrm>
            <a:off x="731520" y="3977640"/>
            <a:ext cx="1188720" cy="731520"/>
          </a:xfrm>
          <a:prstGeom prst="rect">
            <a:avLst/>
          </a:prstGeom>
          <a:solidFill>
            <a:srgbClr val="1B7BA3"/>
          </a:solidFill>
          <a:ln/>
        </p:spPr>
      </p:sp>
      <p:sp>
        <p:nvSpPr>
          <p:cNvPr id="18" name="Text 14"/>
          <p:cNvSpPr/>
          <p:nvPr/>
        </p:nvSpPr>
        <p:spPr>
          <a:xfrm>
            <a:off x="731520" y="3977640"/>
            <a:ext cx="1188720" cy="731520"/>
          </a:xfrm>
          <a:prstGeom prst="rect">
            <a:avLst/>
          </a:prstGeom>
          <a:noFill/>
          <a:ln/>
        </p:spPr>
        <p:txBody>
          <a:bodyPr wrap="square" lIns="0" tIns="0" rIns="0" bIns="0" rtlCol="0" anchor="ctr"/>
          <a:lstStyle/>
          <a:p>
            <a:pPr algn="ctr" indent="0" marL="0">
              <a:buNone/>
            </a:pPr>
            <a:r>
              <a:rPr lang="en-US" sz="2200" b="1" dirty="0">
                <a:solidFill>
                  <a:srgbClr val="FFFFFF"/>
                </a:solidFill>
              </a:rPr>
              <a:t>710</a:t>
            </a:r>
            <a:endParaRPr lang="en-US" sz="2200" dirty="0"/>
          </a:p>
        </p:txBody>
      </p:sp>
      <p:sp>
        <p:nvSpPr>
          <p:cNvPr id="19" name="Shape 15"/>
          <p:cNvSpPr/>
          <p:nvPr/>
        </p:nvSpPr>
        <p:spPr>
          <a:xfrm>
            <a:off x="1920240" y="3977640"/>
            <a:ext cx="1188720" cy="731520"/>
          </a:xfrm>
          <a:prstGeom prst="rect">
            <a:avLst/>
          </a:prstGeom>
          <a:solidFill>
            <a:srgbClr val="A8D5E5"/>
          </a:solidFill>
          <a:ln/>
        </p:spPr>
      </p:sp>
      <p:sp>
        <p:nvSpPr>
          <p:cNvPr id="20" name="Text 16"/>
          <p:cNvSpPr/>
          <p:nvPr/>
        </p:nvSpPr>
        <p:spPr>
          <a:xfrm>
            <a:off x="1920240" y="3977640"/>
            <a:ext cx="1188720" cy="731520"/>
          </a:xfrm>
          <a:prstGeom prst="rect">
            <a:avLst/>
          </a:prstGeom>
          <a:noFill/>
          <a:ln/>
        </p:spPr>
        <p:txBody>
          <a:bodyPr wrap="square" lIns="0" tIns="0" rIns="0" bIns="0" rtlCol="0" anchor="ctr"/>
          <a:lstStyle/>
          <a:p>
            <a:pPr algn="ctr" indent="0" marL="0">
              <a:buNone/>
            </a:pPr>
            <a:r>
              <a:rPr lang="en-US" sz="2200" b="1" dirty="0">
                <a:solidFill>
                  <a:srgbClr val="0E4A63"/>
                </a:solidFill>
              </a:rPr>
              <a:t>474</a:t>
            </a:r>
            <a:endParaRPr lang="en-US" sz="2200" dirty="0"/>
          </a:p>
        </p:txBody>
      </p:sp>
      <p:sp>
        <p:nvSpPr>
          <p:cNvPr id="21" name="Shape 17"/>
          <p:cNvSpPr/>
          <p:nvPr/>
        </p:nvSpPr>
        <p:spPr>
          <a:xfrm>
            <a:off x="731520" y="4709160"/>
            <a:ext cx="1188720" cy="731520"/>
          </a:xfrm>
          <a:prstGeom prst="rect">
            <a:avLst/>
          </a:prstGeom>
          <a:solidFill>
            <a:srgbClr val="A8D5E5"/>
          </a:solidFill>
          <a:ln/>
        </p:spPr>
      </p:sp>
      <p:sp>
        <p:nvSpPr>
          <p:cNvPr id="22" name="Text 18"/>
          <p:cNvSpPr/>
          <p:nvPr/>
        </p:nvSpPr>
        <p:spPr>
          <a:xfrm>
            <a:off x="731520" y="4709160"/>
            <a:ext cx="1188720" cy="731520"/>
          </a:xfrm>
          <a:prstGeom prst="rect">
            <a:avLst/>
          </a:prstGeom>
          <a:noFill/>
          <a:ln/>
        </p:spPr>
        <p:txBody>
          <a:bodyPr wrap="square" lIns="0" tIns="0" rIns="0" bIns="0" rtlCol="0" anchor="ctr"/>
          <a:lstStyle/>
          <a:p>
            <a:pPr algn="ctr" indent="0" marL="0">
              <a:buNone/>
            </a:pPr>
            <a:r>
              <a:rPr lang="en-US" sz="2200" b="1" dirty="0">
                <a:solidFill>
                  <a:srgbClr val="0E4A63"/>
                </a:solidFill>
              </a:rPr>
              <a:t>421</a:t>
            </a:r>
            <a:endParaRPr lang="en-US" sz="2200" dirty="0"/>
          </a:p>
        </p:txBody>
      </p:sp>
      <p:sp>
        <p:nvSpPr>
          <p:cNvPr id="23" name="Shape 19"/>
          <p:cNvSpPr/>
          <p:nvPr/>
        </p:nvSpPr>
        <p:spPr>
          <a:xfrm>
            <a:off x="1920240" y="4709160"/>
            <a:ext cx="1188720" cy="731520"/>
          </a:xfrm>
          <a:prstGeom prst="rect">
            <a:avLst/>
          </a:prstGeom>
          <a:solidFill>
            <a:srgbClr val="0E2841"/>
          </a:solidFill>
          <a:ln/>
        </p:spPr>
      </p:sp>
      <p:sp>
        <p:nvSpPr>
          <p:cNvPr id="24" name="Text 20"/>
          <p:cNvSpPr/>
          <p:nvPr/>
        </p:nvSpPr>
        <p:spPr>
          <a:xfrm>
            <a:off x="1920240" y="4709160"/>
            <a:ext cx="1188720" cy="731520"/>
          </a:xfrm>
          <a:prstGeom prst="rect">
            <a:avLst/>
          </a:prstGeom>
          <a:noFill/>
          <a:ln/>
        </p:spPr>
        <p:txBody>
          <a:bodyPr wrap="square" lIns="0" tIns="0" rIns="0" bIns="0" rtlCol="0" anchor="ctr"/>
          <a:lstStyle/>
          <a:p>
            <a:pPr algn="ctr" indent="0" marL="0">
              <a:buNone/>
            </a:pPr>
            <a:r>
              <a:rPr lang="en-US" sz="2200" b="1" dirty="0">
                <a:solidFill>
                  <a:srgbClr val="FFFFFF"/>
                </a:solidFill>
              </a:rPr>
              <a:t>1326</a:t>
            </a:r>
            <a:endParaRPr lang="en-US" sz="2200" dirty="0"/>
          </a:p>
        </p:txBody>
      </p:sp>
      <p:sp>
        <p:nvSpPr>
          <p:cNvPr id="25" name="Text 21"/>
          <p:cNvSpPr/>
          <p:nvPr/>
        </p:nvSpPr>
        <p:spPr>
          <a:xfrm>
            <a:off x="3657600" y="3566160"/>
            <a:ext cx="3200400" cy="27432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ROC curve (AUC = 0.7538)</a:t>
            </a:r>
            <a:endParaRPr lang="en-US" sz="1400" dirty="0"/>
          </a:p>
        </p:txBody>
      </p:sp>
      <p:graphicFrame>
        <p:nvGraphicFramePr>
          <p:cNvPr id="26" name="Chart 0" descr=""/>
          <p:cNvGraphicFramePr/>
          <p:nvPr/>
        </p:nvGraphicFramePr>
        <p:xfrm>
          <a:off x="3474720" y="3794760"/>
          <a:ext cx="3657600" cy="2560320"/>
        </p:xfrm>
        <a:graphic xmlns:a="http://schemas.openxmlformats.org/drawingml/2006/main">
          <a:graphicData uri="http://schemas.openxmlformats.org/drawingml/2006/chart">
            <c:chart xmlns:c="http://schemas.openxmlformats.org/drawingml/2006/chart" r:id="rId1"/>
          </a:graphicData>
        </a:graphic>
      </p:graphicFrame>
      <p:sp>
        <p:nvSpPr>
          <p:cNvPr id="27" name="Text 22"/>
          <p:cNvSpPr/>
          <p:nvPr/>
        </p:nvSpPr>
        <p:spPr>
          <a:xfrm>
            <a:off x="7498080" y="3566160"/>
            <a:ext cx="4114800" cy="274320"/>
          </a:xfrm>
          <a:prstGeom prst="rect">
            <a:avLst/>
          </a:prstGeom>
          <a:noFill/>
          <a:ln/>
        </p:spPr>
        <p:txBody>
          <a:bodyPr wrap="square" lIns="0" tIns="0" rIns="0" bIns="0" rtlCol="0" anchor="ctr"/>
          <a:lstStyle/>
          <a:p>
            <a:pPr indent="0" marL="0">
              <a:buNone/>
            </a:pPr>
            <a:r>
              <a:rPr lang="en-US" sz="1600" b="1" u="sng" dirty="0">
                <a:solidFill>
                  <a:srgbClr val="000000"/>
                </a:solidFill>
                <a:latin typeface="Calibri" pitchFamily="34" charset="0"/>
                <a:ea typeface="Calibri" pitchFamily="34" charset="-122"/>
                <a:cs typeface="Calibri" pitchFamily="34" charset="-120"/>
              </a:rPr>
              <a:t>Key insights</a:t>
            </a:r>
            <a:endParaRPr lang="en-US" sz="1600" dirty="0"/>
          </a:p>
        </p:txBody>
      </p:sp>
      <p:sp>
        <p:nvSpPr>
          <p:cNvPr id="28" name="Text 23"/>
          <p:cNvSpPr/>
          <p:nvPr/>
        </p:nvSpPr>
        <p:spPr>
          <a:xfrm>
            <a:off x="7498080" y="3840480"/>
            <a:ext cx="4389120" cy="2743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PR-AUC 0.816 exceeds the original Conv-MHSA paper benchmark on NGAFID-MC, validating the architecture for a larger dataset (19,540 vs 7,505 flights).</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On the test set, model correctly identifies 710 at-risk flights but misses 474, while producing 421 false alarms.</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Moving from Best-F1 to Recall-90% cuts missed risks from 37 to 11 per 100 flights, trading off more false alarms (37 to 47).</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ROC-AUC 0.754 tops MiniRocket (0.740) and XGBoost baseline (0.69), demonstrating the Transformer's superior ranking ability.</a:t>
            </a:r>
            <a:endParaRPr lang="en-US" sz="1200" dirty="0"/>
          </a:p>
          <a:p>
            <a:pPr marL="342900" indent="-342900">
              <a:spcAft>
                <a:spcPts val="800"/>
              </a:spcAft>
              <a:buSzPct val="100000"/>
              <a:buChar char="•"/>
            </a:pPr>
            <a:r>
              <a:rPr lang="en-US" sz="1200" dirty="0">
                <a:solidFill>
                  <a:srgbClr val="444444"/>
                </a:solidFill>
                <a:latin typeface="Calibri" pitchFamily="34" charset="0"/>
                <a:ea typeface="Calibri" pitchFamily="34" charset="-122"/>
                <a:cs typeface="Calibri" pitchFamily="34" charset="-120"/>
              </a:rPr>
              <a:t>The 5-day horizon (rul_5d) offers the best operational trade-off: F1=0.739, catching 77% of at-risk flights.</a:t>
            </a:r>
            <a:endParaRPr lang="en-US" sz="1200" dirty="0"/>
          </a:p>
        </p:txBody>
      </p:sp>
      <p:sp>
        <p:nvSpPr>
          <p:cNvPr id="29" name="Text 24"/>
          <p:cNvSpPr/>
          <p:nvPr/>
        </p:nvSpPr>
        <p:spPr>
          <a:xfrm>
            <a:off x="274320" y="6492240"/>
            <a:ext cx="11612880" cy="22860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*Threshold tuning was performed on validation data. Test set results reported above.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2026-06-25T06:24:40Z</dcterms:created>
  <dcterms:modified xsi:type="dcterms:W3CDTF">2026-06-25T06:24:40Z</dcterms:modified>
</cp:coreProperties>
</file>