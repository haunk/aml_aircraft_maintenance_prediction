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57" r:id="rId6"/>
    <p:sldId id="258" r:id="rId7"/>
    <p:sldId id="275" r:id="rId8"/>
    <p:sldId id="260" r:id="rId9"/>
    <p:sldId id="273" r:id="rId10"/>
    <p:sldId id="259" r:id="rId11"/>
    <p:sldId id="261" r:id="rId12"/>
    <p:sldId id="262" r:id="rId13"/>
    <p:sldId id="263" r:id="rId14"/>
    <p:sldId id="266" r:id="rId15"/>
    <p:sldId id="267" r:id="rId16"/>
    <p:sldId id="264" r:id="rId17"/>
    <p:sldId id="265" r:id="rId18"/>
    <p:sldId id="268" r:id="rId19"/>
    <p:sldId id="269" r:id="rId20"/>
    <p:sldId id="279" r:id="rId21"/>
    <p:sldId id="272" r:id="rId22"/>
    <p:sldId id="277" r:id="rId23"/>
    <p:sldId id="274" r:id="rId24"/>
    <p:sldId id="276" r:id="rId25"/>
    <p:sldId id="2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9F484E-E0FE-1A02-81A2-41FF9C6283E6}" name="Tanya ARORA" initials="TA" userId="S::tanya.arora.2025@mitb.smu.edu.sg::0c3ca997-b015-49f9-85aa-08995a15abcc" providerId="AD"/>
  <p188:author id="{A81BED60-7A43-9192-063D-1CB3EEBFF43A}" name="Kimberly BERTOLI" initials="KB" userId="S::k.bertoli.2025@exchange.smu.edu.sg::1013600d-657a-415a-81e2-64e727bd8741" providerId="AD"/>
  <p188:author id="{321B55D1-F375-2747-5F2C-8AE0858D1B5F}" name="NGUYEN Kim Hau" initials="NH" userId="S::kh.nguyen.2025@mitb.smu.edu.sg::808ce910-92f9-4f15-84e7-f963bd88f4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3F3"/>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91AF06-6255-89D8-B834-890DFC09209B}" v="2" dt="2026-06-25T03:35:36.659"/>
    <p1510:client id="{D0291E4F-D447-4ECA-8FEF-CC492C8D216C}" v="29" dt="2026-06-24T08:49:12.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EDD5CC-8DC6-40F0-B43B-830C31D77240}" type="doc">
      <dgm:prSet loTypeId="urn:microsoft.com/office/officeart/2005/8/layout/process1" loCatId="process" qsTypeId="urn:microsoft.com/office/officeart/2005/8/quickstyle/simple5" qsCatId="simple" csTypeId="urn:microsoft.com/office/officeart/2005/8/colors/colorful3" csCatId="colorful" phldr="1"/>
      <dgm:spPr/>
      <dgm:t>
        <a:bodyPr/>
        <a:lstStyle/>
        <a:p>
          <a:endParaRPr lang="en-SG"/>
        </a:p>
      </dgm:t>
    </dgm:pt>
    <dgm:pt modelId="{0CAA5AB1-376D-4595-8E4E-CD7A063792CC}">
      <dgm:prSet phldrT="[Text]" phldr="0" custT="1"/>
      <dgm:spPr/>
      <dgm:t>
        <a:bodyPr/>
        <a:lstStyle/>
        <a:p>
          <a:r>
            <a:rPr lang="en-SG" sz="1600" b="1">
              <a:latin typeface="Arial" panose="020B0604020202020204" pitchFamily="34" charset="0"/>
              <a:cs typeface="Arial" panose="020B0604020202020204" pitchFamily="34" charset="0"/>
            </a:rPr>
            <a:t>Data</a:t>
          </a:r>
        </a:p>
        <a:p>
          <a:r>
            <a:rPr lang="en-SG" sz="1200" i="1">
              <a:latin typeface="Arial" panose="020B0604020202020204" pitchFamily="34" charset="0"/>
              <a:cs typeface="Arial" panose="020B0604020202020204" pitchFamily="34" charset="0"/>
            </a:rPr>
            <a:t>Flight sensor recordings + maintenance logs </a:t>
          </a:r>
        </a:p>
      </dgm:t>
    </dgm:pt>
    <dgm:pt modelId="{68DBCDF2-0962-4421-A8F6-6344E335E4EE}" type="parTrans" cxnId="{90E7FA0C-4F7B-4C11-9F6C-39B9A6CC52CF}">
      <dgm:prSet/>
      <dgm:spPr/>
      <dgm:t>
        <a:bodyPr/>
        <a:lstStyle/>
        <a:p>
          <a:endParaRPr lang="en-SG" sz="1600">
            <a:latin typeface="Arial" panose="020B0604020202020204" pitchFamily="34" charset="0"/>
            <a:cs typeface="Arial" panose="020B0604020202020204" pitchFamily="34" charset="0"/>
          </a:endParaRPr>
        </a:p>
      </dgm:t>
    </dgm:pt>
    <dgm:pt modelId="{06DC3EA5-1E2A-4913-AAAF-A2EE03699B40}" type="sibTrans" cxnId="{90E7FA0C-4F7B-4C11-9F6C-39B9A6CC52CF}">
      <dgm:prSet custT="1"/>
      <dgm:spPr/>
      <dgm:t>
        <a:bodyPr/>
        <a:lstStyle/>
        <a:p>
          <a:endParaRPr lang="en-SG" sz="1600">
            <a:latin typeface="Arial" panose="020B0604020202020204" pitchFamily="34" charset="0"/>
            <a:cs typeface="Arial" panose="020B0604020202020204" pitchFamily="34" charset="0"/>
          </a:endParaRPr>
        </a:p>
      </dgm:t>
    </dgm:pt>
    <dgm:pt modelId="{DB2BBD4B-2120-4D06-8929-7EA4B2AF01E5}">
      <dgm:prSet phldrT="[Text]" phldr="0" custT="1"/>
      <dgm:spPr/>
      <dgm:t>
        <a:bodyPr/>
        <a:lstStyle/>
        <a:p>
          <a:r>
            <a:rPr lang="en-SG" sz="1600" b="1">
              <a:latin typeface="Arial" panose="020B0604020202020204" pitchFamily="34" charset="0"/>
              <a:cs typeface="Arial" panose="020B0604020202020204" pitchFamily="34" charset="0"/>
            </a:rPr>
            <a:t>ML Model </a:t>
          </a:r>
        </a:p>
        <a:p>
          <a:r>
            <a:rPr lang="en-SG" sz="1200" i="1">
              <a:latin typeface="Arial" panose="020B0604020202020204" pitchFamily="34" charset="0"/>
              <a:cs typeface="Arial" panose="020B0604020202020204" pitchFamily="34" charset="0"/>
            </a:rPr>
            <a:t>Predict maintenance risk</a:t>
          </a:r>
        </a:p>
      </dgm:t>
    </dgm:pt>
    <dgm:pt modelId="{F3BE1DB9-7F43-4A4E-A7A8-D8B07F6E62B2}" type="parTrans" cxnId="{F08BD32B-1381-4903-8417-1629B5BDCA4F}">
      <dgm:prSet/>
      <dgm:spPr/>
      <dgm:t>
        <a:bodyPr/>
        <a:lstStyle/>
        <a:p>
          <a:endParaRPr lang="en-SG" sz="1600">
            <a:latin typeface="Arial" panose="020B0604020202020204" pitchFamily="34" charset="0"/>
            <a:cs typeface="Arial" panose="020B0604020202020204" pitchFamily="34" charset="0"/>
          </a:endParaRPr>
        </a:p>
      </dgm:t>
    </dgm:pt>
    <dgm:pt modelId="{93E7B98E-8A49-45CC-9CDB-06727B2CFBC3}" type="sibTrans" cxnId="{F08BD32B-1381-4903-8417-1629B5BDCA4F}">
      <dgm:prSet custT="1"/>
      <dgm:spPr/>
      <dgm:t>
        <a:bodyPr/>
        <a:lstStyle/>
        <a:p>
          <a:endParaRPr lang="en-SG" sz="1600">
            <a:latin typeface="Arial" panose="020B0604020202020204" pitchFamily="34" charset="0"/>
            <a:cs typeface="Arial" panose="020B0604020202020204" pitchFamily="34" charset="0"/>
          </a:endParaRPr>
        </a:p>
      </dgm:t>
    </dgm:pt>
    <dgm:pt modelId="{D199226C-E9C5-4F71-87B8-68853A2D8A34}">
      <dgm:prSet phldrT="[Text]" phldr="0" custT="1"/>
      <dgm:spPr/>
      <dgm:t>
        <a:bodyPr/>
        <a:lstStyle/>
        <a:p>
          <a:r>
            <a:rPr lang="en-SG" sz="1600" b="1">
              <a:latin typeface="Arial" panose="020B0604020202020204" pitchFamily="34" charset="0"/>
              <a:cs typeface="Arial" panose="020B0604020202020204" pitchFamily="34" charset="0"/>
            </a:rPr>
            <a:t>Decision Making</a:t>
          </a:r>
        </a:p>
        <a:p>
          <a:r>
            <a:rPr lang="en-SG" sz="1200" i="1">
              <a:latin typeface="Arial" panose="020B0604020202020204" pitchFamily="34" charset="0"/>
              <a:cs typeface="Arial" panose="020B0604020202020204" pitchFamily="34" charset="0"/>
            </a:rPr>
            <a:t>Planners inspect, stage parts, schedule </a:t>
          </a:r>
        </a:p>
      </dgm:t>
    </dgm:pt>
    <dgm:pt modelId="{BA0DA0EA-2F15-4BD9-99CA-94203604C63B}" type="parTrans" cxnId="{384E93F4-CA4E-49C2-8144-B7B1C3964802}">
      <dgm:prSet/>
      <dgm:spPr/>
      <dgm:t>
        <a:bodyPr/>
        <a:lstStyle/>
        <a:p>
          <a:endParaRPr lang="en-SG" sz="1600">
            <a:latin typeface="Arial" panose="020B0604020202020204" pitchFamily="34" charset="0"/>
            <a:cs typeface="Arial" panose="020B0604020202020204" pitchFamily="34" charset="0"/>
          </a:endParaRPr>
        </a:p>
      </dgm:t>
    </dgm:pt>
    <dgm:pt modelId="{45653984-0836-4747-8250-39CEAE47CC01}" type="sibTrans" cxnId="{384E93F4-CA4E-49C2-8144-B7B1C3964802}">
      <dgm:prSet/>
      <dgm:spPr/>
      <dgm:t>
        <a:bodyPr/>
        <a:lstStyle/>
        <a:p>
          <a:endParaRPr lang="en-SG" sz="1600">
            <a:latin typeface="Arial" panose="020B0604020202020204" pitchFamily="34" charset="0"/>
            <a:cs typeface="Arial" panose="020B0604020202020204" pitchFamily="34" charset="0"/>
          </a:endParaRPr>
        </a:p>
      </dgm:t>
    </dgm:pt>
    <dgm:pt modelId="{2E38AFEE-2FFE-483F-9A97-A6713465E329}">
      <dgm:prSet phldrT="[Text]" phldr="0" custT="1"/>
      <dgm:spPr/>
      <dgm:t>
        <a:bodyPr/>
        <a:lstStyle/>
        <a:p>
          <a:r>
            <a:rPr lang="en-SG" sz="1600" b="1">
              <a:latin typeface="Arial" panose="020B0604020202020204" pitchFamily="34" charset="0"/>
              <a:cs typeface="Arial" panose="020B0604020202020204" pitchFamily="34" charset="0"/>
            </a:rPr>
            <a:t>Deployment</a:t>
          </a:r>
        </a:p>
        <a:p>
          <a:r>
            <a:rPr lang="en-SG" sz="1200" i="1">
              <a:latin typeface="Arial" panose="020B0604020202020204" pitchFamily="34" charset="0"/>
              <a:cs typeface="Arial" panose="020B0604020202020204" pitchFamily="34" charset="0"/>
            </a:rPr>
            <a:t>Risk flags integrated into maintenance planning</a:t>
          </a:r>
        </a:p>
      </dgm:t>
    </dgm:pt>
    <dgm:pt modelId="{45345612-4FD3-4704-84F5-E01D0098EDEC}" type="parTrans" cxnId="{C39EA76F-109D-4EDA-A938-4ED05559101B}">
      <dgm:prSet/>
      <dgm:spPr/>
      <dgm:t>
        <a:bodyPr/>
        <a:lstStyle/>
        <a:p>
          <a:endParaRPr lang="en-SG"/>
        </a:p>
      </dgm:t>
    </dgm:pt>
    <dgm:pt modelId="{66FE064A-305A-44DF-859B-2D3BCAE5871C}" type="sibTrans" cxnId="{C39EA76F-109D-4EDA-A938-4ED05559101B}">
      <dgm:prSet/>
      <dgm:spPr/>
      <dgm:t>
        <a:bodyPr/>
        <a:lstStyle/>
        <a:p>
          <a:endParaRPr lang="en-SG"/>
        </a:p>
      </dgm:t>
    </dgm:pt>
    <dgm:pt modelId="{21FF158D-3E52-4742-8456-3D823CB63D6B}" type="pres">
      <dgm:prSet presAssocID="{97EDD5CC-8DC6-40F0-B43B-830C31D77240}" presName="Name0" presStyleCnt="0">
        <dgm:presLayoutVars>
          <dgm:dir/>
          <dgm:resizeHandles val="exact"/>
        </dgm:presLayoutVars>
      </dgm:prSet>
      <dgm:spPr/>
    </dgm:pt>
    <dgm:pt modelId="{7AE07465-1F07-45B4-9C54-E2FCC760B2FC}" type="pres">
      <dgm:prSet presAssocID="{0CAA5AB1-376D-4595-8E4E-CD7A063792CC}" presName="node" presStyleLbl="node1" presStyleIdx="0" presStyleCnt="4">
        <dgm:presLayoutVars>
          <dgm:bulletEnabled val="1"/>
        </dgm:presLayoutVars>
      </dgm:prSet>
      <dgm:spPr/>
    </dgm:pt>
    <dgm:pt modelId="{94827EB2-8F13-4F9D-BA05-CA867632FD0D}" type="pres">
      <dgm:prSet presAssocID="{06DC3EA5-1E2A-4913-AAAF-A2EE03699B40}" presName="sibTrans" presStyleLbl="sibTrans2D1" presStyleIdx="0" presStyleCnt="3"/>
      <dgm:spPr/>
    </dgm:pt>
    <dgm:pt modelId="{9B184E32-602B-4864-A29E-E7DAB33C5741}" type="pres">
      <dgm:prSet presAssocID="{06DC3EA5-1E2A-4913-AAAF-A2EE03699B40}" presName="connectorText" presStyleLbl="sibTrans2D1" presStyleIdx="0" presStyleCnt="3"/>
      <dgm:spPr/>
    </dgm:pt>
    <dgm:pt modelId="{931571FC-3C8D-499A-9FCD-CCE93E340E44}" type="pres">
      <dgm:prSet presAssocID="{DB2BBD4B-2120-4D06-8929-7EA4B2AF01E5}" presName="node" presStyleLbl="node1" presStyleIdx="1" presStyleCnt="4">
        <dgm:presLayoutVars>
          <dgm:bulletEnabled val="1"/>
        </dgm:presLayoutVars>
      </dgm:prSet>
      <dgm:spPr/>
    </dgm:pt>
    <dgm:pt modelId="{55C62E99-06AC-4C56-ABF9-399C48F90C87}" type="pres">
      <dgm:prSet presAssocID="{93E7B98E-8A49-45CC-9CDB-06727B2CFBC3}" presName="sibTrans" presStyleLbl="sibTrans2D1" presStyleIdx="1" presStyleCnt="3"/>
      <dgm:spPr/>
    </dgm:pt>
    <dgm:pt modelId="{99C50036-6876-401C-B211-FD08CB6497D5}" type="pres">
      <dgm:prSet presAssocID="{93E7B98E-8A49-45CC-9CDB-06727B2CFBC3}" presName="connectorText" presStyleLbl="sibTrans2D1" presStyleIdx="1" presStyleCnt="3"/>
      <dgm:spPr/>
    </dgm:pt>
    <dgm:pt modelId="{A0C6DF0E-5C44-41EF-9C68-6D1FB8A7701C}" type="pres">
      <dgm:prSet presAssocID="{2E38AFEE-2FFE-483F-9A97-A6713465E329}" presName="node" presStyleLbl="node1" presStyleIdx="2" presStyleCnt="4">
        <dgm:presLayoutVars>
          <dgm:bulletEnabled val="1"/>
        </dgm:presLayoutVars>
      </dgm:prSet>
      <dgm:spPr/>
    </dgm:pt>
    <dgm:pt modelId="{2B71BBA0-A609-4C74-9D85-BE6030DBD000}" type="pres">
      <dgm:prSet presAssocID="{66FE064A-305A-44DF-859B-2D3BCAE5871C}" presName="sibTrans" presStyleLbl="sibTrans2D1" presStyleIdx="2" presStyleCnt="3"/>
      <dgm:spPr/>
    </dgm:pt>
    <dgm:pt modelId="{BC7948AA-016D-4CAD-A669-6EFA81BD2801}" type="pres">
      <dgm:prSet presAssocID="{66FE064A-305A-44DF-859B-2D3BCAE5871C}" presName="connectorText" presStyleLbl="sibTrans2D1" presStyleIdx="2" presStyleCnt="3"/>
      <dgm:spPr/>
    </dgm:pt>
    <dgm:pt modelId="{10B2F027-B00A-4C5A-A61C-42DB42C72555}" type="pres">
      <dgm:prSet presAssocID="{D199226C-E9C5-4F71-87B8-68853A2D8A34}" presName="node" presStyleLbl="node1" presStyleIdx="3" presStyleCnt="4">
        <dgm:presLayoutVars>
          <dgm:bulletEnabled val="1"/>
        </dgm:presLayoutVars>
      </dgm:prSet>
      <dgm:spPr/>
    </dgm:pt>
  </dgm:ptLst>
  <dgm:cxnLst>
    <dgm:cxn modelId="{90E7FA0C-4F7B-4C11-9F6C-39B9A6CC52CF}" srcId="{97EDD5CC-8DC6-40F0-B43B-830C31D77240}" destId="{0CAA5AB1-376D-4595-8E4E-CD7A063792CC}" srcOrd="0" destOrd="0" parTransId="{68DBCDF2-0962-4421-A8F6-6344E335E4EE}" sibTransId="{06DC3EA5-1E2A-4913-AAAF-A2EE03699B40}"/>
    <dgm:cxn modelId="{D68C7611-D061-48E0-A83D-5DA87DE8711E}" type="presOf" srcId="{66FE064A-305A-44DF-859B-2D3BCAE5871C}" destId="{BC7948AA-016D-4CAD-A669-6EFA81BD2801}" srcOrd="1" destOrd="0" presId="urn:microsoft.com/office/officeart/2005/8/layout/process1"/>
    <dgm:cxn modelId="{F08BD32B-1381-4903-8417-1629B5BDCA4F}" srcId="{97EDD5CC-8DC6-40F0-B43B-830C31D77240}" destId="{DB2BBD4B-2120-4D06-8929-7EA4B2AF01E5}" srcOrd="1" destOrd="0" parTransId="{F3BE1DB9-7F43-4A4E-A7A8-D8B07F6E62B2}" sibTransId="{93E7B98E-8A49-45CC-9CDB-06727B2CFBC3}"/>
    <dgm:cxn modelId="{A438AF36-246F-473F-AF06-CFD1125E0C60}" type="presOf" srcId="{93E7B98E-8A49-45CC-9CDB-06727B2CFBC3}" destId="{99C50036-6876-401C-B211-FD08CB6497D5}" srcOrd="1" destOrd="0" presId="urn:microsoft.com/office/officeart/2005/8/layout/process1"/>
    <dgm:cxn modelId="{C39EA76F-109D-4EDA-A938-4ED05559101B}" srcId="{97EDD5CC-8DC6-40F0-B43B-830C31D77240}" destId="{2E38AFEE-2FFE-483F-9A97-A6713465E329}" srcOrd="2" destOrd="0" parTransId="{45345612-4FD3-4704-84F5-E01D0098EDEC}" sibTransId="{66FE064A-305A-44DF-859B-2D3BCAE5871C}"/>
    <dgm:cxn modelId="{B438DA77-18FE-4369-B475-31D2A487ED77}" type="presOf" srcId="{D199226C-E9C5-4F71-87B8-68853A2D8A34}" destId="{10B2F027-B00A-4C5A-A61C-42DB42C72555}" srcOrd="0" destOrd="0" presId="urn:microsoft.com/office/officeart/2005/8/layout/process1"/>
    <dgm:cxn modelId="{A240FD77-8C03-40EB-A024-5237FB7F32FC}" type="presOf" srcId="{97EDD5CC-8DC6-40F0-B43B-830C31D77240}" destId="{21FF158D-3E52-4742-8456-3D823CB63D6B}" srcOrd="0" destOrd="0" presId="urn:microsoft.com/office/officeart/2005/8/layout/process1"/>
    <dgm:cxn modelId="{960EE77A-D5AA-46A0-B62B-61A2107A0DD1}" type="presOf" srcId="{DB2BBD4B-2120-4D06-8929-7EA4B2AF01E5}" destId="{931571FC-3C8D-499A-9FCD-CCE93E340E44}" srcOrd="0" destOrd="0" presId="urn:microsoft.com/office/officeart/2005/8/layout/process1"/>
    <dgm:cxn modelId="{647CC995-1D50-49C6-A1F8-C6E90AF28410}" type="presOf" srcId="{66FE064A-305A-44DF-859B-2D3BCAE5871C}" destId="{2B71BBA0-A609-4C74-9D85-BE6030DBD000}" srcOrd="0" destOrd="0" presId="urn:microsoft.com/office/officeart/2005/8/layout/process1"/>
    <dgm:cxn modelId="{933B2696-F25D-4349-91AC-42F5A2E229CD}" type="presOf" srcId="{93E7B98E-8A49-45CC-9CDB-06727B2CFBC3}" destId="{55C62E99-06AC-4C56-ABF9-399C48F90C87}" srcOrd="0" destOrd="0" presId="urn:microsoft.com/office/officeart/2005/8/layout/process1"/>
    <dgm:cxn modelId="{60B9B49A-4CE1-484E-8F09-7982502DC8BC}" type="presOf" srcId="{06DC3EA5-1E2A-4913-AAAF-A2EE03699B40}" destId="{9B184E32-602B-4864-A29E-E7DAB33C5741}" srcOrd="1" destOrd="0" presId="urn:microsoft.com/office/officeart/2005/8/layout/process1"/>
    <dgm:cxn modelId="{94F9D0A2-DB5B-4D78-A149-16FB402A8ED2}" type="presOf" srcId="{06DC3EA5-1E2A-4913-AAAF-A2EE03699B40}" destId="{94827EB2-8F13-4F9D-BA05-CA867632FD0D}" srcOrd="0" destOrd="0" presId="urn:microsoft.com/office/officeart/2005/8/layout/process1"/>
    <dgm:cxn modelId="{1A713BB3-F5A6-407E-A376-F208F054A375}" type="presOf" srcId="{0CAA5AB1-376D-4595-8E4E-CD7A063792CC}" destId="{7AE07465-1F07-45B4-9C54-E2FCC760B2FC}" srcOrd="0" destOrd="0" presId="urn:microsoft.com/office/officeart/2005/8/layout/process1"/>
    <dgm:cxn modelId="{384E93F4-CA4E-49C2-8144-B7B1C3964802}" srcId="{97EDD5CC-8DC6-40F0-B43B-830C31D77240}" destId="{D199226C-E9C5-4F71-87B8-68853A2D8A34}" srcOrd="3" destOrd="0" parTransId="{BA0DA0EA-2F15-4BD9-99CA-94203604C63B}" sibTransId="{45653984-0836-4747-8250-39CEAE47CC01}"/>
    <dgm:cxn modelId="{B028F5FA-BFD0-4A9A-8AD5-ED61389C41C6}" type="presOf" srcId="{2E38AFEE-2FFE-483F-9A97-A6713465E329}" destId="{A0C6DF0E-5C44-41EF-9C68-6D1FB8A7701C}" srcOrd="0" destOrd="0" presId="urn:microsoft.com/office/officeart/2005/8/layout/process1"/>
    <dgm:cxn modelId="{CB75C7BB-65C0-4529-ABD1-0EACDD8EC2B9}" type="presParOf" srcId="{21FF158D-3E52-4742-8456-3D823CB63D6B}" destId="{7AE07465-1F07-45B4-9C54-E2FCC760B2FC}" srcOrd="0" destOrd="0" presId="urn:microsoft.com/office/officeart/2005/8/layout/process1"/>
    <dgm:cxn modelId="{9017B6C7-04DB-49D2-8A73-3C8D037913D0}" type="presParOf" srcId="{21FF158D-3E52-4742-8456-3D823CB63D6B}" destId="{94827EB2-8F13-4F9D-BA05-CA867632FD0D}" srcOrd="1" destOrd="0" presId="urn:microsoft.com/office/officeart/2005/8/layout/process1"/>
    <dgm:cxn modelId="{A159A930-B593-4297-85A9-14F2B5D11CD8}" type="presParOf" srcId="{94827EB2-8F13-4F9D-BA05-CA867632FD0D}" destId="{9B184E32-602B-4864-A29E-E7DAB33C5741}" srcOrd="0" destOrd="0" presId="urn:microsoft.com/office/officeart/2005/8/layout/process1"/>
    <dgm:cxn modelId="{32603697-755F-4221-82EF-20993E0B2744}" type="presParOf" srcId="{21FF158D-3E52-4742-8456-3D823CB63D6B}" destId="{931571FC-3C8D-499A-9FCD-CCE93E340E44}" srcOrd="2" destOrd="0" presId="urn:microsoft.com/office/officeart/2005/8/layout/process1"/>
    <dgm:cxn modelId="{0630EF67-F56A-4CC2-9187-A89545028155}" type="presParOf" srcId="{21FF158D-3E52-4742-8456-3D823CB63D6B}" destId="{55C62E99-06AC-4C56-ABF9-399C48F90C87}" srcOrd="3" destOrd="0" presId="urn:microsoft.com/office/officeart/2005/8/layout/process1"/>
    <dgm:cxn modelId="{926B6828-F63F-4F57-ADA6-C53347BE42C8}" type="presParOf" srcId="{55C62E99-06AC-4C56-ABF9-399C48F90C87}" destId="{99C50036-6876-401C-B211-FD08CB6497D5}" srcOrd="0" destOrd="0" presId="urn:microsoft.com/office/officeart/2005/8/layout/process1"/>
    <dgm:cxn modelId="{01055794-D306-4257-B4EB-0CED9196CAB2}" type="presParOf" srcId="{21FF158D-3E52-4742-8456-3D823CB63D6B}" destId="{A0C6DF0E-5C44-41EF-9C68-6D1FB8A7701C}" srcOrd="4" destOrd="0" presId="urn:microsoft.com/office/officeart/2005/8/layout/process1"/>
    <dgm:cxn modelId="{012591E0-0C00-417C-BECC-7D7F72B9C55B}" type="presParOf" srcId="{21FF158D-3E52-4742-8456-3D823CB63D6B}" destId="{2B71BBA0-A609-4C74-9D85-BE6030DBD000}" srcOrd="5" destOrd="0" presId="urn:microsoft.com/office/officeart/2005/8/layout/process1"/>
    <dgm:cxn modelId="{B0E5132B-76CC-4051-AB63-03E577A4CDA5}" type="presParOf" srcId="{2B71BBA0-A609-4C74-9D85-BE6030DBD000}" destId="{BC7948AA-016D-4CAD-A669-6EFA81BD2801}" srcOrd="0" destOrd="0" presId="urn:microsoft.com/office/officeart/2005/8/layout/process1"/>
    <dgm:cxn modelId="{4D9F05A6-4C9B-49D6-A816-F3C9B42173B3}" type="presParOf" srcId="{21FF158D-3E52-4742-8456-3D823CB63D6B}" destId="{10B2F027-B00A-4C5A-A61C-42DB42C72555}"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5AFD47-1F5E-48B9-B9BF-51ED27E1B7D9}" type="doc">
      <dgm:prSet loTypeId="urn:microsoft.com/office/officeart/2005/8/layout/hChevron3" loCatId="process" qsTypeId="urn:microsoft.com/office/officeart/2005/8/quickstyle/simple2" qsCatId="simple" csTypeId="urn:microsoft.com/office/officeart/2005/8/colors/accent6_1" csCatId="accent6" phldr="1"/>
      <dgm:spPr/>
      <dgm:t>
        <a:bodyPr/>
        <a:lstStyle/>
        <a:p>
          <a:endParaRPr lang="en-SG"/>
        </a:p>
      </dgm:t>
    </dgm:pt>
    <dgm:pt modelId="{62A42A1C-F22C-4B9A-BB4F-55C5E875360A}">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Input Time Series</a:t>
          </a:r>
          <a:endParaRPr lang="en-SG" sz="1600">
            <a:latin typeface="Arial" panose="020B0604020202020204" pitchFamily="34" charset="0"/>
            <a:cs typeface="Arial" panose="020B0604020202020204" pitchFamily="34" charset="0"/>
          </a:endParaRPr>
        </a:p>
      </dgm:t>
    </dgm:pt>
    <dgm:pt modelId="{2E0BCF60-6300-4E60-9CF8-BE69407F3120}" type="parTrans" cxnId="{5A0312D0-2AFD-4830-9794-F4BC68B21C8F}">
      <dgm:prSet/>
      <dgm:spPr/>
      <dgm:t>
        <a:bodyPr/>
        <a:lstStyle/>
        <a:p>
          <a:endParaRPr lang="en-SG" sz="1600">
            <a:latin typeface="Arial" panose="020B0604020202020204" pitchFamily="34" charset="0"/>
            <a:cs typeface="Arial" panose="020B0604020202020204" pitchFamily="34" charset="0"/>
          </a:endParaRPr>
        </a:p>
      </dgm:t>
    </dgm:pt>
    <dgm:pt modelId="{66F3E81B-88C1-422E-BBBE-BF9E07F9900F}" type="sibTrans" cxnId="{5A0312D0-2AFD-4830-9794-F4BC68B21C8F}">
      <dgm:prSet/>
      <dgm:spPr/>
      <dgm:t>
        <a:bodyPr/>
        <a:lstStyle/>
        <a:p>
          <a:endParaRPr lang="en-SG" sz="1600">
            <a:latin typeface="Arial" panose="020B0604020202020204" pitchFamily="34" charset="0"/>
            <a:cs typeface="Arial" panose="020B0604020202020204" pitchFamily="34" charset="0"/>
          </a:endParaRPr>
        </a:p>
      </dgm:t>
    </dgm:pt>
    <dgm:pt modelId="{126B31D0-8195-4AED-BCDF-DB659D80256C}">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Convolution</a:t>
          </a:r>
          <a:endParaRPr lang="en-SG" sz="1600">
            <a:latin typeface="Arial" panose="020B0604020202020204" pitchFamily="34" charset="0"/>
            <a:cs typeface="Arial" panose="020B0604020202020204" pitchFamily="34" charset="0"/>
          </a:endParaRPr>
        </a:p>
      </dgm:t>
    </dgm:pt>
    <dgm:pt modelId="{4388DC86-A755-4403-8FAC-5FDB76F6CA41}" type="parTrans" cxnId="{2CE9490E-E7BA-48A8-9912-5A08EBA3F679}">
      <dgm:prSet/>
      <dgm:spPr/>
      <dgm:t>
        <a:bodyPr/>
        <a:lstStyle/>
        <a:p>
          <a:endParaRPr lang="en-SG" sz="1600">
            <a:latin typeface="Arial" panose="020B0604020202020204" pitchFamily="34" charset="0"/>
            <a:cs typeface="Arial" panose="020B0604020202020204" pitchFamily="34" charset="0"/>
          </a:endParaRPr>
        </a:p>
      </dgm:t>
    </dgm:pt>
    <dgm:pt modelId="{5BA85A5E-DFBC-4D08-B2A6-E95A6B260E7A}" type="sibTrans" cxnId="{2CE9490E-E7BA-48A8-9912-5A08EBA3F679}">
      <dgm:prSet/>
      <dgm:spPr/>
      <dgm:t>
        <a:bodyPr/>
        <a:lstStyle/>
        <a:p>
          <a:endParaRPr lang="en-SG" sz="1600">
            <a:latin typeface="Arial" panose="020B0604020202020204" pitchFamily="34" charset="0"/>
            <a:cs typeface="Arial" panose="020B0604020202020204" pitchFamily="34" charset="0"/>
          </a:endParaRPr>
        </a:p>
      </dgm:t>
    </dgm:pt>
    <dgm:pt modelId="{F3A90D68-7563-4EC8-A005-7CD5AAB1B24C}">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Feature Map</a:t>
          </a:r>
          <a:endParaRPr lang="en-SG" sz="1600">
            <a:latin typeface="Arial" panose="020B0604020202020204" pitchFamily="34" charset="0"/>
            <a:cs typeface="Arial" panose="020B0604020202020204" pitchFamily="34" charset="0"/>
          </a:endParaRPr>
        </a:p>
      </dgm:t>
    </dgm:pt>
    <dgm:pt modelId="{ED24D9F8-EBAD-401A-9417-D0419F6F767B}" type="parTrans" cxnId="{EF691E06-B41F-4C63-BCF4-8FD028469DF6}">
      <dgm:prSet/>
      <dgm:spPr/>
      <dgm:t>
        <a:bodyPr/>
        <a:lstStyle/>
        <a:p>
          <a:endParaRPr lang="en-SG" sz="1600">
            <a:latin typeface="Arial" panose="020B0604020202020204" pitchFamily="34" charset="0"/>
            <a:cs typeface="Arial" panose="020B0604020202020204" pitchFamily="34" charset="0"/>
          </a:endParaRPr>
        </a:p>
      </dgm:t>
    </dgm:pt>
    <dgm:pt modelId="{C6DDBE36-51B4-40C4-82F5-152CE4301702}" type="sibTrans" cxnId="{EF691E06-B41F-4C63-BCF4-8FD028469DF6}">
      <dgm:prSet/>
      <dgm:spPr/>
      <dgm:t>
        <a:bodyPr/>
        <a:lstStyle/>
        <a:p>
          <a:endParaRPr lang="en-SG" sz="1600">
            <a:latin typeface="Arial" panose="020B0604020202020204" pitchFamily="34" charset="0"/>
            <a:cs typeface="Arial" panose="020B0604020202020204" pitchFamily="34" charset="0"/>
          </a:endParaRPr>
        </a:p>
      </dgm:t>
    </dgm:pt>
    <dgm:pt modelId="{6ED4F9A9-1834-4FBE-B73C-5E5BB129ACB8}">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PPV </a:t>
          </a:r>
          <a:r>
            <a:rPr lang="en-SG" sz="1600">
              <a:latin typeface="Arial" panose="020B0604020202020204" pitchFamily="34" charset="0"/>
              <a:cs typeface="Arial" panose="020B0604020202020204" pitchFamily="34" charset="0"/>
            </a:rPr>
            <a:t>Pooling</a:t>
          </a:r>
        </a:p>
      </dgm:t>
    </dgm:pt>
    <dgm:pt modelId="{97DB823D-8309-47F9-AAA6-2A332D3C21E9}" type="parTrans" cxnId="{13811965-F88B-4429-9544-A7917C2EBC84}">
      <dgm:prSet/>
      <dgm:spPr/>
      <dgm:t>
        <a:bodyPr/>
        <a:lstStyle/>
        <a:p>
          <a:endParaRPr lang="en-SG" sz="1600">
            <a:latin typeface="Arial" panose="020B0604020202020204" pitchFamily="34" charset="0"/>
            <a:cs typeface="Arial" panose="020B0604020202020204" pitchFamily="34" charset="0"/>
          </a:endParaRPr>
        </a:p>
      </dgm:t>
    </dgm:pt>
    <dgm:pt modelId="{E9F4DB28-7B97-4410-A9D9-ACB903A22F47}" type="sibTrans" cxnId="{13811965-F88B-4429-9544-A7917C2EBC84}">
      <dgm:prSet/>
      <dgm:spPr/>
      <dgm:t>
        <a:bodyPr/>
        <a:lstStyle/>
        <a:p>
          <a:endParaRPr lang="en-SG" sz="1600">
            <a:latin typeface="Arial" panose="020B0604020202020204" pitchFamily="34" charset="0"/>
            <a:cs typeface="Arial" panose="020B0604020202020204" pitchFamily="34" charset="0"/>
          </a:endParaRPr>
        </a:p>
      </dgm:t>
    </dgm:pt>
    <dgm:pt modelId="{CCA37E11-399D-4C34-829E-03105B7341CE}">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Feature Vector</a:t>
          </a:r>
          <a:endParaRPr lang="en-SG" sz="1600">
            <a:latin typeface="Arial" panose="020B0604020202020204" pitchFamily="34" charset="0"/>
            <a:cs typeface="Arial" panose="020B0604020202020204" pitchFamily="34" charset="0"/>
          </a:endParaRPr>
        </a:p>
      </dgm:t>
    </dgm:pt>
    <dgm:pt modelId="{34B27EE1-A01A-450A-BBEC-2F7999CA5E1E}" type="parTrans" cxnId="{4CEE3ED0-C73D-484C-898D-2685798B585E}">
      <dgm:prSet/>
      <dgm:spPr/>
      <dgm:t>
        <a:bodyPr/>
        <a:lstStyle/>
        <a:p>
          <a:endParaRPr lang="en-SG" sz="1600">
            <a:latin typeface="Arial" panose="020B0604020202020204" pitchFamily="34" charset="0"/>
            <a:cs typeface="Arial" panose="020B0604020202020204" pitchFamily="34" charset="0"/>
          </a:endParaRPr>
        </a:p>
      </dgm:t>
    </dgm:pt>
    <dgm:pt modelId="{B5CFC6A7-0944-4814-A1EE-751DB67F8B52}" type="sibTrans" cxnId="{4CEE3ED0-C73D-484C-898D-2685798B585E}">
      <dgm:prSet/>
      <dgm:spPr/>
      <dgm:t>
        <a:bodyPr/>
        <a:lstStyle/>
        <a:p>
          <a:endParaRPr lang="en-SG" sz="1600">
            <a:latin typeface="Arial" panose="020B0604020202020204" pitchFamily="34" charset="0"/>
            <a:cs typeface="Arial" panose="020B0604020202020204" pitchFamily="34" charset="0"/>
          </a:endParaRPr>
        </a:p>
      </dgm:t>
    </dgm:pt>
    <dgm:pt modelId="{6C229DF8-1048-4D6E-A121-C04B183FCAA8}">
      <dgm:prSet phldrT="[Text]" phldr="0" custT="1"/>
      <dgm:spPr>
        <a:solidFill>
          <a:schemeClr val="accent6">
            <a:lumMod val="20000"/>
            <a:lumOff val="80000"/>
          </a:schemeClr>
        </a:solidFill>
        <a:ln w="12700">
          <a:solidFill>
            <a:schemeClr val="accent3"/>
          </a:solidFill>
        </a:ln>
      </dgm:spPr>
      <dgm:t>
        <a:bodyPr/>
        <a:lstStyle/>
        <a:p>
          <a:r>
            <a:rPr lang="en-US" sz="1600">
              <a:latin typeface="Arial" panose="020B0604020202020204" pitchFamily="34" charset="0"/>
              <a:cs typeface="Arial" panose="020B0604020202020204" pitchFamily="34" charset="0"/>
            </a:rPr>
            <a:t>Linear Classifier</a:t>
          </a:r>
          <a:endParaRPr lang="en-SG" sz="1600">
            <a:latin typeface="Arial" panose="020B0604020202020204" pitchFamily="34" charset="0"/>
            <a:cs typeface="Arial" panose="020B0604020202020204" pitchFamily="34" charset="0"/>
          </a:endParaRPr>
        </a:p>
      </dgm:t>
    </dgm:pt>
    <dgm:pt modelId="{A12C47AF-B072-418D-B406-7F8B145A1F46}" type="parTrans" cxnId="{4E3FFEF4-202F-451B-93A9-468C7EE63B9C}">
      <dgm:prSet/>
      <dgm:spPr/>
      <dgm:t>
        <a:bodyPr/>
        <a:lstStyle/>
        <a:p>
          <a:endParaRPr lang="en-SG" sz="1600">
            <a:latin typeface="Arial" panose="020B0604020202020204" pitchFamily="34" charset="0"/>
            <a:cs typeface="Arial" panose="020B0604020202020204" pitchFamily="34" charset="0"/>
          </a:endParaRPr>
        </a:p>
      </dgm:t>
    </dgm:pt>
    <dgm:pt modelId="{686020CB-F208-49D2-926E-9DE39DAAB363}" type="sibTrans" cxnId="{4E3FFEF4-202F-451B-93A9-468C7EE63B9C}">
      <dgm:prSet/>
      <dgm:spPr/>
      <dgm:t>
        <a:bodyPr/>
        <a:lstStyle/>
        <a:p>
          <a:endParaRPr lang="en-SG" sz="1600">
            <a:latin typeface="Arial" panose="020B0604020202020204" pitchFamily="34" charset="0"/>
            <a:cs typeface="Arial" panose="020B0604020202020204" pitchFamily="34" charset="0"/>
          </a:endParaRPr>
        </a:p>
      </dgm:t>
    </dgm:pt>
    <dgm:pt modelId="{797D6D36-1E16-46A5-80BC-EC39AAE879D0}" type="pres">
      <dgm:prSet presAssocID="{415AFD47-1F5E-48B9-B9BF-51ED27E1B7D9}" presName="Name0" presStyleCnt="0">
        <dgm:presLayoutVars>
          <dgm:dir/>
          <dgm:resizeHandles val="exact"/>
        </dgm:presLayoutVars>
      </dgm:prSet>
      <dgm:spPr/>
    </dgm:pt>
    <dgm:pt modelId="{6CC9EA04-AF7E-4C73-AEA1-8AFCF2DFE770}" type="pres">
      <dgm:prSet presAssocID="{62A42A1C-F22C-4B9A-BB4F-55C5E875360A}" presName="parTxOnly" presStyleLbl="node1" presStyleIdx="0" presStyleCnt="6">
        <dgm:presLayoutVars>
          <dgm:bulletEnabled val="1"/>
        </dgm:presLayoutVars>
      </dgm:prSet>
      <dgm:spPr/>
    </dgm:pt>
    <dgm:pt modelId="{01938E11-8E25-4D49-968C-C098510CD1B1}" type="pres">
      <dgm:prSet presAssocID="{66F3E81B-88C1-422E-BBBE-BF9E07F9900F}" presName="parSpace" presStyleCnt="0"/>
      <dgm:spPr/>
    </dgm:pt>
    <dgm:pt modelId="{BA319C91-D7EE-48C8-907F-2DD1C787BEB6}" type="pres">
      <dgm:prSet presAssocID="{126B31D0-8195-4AED-BCDF-DB659D80256C}" presName="parTxOnly" presStyleLbl="node1" presStyleIdx="1" presStyleCnt="6">
        <dgm:presLayoutVars>
          <dgm:bulletEnabled val="1"/>
        </dgm:presLayoutVars>
      </dgm:prSet>
      <dgm:spPr/>
    </dgm:pt>
    <dgm:pt modelId="{B9DC481E-1581-44F4-9F4E-5CC9FE2417DF}" type="pres">
      <dgm:prSet presAssocID="{5BA85A5E-DFBC-4D08-B2A6-E95A6B260E7A}" presName="parSpace" presStyleCnt="0"/>
      <dgm:spPr/>
    </dgm:pt>
    <dgm:pt modelId="{984FABBA-267D-4B95-82D0-BB2ADCC1731A}" type="pres">
      <dgm:prSet presAssocID="{F3A90D68-7563-4EC8-A005-7CD5AAB1B24C}" presName="parTxOnly" presStyleLbl="node1" presStyleIdx="2" presStyleCnt="6">
        <dgm:presLayoutVars>
          <dgm:bulletEnabled val="1"/>
        </dgm:presLayoutVars>
      </dgm:prSet>
      <dgm:spPr/>
    </dgm:pt>
    <dgm:pt modelId="{E94E5027-32D3-490F-81FB-DE46C4589840}" type="pres">
      <dgm:prSet presAssocID="{C6DDBE36-51B4-40C4-82F5-152CE4301702}" presName="parSpace" presStyleCnt="0"/>
      <dgm:spPr/>
    </dgm:pt>
    <dgm:pt modelId="{198614F1-AE32-4F89-98BD-5DF329A25F79}" type="pres">
      <dgm:prSet presAssocID="{6ED4F9A9-1834-4FBE-B73C-5E5BB129ACB8}" presName="parTxOnly" presStyleLbl="node1" presStyleIdx="3" presStyleCnt="6">
        <dgm:presLayoutVars>
          <dgm:bulletEnabled val="1"/>
        </dgm:presLayoutVars>
      </dgm:prSet>
      <dgm:spPr/>
    </dgm:pt>
    <dgm:pt modelId="{3D625086-971A-4571-96BB-CE11FBF7908D}" type="pres">
      <dgm:prSet presAssocID="{E9F4DB28-7B97-4410-A9D9-ACB903A22F47}" presName="parSpace" presStyleCnt="0"/>
      <dgm:spPr/>
    </dgm:pt>
    <dgm:pt modelId="{41BD852B-9173-4A1D-B3D2-960619D082EE}" type="pres">
      <dgm:prSet presAssocID="{CCA37E11-399D-4C34-829E-03105B7341CE}" presName="parTxOnly" presStyleLbl="node1" presStyleIdx="4" presStyleCnt="6">
        <dgm:presLayoutVars>
          <dgm:bulletEnabled val="1"/>
        </dgm:presLayoutVars>
      </dgm:prSet>
      <dgm:spPr/>
    </dgm:pt>
    <dgm:pt modelId="{C63C9F3F-801A-4D35-92F8-B31E324806DC}" type="pres">
      <dgm:prSet presAssocID="{B5CFC6A7-0944-4814-A1EE-751DB67F8B52}" presName="parSpace" presStyleCnt="0"/>
      <dgm:spPr/>
    </dgm:pt>
    <dgm:pt modelId="{89307D46-47E0-41DF-BE3E-5110AD602D6C}" type="pres">
      <dgm:prSet presAssocID="{6C229DF8-1048-4D6E-A121-C04B183FCAA8}" presName="parTxOnly" presStyleLbl="node1" presStyleIdx="5" presStyleCnt="6">
        <dgm:presLayoutVars>
          <dgm:bulletEnabled val="1"/>
        </dgm:presLayoutVars>
      </dgm:prSet>
      <dgm:spPr/>
    </dgm:pt>
  </dgm:ptLst>
  <dgm:cxnLst>
    <dgm:cxn modelId="{EF691E06-B41F-4C63-BCF4-8FD028469DF6}" srcId="{415AFD47-1F5E-48B9-B9BF-51ED27E1B7D9}" destId="{F3A90D68-7563-4EC8-A005-7CD5AAB1B24C}" srcOrd="2" destOrd="0" parTransId="{ED24D9F8-EBAD-401A-9417-D0419F6F767B}" sibTransId="{C6DDBE36-51B4-40C4-82F5-152CE4301702}"/>
    <dgm:cxn modelId="{212A8007-AEC4-498A-BFE1-9E310AC6B58B}" type="presOf" srcId="{126B31D0-8195-4AED-BCDF-DB659D80256C}" destId="{BA319C91-D7EE-48C8-907F-2DD1C787BEB6}" srcOrd="0" destOrd="0" presId="urn:microsoft.com/office/officeart/2005/8/layout/hChevron3"/>
    <dgm:cxn modelId="{6E7FFB08-CFBF-4132-AE99-CA90FAF251D6}" type="presOf" srcId="{415AFD47-1F5E-48B9-B9BF-51ED27E1B7D9}" destId="{797D6D36-1E16-46A5-80BC-EC39AAE879D0}" srcOrd="0" destOrd="0" presId="urn:microsoft.com/office/officeart/2005/8/layout/hChevron3"/>
    <dgm:cxn modelId="{2CE9490E-E7BA-48A8-9912-5A08EBA3F679}" srcId="{415AFD47-1F5E-48B9-B9BF-51ED27E1B7D9}" destId="{126B31D0-8195-4AED-BCDF-DB659D80256C}" srcOrd="1" destOrd="0" parTransId="{4388DC86-A755-4403-8FAC-5FDB76F6CA41}" sibTransId="{5BA85A5E-DFBC-4D08-B2A6-E95A6B260E7A}"/>
    <dgm:cxn modelId="{13811965-F88B-4429-9544-A7917C2EBC84}" srcId="{415AFD47-1F5E-48B9-B9BF-51ED27E1B7D9}" destId="{6ED4F9A9-1834-4FBE-B73C-5E5BB129ACB8}" srcOrd="3" destOrd="0" parTransId="{97DB823D-8309-47F9-AAA6-2A332D3C21E9}" sibTransId="{E9F4DB28-7B97-4410-A9D9-ACB903A22F47}"/>
    <dgm:cxn modelId="{B7C15848-16B5-4F01-99D1-ECEB7C9E3876}" type="presOf" srcId="{6ED4F9A9-1834-4FBE-B73C-5E5BB129ACB8}" destId="{198614F1-AE32-4F89-98BD-5DF329A25F79}" srcOrd="0" destOrd="0" presId="urn:microsoft.com/office/officeart/2005/8/layout/hChevron3"/>
    <dgm:cxn modelId="{0201687E-65B1-47B8-A2EC-547C2EA5DA03}" type="presOf" srcId="{62A42A1C-F22C-4B9A-BB4F-55C5E875360A}" destId="{6CC9EA04-AF7E-4C73-AEA1-8AFCF2DFE770}" srcOrd="0" destOrd="0" presId="urn:microsoft.com/office/officeart/2005/8/layout/hChevron3"/>
    <dgm:cxn modelId="{9BF828A6-F8E2-4DCB-8D27-355F16B82CD8}" type="presOf" srcId="{F3A90D68-7563-4EC8-A005-7CD5AAB1B24C}" destId="{984FABBA-267D-4B95-82D0-BB2ADCC1731A}" srcOrd="0" destOrd="0" presId="urn:microsoft.com/office/officeart/2005/8/layout/hChevron3"/>
    <dgm:cxn modelId="{024148C1-21D7-4796-B484-83040976270E}" type="presOf" srcId="{CCA37E11-399D-4C34-829E-03105B7341CE}" destId="{41BD852B-9173-4A1D-B3D2-960619D082EE}" srcOrd="0" destOrd="0" presId="urn:microsoft.com/office/officeart/2005/8/layout/hChevron3"/>
    <dgm:cxn modelId="{5A0312D0-2AFD-4830-9794-F4BC68B21C8F}" srcId="{415AFD47-1F5E-48B9-B9BF-51ED27E1B7D9}" destId="{62A42A1C-F22C-4B9A-BB4F-55C5E875360A}" srcOrd="0" destOrd="0" parTransId="{2E0BCF60-6300-4E60-9CF8-BE69407F3120}" sibTransId="{66F3E81B-88C1-422E-BBBE-BF9E07F9900F}"/>
    <dgm:cxn modelId="{4CEE3ED0-C73D-484C-898D-2685798B585E}" srcId="{415AFD47-1F5E-48B9-B9BF-51ED27E1B7D9}" destId="{CCA37E11-399D-4C34-829E-03105B7341CE}" srcOrd="4" destOrd="0" parTransId="{34B27EE1-A01A-450A-BBEC-2F7999CA5E1E}" sibTransId="{B5CFC6A7-0944-4814-A1EE-751DB67F8B52}"/>
    <dgm:cxn modelId="{28E35DF3-BCE7-4C8B-93DB-3C62AAD62D73}" type="presOf" srcId="{6C229DF8-1048-4D6E-A121-C04B183FCAA8}" destId="{89307D46-47E0-41DF-BE3E-5110AD602D6C}" srcOrd="0" destOrd="0" presId="urn:microsoft.com/office/officeart/2005/8/layout/hChevron3"/>
    <dgm:cxn modelId="{4E3FFEF4-202F-451B-93A9-468C7EE63B9C}" srcId="{415AFD47-1F5E-48B9-B9BF-51ED27E1B7D9}" destId="{6C229DF8-1048-4D6E-A121-C04B183FCAA8}" srcOrd="5" destOrd="0" parTransId="{A12C47AF-B072-418D-B406-7F8B145A1F46}" sibTransId="{686020CB-F208-49D2-926E-9DE39DAAB363}"/>
    <dgm:cxn modelId="{47BEB2ED-73A4-4AD0-97CD-47B2E80AB1E7}" type="presParOf" srcId="{797D6D36-1E16-46A5-80BC-EC39AAE879D0}" destId="{6CC9EA04-AF7E-4C73-AEA1-8AFCF2DFE770}" srcOrd="0" destOrd="0" presId="urn:microsoft.com/office/officeart/2005/8/layout/hChevron3"/>
    <dgm:cxn modelId="{6A740179-EA94-43B0-906B-9F0B75365962}" type="presParOf" srcId="{797D6D36-1E16-46A5-80BC-EC39AAE879D0}" destId="{01938E11-8E25-4D49-968C-C098510CD1B1}" srcOrd="1" destOrd="0" presId="urn:microsoft.com/office/officeart/2005/8/layout/hChevron3"/>
    <dgm:cxn modelId="{E3AB8C88-D262-44EE-BA77-A47E72BB5782}" type="presParOf" srcId="{797D6D36-1E16-46A5-80BC-EC39AAE879D0}" destId="{BA319C91-D7EE-48C8-907F-2DD1C787BEB6}" srcOrd="2" destOrd="0" presId="urn:microsoft.com/office/officeart/2005/8/layout/hChevron3"/>
    <dgm:cxn modelId="{E466AC16-84B7-49DC-A165-2BD1A9F27D5A}" type="presParOf" srcId="{797D6D36-1E16-46A5-80BC-EC39AAE879D0}" destId="{B9DC481E-1581-44F4-9F4E-5CC9FE2417DF}" srcOrd="3" destOrd="0" presId="urn:microsoft.com/office/officeart/2005/8/layout/hChevron3"/>
    <dgm:cxn modelId="{DA14BBDF-AEE8-4215-8604-89119631A410}" type="presParOf" srcId="{797D6D36-1E16-46A5-80BC-EC39AAE879D0}" destId="{984FABBA-267D-4B95-82D0-BB2ADCC1731A}" srcOrd="4" destOrd="0" presId="urn:microsoft.com/office/officeart/2005/8/layout/hChevron3"/>
    <dgm:cxn modelId="{16A311A1-D1E0-47D4-BFE0-F878F45FDF04}" type="presParOf" srcId="{797D6D36-1E16-46A5-80BC-EC39AAE879D0}" destId="{E94E5027-32D3-490F-81FB-DE46C4589840}" srcOrd="5" destOrd="0" presId="urn:microsoft.com/office/officeart/2005/8/layout/hChevron3"/>
    <dgm:cxn modelId="{BB2573CA-8365-4DEC-B759-C8D034C79189}" type="presParOf" srcId="{797D6D36-1E16-46A5-80BC-EC39AAE879D0}" destId="{198614F1-AE32-4F89-98BD-5DF329A25F79}" srcOrd="6" destOrd="0" presId="urn:microsoft.com/office/officeart/2005/8/layout/hChevron3"/>
    <dgm:cxn modelId="{63BBE859-0DE8-4343-ADCA-89B96C30408D}" type="presParOf" srcId="{797D6D36-1E16-46A5-80BC-EC39AAE879D0}" destId="{3D625086-971A-4571-96BB-CE11FBF7908D}" srcOrd="7" destOrd="0" presId="urn:microsoft.com/office/officeart/2005/8/layout/hChevron3"/>
    <dgm:cxn modelId="{E98BF114-459E-4168-A12D-43DE846A9536}" type="presParOf" srcId="{797D6D36-1E16-46A5-80BC-EC39AAE879D0}" destId="{41BD852B-9173-4A1D-B3D2-960619D082EE}" srcOrd="8" destOrd="0" presId="urn:microsoft.com/office/officeart/2005/8/layout/hChevron3"/>
    <dgm:cxn modelId="{06CB7448-95F4-414F-83D2-DCCDF22CFE1F}" type="presParOf" srcId="{797D6D36-1E16-46A5-80BC-EC39AAE879D0}" destId="{C63C9F3F-801A-4D35-92F8-B31E324806DC}" srcOrd="9" destOrd="0" presId="urn:microsoft.com/office/officeart/2005/8/layout/hChevron3"/>
    <dgm:cxn modelId="{EC2D6803-62E6-4259-9E70-758B3335444E}" type="presParOf" srcId="{797D6D36-1E16-46A5-80BC-EC39AAE879D0}" destId="{89307D46-47E0-41DF-BE3E-5110AD602D6C}" srcOrd="10"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07465-1F07-45B4-9C54-E2FCC760B2FC}">
      <dsp:nvSpPr>
        <dsp:cNvPr id="0" name=""/>
        <dsp:cNvSpPr/>
      </dsp:nvSpPr>
      <dsp:spPr>
        <a:xfrm>
          <a:off x="4468" y="398457"/>
          <a:ext cx="1953885" cy="1172331"/>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SG" sz="1600" b="1" kern="1200">
              <a:latin typeface="Arial" panose="020B0604020202020204" pitchFamily="34" charset="0"/>
              <a:cs typeface="Arial" panose="020B0604020202020204" pitchFamily="34" charset="0"/>
            </a:rPr>
            <a:t>Data</a:t>
          </a:r>
        </a:p>
        <a:p>
          <a:pPr marL="0" lvl="0" indent="0" algn="ctr" defTabSz="711200">
            <a:lnSpc>
              <a:spcPct val="90000"/>
            </a:lnSpc>
            <a:spcBef>
              <a:spcPct val="0"/>
            </a:spcBef>
            <a:spcAft>
              <a:spcPct val="35000"/>
            </a:spcAft>
            <a:buNone/>
          </a:pPr>
          <a:r>
            <a:rPr lang="en-SG" sz="1200" i="1" kern="1200">
              <a:latin typeface="Arial" panose="020B0604020202020204" pitchFamily="34" charset="0"/>
              <a:cs typeface="Arial" panose="020B0604020202020204" pitchFamily="34" charset="0"/>
            </a:rPr>
            <a:t>Flight sensor recordings + maintenance logs </a:t>
          </a:r>
        </a:p>
      </dsp:txBody>
      <dsp:txXfrm>
        <a:off x="38804" y="432793"/>
        <a:ext cx="1885213" cy="1103659"/>
      </dsp:txXfrm>
    </dsp:sp>
    <dsp:sp modelId="{94827EB2-8F13-4F9D-BA05-CA867632FD0D}">
      <dsp:nvSpPr>
        <dsp:cNvPr id="0" name=""/>
        <dsp:cNvSpPr/>
      </dsp:nvSpPr>
      <dsp:spPr>
        <a:xfrm>
          <a:off x="2153743" y="742341"/>
          <a:ext cx="414223" cy="484563"/>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SG" sz="1600" kern="1200">
            <a:latin typeface="Arial" panose="020B0604020202020204" pitchFamily="34" charset="0"/>
            <a:cs typeface="Arial" panose="020B0604020202020204" pitchFamily="34" charset="0"/>
          </a:endParaRPr>
        </a:p>
      </dsp:txBody>
      <dsp:txXfrm>
        <a:off x="2153743" y="839254"/>
        <a:ext cx="289956" cy="290737"/>
      </dsp:txXfrm>
    </dsp:sp>
    <dsp:sp modelId="{931571FC-3C8D-499A-9FCD-CCE93E340E44}">
      <dsp:nvSpPr>
        <dsp:cNvPr id="0" name=""/>
        <dsp:cNvSpPr/>
      </dsp:nvSpPr>
      <dsp:spPr>
        <a:xfrm>
          <a:off x="2739909" y="398457"/>
          <a:ext cx="1953885" cy="1172331"/>
        </a:xfrm>
        <a:prstGeom prst="roundRect">
          <a:avLst>
            <a:gd name="adj" fmla="val 10000"/>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SG" sz="1600" b="1" kern="1200">
              <a:latin typeface="Arial" panose="020B0604020202020204" pitchFamily="34" charset="0"/>
              <a:cs typeface="Arial" panose="020B0604020202020204" pitchFamily="34" charset="0"/>
            </a:rPr>
            <a:t>ML Model </a:t>
          </a:r>
        </a:p>
        <a:p>
          <a:pPr marL="0" lvl="0" indent="0" algn="ctr" defTabSz="711200">
            <a:lnSpc>
              <a:spcPct val="90000"/>
            </a:lnSpc>
            <a:spcBef>
              <a:spcPct val="0"/>
            </a:spcBef>
            <a:spcAft>
              <a:spcPct val="35000"/>
            </a:spcAft>
            <a:buNone/>
          </a:pPr>
          <a:r>
            <a:rPr lang="en-SG" sz="1200" i="1" kern="1200">
              <a:latin typeface="Arial" panose="020B0604020202020204" pitchFamily="34" charset="0"/>
              <a:cs typeface="Arial" panose="020B0604020202020204" pitchFamily="34" charset="0"/>
            </a:rPr>
            <a:t>Predict maintenance risk</a:t>
          </a:r>
        </a:p>
      </dsp:txBody>
      <dsp:txXfrm>
        <a:off x="2774245" y="432793"/>
        <a:ext cx="1885213" cy="1103659"/>
      </dsp:txXfrm>
    </dsp:sp>
    <dsp:sp modelId="{55C62E99-06AC-4C56-ABF9-399C48F90C87}">
      <dsp:nvSpPr>
        <dsp:cNvPr id="0" name=""/>
        <dsp:cNvSpPr/>
      </dsp:nvSpPr>
      <dsp:spPr>
        <a:xfrm>
          <a:off x="4889183" y="742341"/>
          <a:ext cx="414223" cy="484563"/>
        </a:xfrm>
        <a:prstGeom prst="rightArrow">
          <a:avLst>
            <a:gd name="adj1" fmla="val 60000"/>
            <a:gd name="adj2" fmla="val 5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SG" sz="1600" kern="1200">
            <a:latin typeface="Arial" panose="020B0604020202020204" pitchFamily="34" charset="0"/>
            <a:cs typeface="Arial" panose="020B0604020202020204" pitchFamily="34" charset="0"/>
          </a:endParaRPr>
        </a:p>
      </dsp:txBody>
      <dsp:txXfrm>
        <a:off x="4889183" y="839254"/>
        <a:ext cx="289956" cy="290737"/>
      </dsp:txXfrm>
    </dsp:sp>
    <dsp:sp modelId="{A0C6DF0E-5C44-41EF-9C68-6D1FB8A7701C}">
      <dsp:nvSpPr>
        <dsp:cNvPr id="0" name=""/>
        <dsp:cNvSpPr/>
      </dsp:nvSpPr>
      <dsp:spPr>
        <a:xfrm>
          <a:off x="5475349" y="398457"/>
          <a:ext cx="1953885" cy="1172331"/>
        </a:xfrm>
        <a:prstGeom prst="roundRect">
          <a:avLst>
            <a:gd name="adj" fmla="val 10000"/>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SG" sz="1600" b="1" kern="1200">
              <a:latin typeface="Arial" panose="020B0604020202020204" pitchFamily="34" charset="0"/>
              <a:cs typeface="Arial" panose="020B0604020202020204" pitchFamily="34" charset="0"/>
            </a:rPr>
            <a:t>Deployment</a:t>
          </a:r>
        </a:p>
        <a:p>
          <a:pPr marL="0" lvl="0" indent="0" algn="ctr" defTabSz="711200">
            <a:lnSpc>
              <a:spcPct val="90000"/>
            </a:lnSpc>
            <a:spcBef>
              <a:spcPct val="0"/>
            </a:spcBef>
            <a:spcAft>
              <a:spcPct val="35000"/>
            </a:spcAft>
            <a:buNone/>
          </a:pPr>
          <a:r>
            <a:rPr lang="en-SG" sz="1200" i="1" kern="1200">
              <a:latin typeface="Arial" panose="020B0604020202020204" pitchFamily="34" charset="0"/>
              <a:cs typeface="Arial" panose="020B0604020202020204" pitchFamily="34" charset="0"/>
            </a:rPr>
            <a:t>Risk flags integrated into maintenance planning</a:t>
          </a:r>
        </a:p>
      </dsp:txBody>
      <dsp:txXfrm>
        <a:off x="5509685" y="432793"/>
        <a:ext cx="1885213" cy="1103659"/>
      </dsp:txXfrm>
    </dsp:sp>
    <dsp:sp modelId="{2B71BBA0-A609-4C74-9D85-BE6030DBD000}">
      <dsp:nvSpPr>
        <dsp:cNvPr id="0" name=""/>
        <dsp:cNvSpPr/>
      </dsp:nvSpPr>
      <dsp:spPr>
        <a:xfrm>
          <a:off x="7624623" y="742341"/>
          <a:ext cx="414223" cy="484563"/>
        </a:xfrm>
        <a:prstGeom prst="rightArrow">
          <a:avLst>
            <a:gd name="adj1" fmla="val 60000"/>
            <a:gd name="adj2" fmla="val 5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SG" sz="2000" kern="1200"/>
        </a:p>
      </dsp:txBody>
      <dsp:txXfrm>
        <a:off x="7624623" y="839254"/>
        <a:ext cx="289956" cy="290737"/>
      </dsp:txXfrm>
    </dsp:sp>
    <dsp:sp modelId="{10B2F027-B00A-4C5A-A61C-42DB42C72555}">
      <dsp:nvSpPr>
        <dsp:cNvPr id="0" name=""/>
        <dsp:cNvSpPr/>
      </dsp:nvSpPr>
      <dsp:spPr>
        <a:xfrm>
          <a:off x="8210789" y="398457"/>
          <a:ext cx="1953885" cy="1172331"/>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SG" sz="1600" b="1" kern="1200">
              <a:latin typeface="Arial" panose="020B0604020202020204" pitchFamily="34" charset="0"/>
              <a:cs typeface="Arial" panose="020B0604020202020204" pitchFamily="34" charset="0"/>
            </a:rPr>
            <a:t>Decision Making</a:t>
          </a:r>
        </a:p>
        <a:p>
          <a:pPr marL="0" lvl="0" indent="0" algn="ctr" defTabSz="711200">
            <a:lnSpc>
              <a:spcPct val="90000"/>
            </a:lnSpc>
            <a:spcBef>
              <a:spcPct val="0"/>
            </a:spcBef>
            <a:spcAft>
              <a:spcPct val="35000"/>
            </a:spcAft>
            <a:buNone/>
          </a:pPr>
          <a:r>
            <a:rPr lang="en-SG" sz="1200" i="1" kern="1200">
              <a:latin typeface="Arial" panose="020B0604020202020204" pitchFamily="34" charset="0"/>
              <a:cs typeface="Arial" panose="020B0604020202020204" pitchFamily="34" charset="0"/>
            </a:rPr>
            <a:t>Planners inspect, stage parts, schedule </a:t>
          </a:r>
        </a:p>
      </dsp:txBody>
      <dsp:txXfrm>
        <a:off x="8245125" y="432793"/>
        <a:ext cx="1885213" cy="11036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9EA04-AF7E-4C73-AEA1-8AFCF2DFE770}">
      <dsp:nvSpPr>
        <dsp:cNvPr id="0" name=""/>
        <dsp:cNvSpPr/>
      </dsp:nvSpPr>
      <dsp:spPr>
        <a:xfrm>
          <a:off x="1329" y="0"/>
          <a:ext cx="2177474" cy="691652"/>
        </a:xfrm>
        <a:prstGeom prst="homePlate">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Input Time Series</a:t>
          </a:r>
          <a:endParaRPr lang="en-SG" sz="1600" kern="1200">
            <a:latin typeface="Arial" panose="020B0604020202020204" pitchFamily="34" charset="0"/>
            <a:cs typeface="Arial" panose="020B0604020202020204" pitchFamily="34" charset="0"/>
          </a:endParaRPr>
        </a:p>
      </dsp:txBody>
      <dsp:txXfrm>
        <a:off x="1329" y="0"/>
        <a:ext cx="2004561" cy="691652"/>
      </dsp:txXfrm>
    </dsp:sp>
    <dsp:sp modelId="{BA319C91-D7EE-48C8-907F-2DD1C787BEB6}">
      <dsp:nvSpPr>
        <dsp:cNvPr id="0" name=""/>
        <dsp:cNvSpPr/>
      </dsp:nvSpPr>
      <dsp:spPr>
        <a:xfrm>
          <a:off x="1743308" y="0"/>
          <a:ext cx="2177474" cy="691652"/>
        </a:xfrm>
        <a:prstGeom prst="chevron">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Convolution</a:t>
          </a:r>
          <a:endParaRPr lang="en-SG" sz="1600" kern="1200">
            <a:latin typeface="Arial" panose="020B0604020202020204" pitchFamily="34" charset="0"/>
            <a:cs typeface="Arial" panose="020B0604020202020204" pitchFamily="34" charset="0"/>
          </a:endParaRPr>
        </a:p>
      </dsp:txBody>
      <dsp:txXfrm>
        <a:off x="2089134" y="0"/>
        <a:ext cx="1485822" cy="691652"/>
      </dsp:txXfrm>
    </dsp:sp>
    <dsp:sp modelId="{984FABBA-267D-4B95-82D0-BB2ADCC1731A}">
      <dsp:nvSpPr>
        <dsp:cNvPr id="0" name=""/>
        <dsp:cNvSpPr/>
      </dsp:nvSpPr>
      <dsp:spPr>
        <a:xfrm>
          <a:off x="3485287" y="0"/>
          <a:ext cx="2177474" cy="691652"/>
        </a:xfrm>
        <a:prstGeom prst="chevron">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Feature Map</a:t>
          </a:r>
          <a:endParaRPr lang="en-SG" sz="1600" kern="1200">
            <a:latin typeface="Arial" panose="020B0604020202020204" pitchFamily="34" charset="0"/>
            <a:cs typeface="Arial" panose="020B0604020202020204" pitchFamily="34" charset="0"/>
          </a:endParaRPr>
        </a:p>
      </dsp:txBody>
      <dsp:txXfrm>
        <a:off x="3831113" y="0"/>
        <a:ext cx="1485822" cy="691652"/>
      </dsp:txXfrm>
    </dsp:sp>
    <dsp:sp modelId="{198614F1-AE32-4F89-98BD-5DF329A25F79}">
      <dsp:nvSpPr>
        <dsp:cNvPr id="0" name=""/>
        <dsp:cNvSpPr/>
      </dsp:nvSpPr>
      <dsp:spPr>
        <a:xfrm>
          <a:off x="5227267" y="0"/>
          <a:ext cx="2177474" cy="691652"/>
        </a:xfrm>
        <a:prstGeom prst="chevron">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PPV </a:t>
          </a:r>
          <a:r>
            <a:rPr lang="en-SG" sz="1600" kern="1200">
              <a:latin typeface="Arial" panose="020B0604020202020204" pitchFamily="34" charset="0"/>
              <a:cs typeface="Arial" panose="020B0604020202020204" pitchFamily="34" charset="0"/>
            </a:rPr>
            <a:t>Pooling</a:t>
          </a:r>
        </a:p>
      </dsp:txBody>
      <dsp:txXfrm>
        <a:off x="5573093" y="0"/>
        <a:ext cx="1485822" cy="691652"/>
      </dsp:txXfrm>
    </dsp:sp>
    <dsp:sp modelId="{41BD852B-9173-4A1D-B3D2-960619D082EE}">
      <dsp:nvSpPr>
        <dsp:cNvPr id="0" name=""/>
        <dsp:cNvSpPr/>
      </dsp:nvSpPr>
      <dsp:spPr>
        <a:xfrm>
          <a:off x="6969246" y="0"/>
          <a:ext cx="2177474" cy="691652"/>
        </a:xfrm>
        <a:prstGeom prst="chevron">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Feature Vector</a:t>
          </a:r>
          <a:endParaRPr lang="en-SG" sz="1600" kern="1200">
            <a:latin typeface="Arial" panose="020B0604020202020204" pitchFamily="34" charset="0"/>
            <a:cs typeface="Arial" panose="020B0604020202020204" pitchFamily="34" charset="0"/>
          </a:endParaRPr>
        </a:p>
      </dsp:txBody>
      <dsp:txXfrm>
        <a:off x="7315072" y="0"/>
        <a:ext cx="1485822" cy="691652"/>
      </dsp:txXfrm>
    </dsp:sp>
    <dsp:sp modelId="{89307D46-47E0-41DF-BE3E-5110AD602D6C}">
      <dsp:nvSpPr>
        <dsp:cNvPr id="0" name=""/>
        <dsp:cNvSpPr/>
      </dsp:nvSpPr>
      <dsp:spPr>
        <a:xfrm>
          <a:off x="8711225" y="0"/>
          <a:ext cx="2177474" cy="691652"/>
        </a:xfrm>
        <a:prstGeom prst="chevron">
          <a:avLst/>
        </a:prstGeom>
        <a:solidFill>
          <a:schemeClr val="accent6">
            <a:lumMod val="20000"/>
            <a:lumOff val="80000"/>
          </a:schemeClr>
        </a:solidFill>
        <a:ln w="12700" cap="flat" cmpd="sng" algn="ctr">
          <a:solidFill>
            <a:schemeClr val="accent3"/>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Linear Classifier</a:t>
          </a:r>
          <a:endParaRPr lang="en-SG" sz="1600" kern="1200">
            <a:latin typeface="Arial" panose="020B0604020202020204" pitchFamily="34" charset="0"/>
            <a:cs typeface="Arial" panose="020B0604020202020204" pitchFamily="34" charset="0"/>
          </a:endParaRPr>
        </a:p>
      </dsp:txBody>
      <dsp:txXfrm>
        <a:off x="9057051" y="0"/>
        <a:ext cx="1485822" cy="6916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B1724-A9D7-4FB9-921F-8ECD54704579}" type="datetimeFigureOut">
              <a:rPr lang="en-SG" smtClean="0"/>
              <a:t>24/6/2026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55404-C75A-4CCD-ACB3-A2D70581B9DC}" type="slidenum">
              <a:rPr lang="en-SG" smtClean="0"/>
              <a:t>‹#›</a:t>
            </a:fld>
            <a:endParaRPr lang="en-SG"/>
          </a:p>
        </p:txBody>
      </p:sp>
    </p:spTree>
    <p:extLst>
      <p:ext uri="{BB962C8B-B14F-4D97-AF65-F5344CB8AC3E}">
        <p14:creationId xmlns:p14="http://schemas.microsoft.com/office/powerpoint/2010/main" val="2359348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See Lin</a:t>
            </a:r>
          </a:p>
        </p:txBody>
      </p:sp>
      <p:sp>
        <p:nvSpPr>
          <p:cNvPr id="4" name="Slide Number Placeholder 3"/>
          <p:cNvSpPr>
            <a:spLocks noGrp="1"/>
          </p:cNvSpPr>
          <p:nvPr>
            <p:ph type="sldNum" sz="quarter" idx="5"/>
          </p:nvPr>
        </p:nvSpPr>
        <p:spPr/>
        <p:txBody>
          <a:bodyPr/>
          <a:lstStyle/>
          <a:p>
            <a:fld id="{0FE55404-C75A-4CCD-ACB3-A2D70581B9DC}" type="slidenum">
              <a:rPr lang="en-SG" smtClean="0"/>
              <a:t>1</a:t>
            </a:fld>
            <a:endParaRPr lang="en-SG"/>
          </a:p>
        </p:txBody>
      </p:sp>
    </p:spTree>
    <p:extLst>
      <p:ext uri="{BB962C8B-B14F-4D97-AF65-F5344CB8AC3E}">
        <p14:creationId xmlns:p14="http://schemas.microsoft.com/office/powerpoint/2010/main" val="2421317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Aircraft on ground (AOG) is used to describe that an aircraft is unworthy of flight. Maintenance is typically the main cause for grounding of an aircraft, from which it can be split into two sections.</a:t>
            </a:r>
          </a:p>
          <a:p>
            <a:pPr marL="228600" indent="-228600">
              <a:buFont typeface="+mj-lt"/>
              <a:buAutoNum type="arabicPeriod"/>
            </a:pPr>
            <a:r>
              <a:rPr lang="en-SG"/>
              <a:t>Scheduled maintenance is when planned preventive maintenance is schedule to be carried out typically the replacement of consumables, or spare parts.</a:t>
            </a:r>
          </a:p>
          <a:p>
            <a:pPr marL="228600" indent="-228600">
              <a:buFont typeface="+mj-lt"/>
              <a:buAutoNum type="arabicPeriod"/>
            </a:pPr>
            <a:r>
              <a:rPr lang="en-SG"/>
              <a:t>Unscheduled maintenance is when components fail unexpectedly, and requires replacement or repair.</a:t>
            </a:r>
          </a:p>
          <a:p>
            <a:pPr marL="228600" indent="-228600">
              <a:buFont typeface="+mj-lt"/>
              <a:buAutoNum type="arabicPeriod"/>
            </a:pPr>
            <a:endParaRPr lang="en-SG"/>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SG"/>
              <a:t>Predictive maintenance attempts to solve this by </a:t>
            </a:r>
            <a:r>
              <a:rPr lang="en-SG" b="1"/>
              <a:t>SURPRISE</a:t>
            </a:r>
            <a:r>
              <a:rPr lang="en-SG"/>
              <a:t>, predicting when maintenance is required, and preparing the required spare parts, as well as scheduling a maintenance check to prevent any unforeseen events. This can range from a Just-In-Time supply chain, to targeted maintenance routine, so as to reduce escapes.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SG"/>
              <a:t>The study utilizes flight sensor data, pass it through various ML models, flags out potential maintenance requirements, and finally provide insights for key stakeholders to make decisions in order to minimize AOG situations.</a:t>
            </a:r>
          </a:p>
          <a:p>
            <a:pPr marL="0" indent="0">
              <a:buFont typeface="+mj-lt"/>
              <a:buNone/>
            </a:pPr>
            <a:endParaRPr lang="en-SG"/>
          </a:p>
          <a:p>
            <a:pPr marL="0" indent="0">
              <a:buFont typeface="+mj-lt"/>
              <a:buNone/>
            </a:pPr>
            <a:r>
              <a:rPr lang="en-SG"/>
              <a:t>--------</a:t>
            </a:r>
          </a:p>
          <a:p>
            <a:pPr marL="0" indent="0">
              <a:buFont typeface="+mj-lt"/>
              <a:buNone/>
            </a:pPr>
            <a:endParaRPr lang="en-SG"/>
          </a:p>
          <a:p>
            <a:pPr marL="0" indent="0">
              <a:buFont typeface="+mj-lt"/>
              <a:buNone/>
            </a:pPr>
            <a:r>
              <a:rPr lang="en-SG"/>
              <a:t>Unscheduled maintenance can be costly both financially and operationally. If the issue is not resolved, such as spare parts are not available, the aircraft may be grounded indefinitely. There is also a risk of both lives and property when required maintenance is not carried out.</a:t>
            </a:r>
          </a:p>
          <a:p>
            <a:pPr marL="0" indent="0">
              <a:buFont typeface="+mj-lt"/>
              <a:buNone/>
            </a:pPr>
            <a:r>
              <a:rPr lang="en-SG"/>
              <a:t>Predictive maintenance attempts to solve this by surprise, predicting when maintenance is required, and preparing the required spare parts, as well as scheduling a maintenance check to prevent any unforeseen events. This can range from a Just-In-Time supply chain, to targeted maintenance routine, so as to reduce escapes.</a:t>
            </a:r>
          </a:p>
          <a:p>
            <a:pPr marL="0" indent="0">
              <a:buFont typeface="+mj-lt"/>
              <a:buNone/>
            </a:pPr>
            <a:endParaRPr lang="en-SG"/>
          </a:p>
          <a:p>
            <a:pPr marL="0" indent="0">
              <a:buFont typeface="+mj-lt"/>
              <a:buNone/>
            </a:pPr>
            <a:r>
              <a:rPr lang="en-SG"/>
              <a:t>The study utilizes flight sensor data, pass it through various ML models, flags out potential maintenance requirements, and finally provide insights for key stakeholders to make decisions in order to minimize AOG situations.</a:t>
            </a:r>
          </a:p>
          <a:p>
            <a:pPr marL="0" indent="0">
              <a:buFont typeface="+mj-lt"/>
              <a:buNone/>
            </a:pPr>
            <a:endParaRPr lang="en-SG"/>
          </a:p>
          <a:p>
            <a:pPr marL="0" indent="0">
              <a:buFont typeface="+mj-lt"/>
              <a:buNone/>
            </a:pPr>
            <a:r>
              <a:rPr lang="en-SG"/>
              <a:t>The plane for evaluation will be the Cessna 172, which is a single engine fixed wing aircraft, which will be used to test the viability of this approach.</a:t>
            </a:r>
          </a:p>
          <a:p>
            <a:pPr marL="0" indent="0">
              <a:buFont typeface="+mj-lt"/>
              <a:buNone/>
            </a:pPr>
            <a:endParaRPr lang="en-SG"/>
          </a:p>
          <a:p>
            <a:pPr marL="0" indent="0">
              <a:buFont typeface="+mj-lt"/>
              <a:buNone/>
            </a:pPr>
            <a:endParaRPr lang="en-SG"/>
          </a:p>
        </p:txBody>
      </p:sp>
      <p:sp>
        <p:nvSpPr>
          <p:cNvPr id="4" name="Slide Number Placeholder 3"/>
          <p:cNvSpPr>
            <a:spLocks noGrp="1"/>
          </p:cNvSpPr>
          <p:nvPr>
            <p:ph type="sldNum" sz="quarter" idx="5"/>
          </p:nvPr>
        </p:nvSpPr>
        <p:spPr/>
        <p:txBody>
          <a:bodyPr/>
          <a:lstStyle/>
          <a:p>
            <a:fld id="{0FE55404-C75A-4CCD-ACB3-A2D70581B9DC}" type="slidenum">
              <a:rPr lang="en-SG" smtClean="0"/>
              <a:t>2</a:t>
            </a:fld>
            <a:endParaRPr lang="en-SG"/>
          </a:p>
        </p:txBody>
      </p:sp>
    </p:spTree>
    <p:extLst>
      <p:ext uri="{BB962C8B-B14F-4D97-AF65-F5344CB8AC3E}">
        <p14:creationId xmlns:p14="http://schemas.microsoft.com/office/powerpoint/2010/main" val="129680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We can now look into the dataset, which uses flight records from the National General Aviation Flight Information Database in the US. It logs unplanned maintenance logs from a Cessna 172 aircraft. </a:t>
            </a:r>
          </a:p>
          <a:p>
            <a:r>
              <a:rPr lang="en-SG"/>
              <a:t>The total dataset consist of ~29k flights, with a median timestep of ~4400 per flight forming a multivariate time series for each flight.</a:t>
            </a:r>
          </a:p>
          <a:p>
            <a:r>
              <a:rPr lang="en-SG"/>
              <a:t>In total, we have more than 100million lines of sensor data recording consolidated into 2 data sources:</a:t>
            </a:r>
          </a:p>
          <a:p>
            <a:pPr marL="228600" indent="-228600">
              <a:buFont typeface="+mj-lt"/>
              <a:buAutoNum type="arabicPeriod"/>
            </a:pPr>
            <a:r>
              <a:rPr lang="en-SG"/>
              <a:t>Time series of sensor data for each flight index</a:t>
            </a:r>
          </a:p>
          <a:p>
            <a:pPr marL="228600" indent="-228600">
              <a:buFont typeface="+mj-lt"/>
              <a:buAutoNum type="arabicPeriod"/>
            </a:pPr>
            <a:r>
              <a:rPr lang="en-SG"/>
              <a:t>Flight meta data for each flight index.</a:t>
            </a:r>
          </a:p>
        </p:txBody>
      </p:sp>
      <p:sp>
        <p:nvSpPr>
          <p:cNvPr id="4" name="Slide Number Placeholder 3"/>
          <p:cNvSpPr>
            <a:spLocks noGrp="1"/>
          </p:cNvSpPr>
          <p:nvPr>
            <p:ph type="sldNum" sz="quarter" idx="5"/>
          </p:nvPr>
        </p:nvSpPr>
        <p:spPr/>
        <p:txBody>
          <a:bodyPr/>
          <a:lstStyle/>
          <a:p>
            <a:fld id="{0FE55404-C75A-4CCD-ACB3-A2D70581B9DC}" type="slidenum">
              <a:rPr lang="en-SG" smtClean="0"/>
              <a:t>3</a:t>
            </a:fld>
            <a:endParaRPr lang="en-SG"/>
          </a:p>
        </p:txBody>
      </p:sp>
    </p:spTree>
    <p:extLst>
      <p:ext uri="{BB962C8B-B14F-4D97-AF65-F5344CB8AC3E}">
        <p14:creationId xmlns:p14="http://schemas.microsoft.com/office/powerpoint/2010/main" val="2262195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2C3C-6071-A86A-8DE2-392158440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9EF1F-6A48-7F68-5FFC-CE83C4ECA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F96-1211-463D-28FA-9B9EDF7EFA5C}"/>
              </a:ext>
            </a:extLst>
          </p:cNvPr>
          <p:cNvSpPr>
            <a:spLocks noGrp="1"/>
          </p:cNvSpPr>
          <p:nvPr>
            <p:ph type="body" idx="1"/>
          </p:nvPr>
        </p:nvSpPr>
        <p:spPr/>
        <p:txBody>
          <a:bodyPr/>
          <a:lstStyle/>
          <a:p>
            <a:r>
              <a:rPr lang="en-SG"/>
              <a:t>The time series of sensor data consist of fields such as:</a:t>
            </a:r>
          </a:p>
          <a:p>
            <a:pPr marL="0" indent="0">
              <a:buFont typeface="+mj-lt"/>
              <a:buNone/>
            </a:pPr>
            <a:r>
              <a:rPr lang="en-SG"/>
              <a:t>Engine monitoring and performance</a:t>
            </a:r>
          </a:p>
          <a:p>
            <a:pPr marL="228600" indent="-228600">
              <a:buFont typeface="+mj-lt"/>
              <a:buAutoNum type="arabicPeriod"/>
            </a:pPr>
            <a:r>
              <a:rPr lang="en-SG"/>
              <a:t>electrical system voltage, </a:t>
            </a:r>
          </a:p>
          <a:p>
            <a:pPr marL="228600" indent="-228600">
              <a:buFont typeface="+mj-lt"/>
              <a:buAutoNum type="arabicPeriod"/>
            </a:pPr>
            <a:r>
              <a:rPr lang="en-SG"/>
              <a:t>current draw, </a:t>
            </a:r>
          </a:p>
          <a:p>
            <a:pPr marL="228600" indent="-228600">
              <a:buFont typeface="+mj-lt"/>
              <a:buAutoNum type="arabicPeriod"/>
            </a:pPr>
            <a:r>
              <a:rPr lang="en-SG"/>
              <a:t>Fuel level</a:t>
            </a:r>
          </a:p>
          <a:p>
            <a:pPr marL="228600" indent="-228600">
              <a:buFont typeface="+mj-lt"/>
              <a:buAutoNum type="arabicPeriod"/>
            </a:pPr>
            <a:r>
              <a:rPr lang="en-SG"/>
              <a:t>Oil temperature</a:t>
            </a:r>
          </a:p>
          <a:p>
            <a:pPr marL="228600" indent="-228600">
              <a:buFont typeface="+mj-lt"/>
              <a:buAutoNum type="arabicPeriod"/>
            </a:pPr>
            <a:r>
              <a:rPr lang="en-SG"/>
              <a:t>RPM, etc.</a:t>
            </a:r>
          </a:p>
          <a:p>
            <a:pPr marL="228600" indent="-228600">
              <a:buFont typeface="+mj-lt"/>
              <a:buAutoNum type="arabicPeriod"/>
            </a:pPr>
            <a:r>
              <a:rPr lang="en-SG"/>
              <a:t>And various temperature sensors around from cylinder head, exhaust gas.</a:t>
            </a:r>
          </a:p>
          <a:p>
            <a:pPr marL="0" indent="0">
              <a:buFont typeface="+mj-lt"/>
              <a:buNone/>
            </a:pPr>
            <a:r>
              <a:rPr lang="en-SG"/>
              <a:t>It also includes environment variables such as:</a:t>
            </a:r>
          </a:p>
          <a:p>
            <a:pPr marL="228600" indent="-228600">
              <a:buFont typeface="+mj-lt"/>
              <a:buAutoNum type="arabicPeriod"/>
            </a:pPr>
            <a:r>
              <a:rPr lang="en-SG"/>
              <a:t>Outside temperature</a:t>
            </a:r>
          </a:p>
          <a:p>
            <a:pPr marL="228600" indent="-228600">
              <a:buFont typeface="+mj-lt"/>
              <a:buAutoNum type="arabicPeriod"/>
            </a:pPr>
            <a:r>
              <a:rPr lang="en-SG"/>
              <a:t>Air speed</a:t>
            </a:r>
          </a:p>
          <a:p>
            <a:pPr marL="0" indent="0">
              <a:buFont typeface="+mj-lt"/>
              <a:buNone/>
            </a:pPr>
            <a:r>
              <a:rPr lang="en-SG"/>
              <a:t>And finally flight details:</a:t>
            </a:r>
          </a:p>
          <a:p>
            <a:pPr marL="228600" indent="-228600">
              <a:buFont typeface="+mj-lt"/>
              <a:buAutoNum type="arabicPeriod"/>
            </a:pPr>
            <a:r>
              <a:rPr lang="en-SG"/>
              <a:t>Vertical speed, acceleration, as well as altitude.</a:t>
            </a:r>
          </a:p>
          <a:p>
            <a:pPr marL="228600" indent="-228600">
              <a:buFont typeface="+mj-lt"/>
              <a:buAutoNum type="arabicPeriod"/>
            </a:pPr>
            <a:endParaRPr lang="en-SG"/>
          </a:p>
          <a:p>
            <a:pPr marL="0" indent="0">
              <a:buFont typeface="+mj-lt"/>
              <a:buNone/>
            </a:pPr>
            <a:r>
              <a:rPr lang="en-SG"/>
              <a:t>The flight metadata includes:</a:t>
            </a:r>
          </a:p>
          <a:p>
            <a:pPr marL="228600" indent="-228600">
              <a:buFont typeface="+mj-lt"/>
              <a:buAutoNum type="arabicPeriod"/>
            </a:pPr>
            <a:r>
              <a:rPr lang="en-SG"/>
              <a:t>Record type before or after maintenance</a:t>
            </a:r>
          </a:p>
          <a:p>
            <a:pPr marL="228600" indent="-228600">
              <a:buFont typeface="+mj-lt"/>
              <a:buAutoNum type="arabicPeriod"/>
            </a:pPr>
            <a:r>
              <a:rPr lang="en-SG"/>
              <a:t>Number of days</a:t>
            </a:r>
          </a:p>
          <a:p>
            <a:pPr marL="228600" indent="-228600">
              <a:buFont typeface="+mj-lt"/>
              <a:buAutoNum type="arabicPeriod"/>
            </a:pPr>
            <a:r>
              <a:rPr lang="en-SG"/>
              <a:t>Flight length</a:t>
            </a:r>
          </a:p>
          <a:p>
            <a:pPr marL="228600" indent="-228600">
              <a:buFont typeface="+mj-lt"/>
              <a:buAutoNum type="arabicPeriod"/>
            </a:pPr>
            <a:r>
              <a:rPr lang="en-SG"/>
              <a:t>Type of maintenance</a:t>
            </a:r>
          </a:p>
          <a:p>
            <a:pPr marL="228600" indent="-228600">
              <a:buFont typeface="+mj-lt"/>
              <a:buAutoNum type="arabicPeriod"/>
            </a:pPr>
            <a:r>
              <a:rPr lang="en-SG"/>
              <a:t>Class of maintenance</a:t>
            </a:r>
          </a:p>
          <a:p>
            <a:pPr marL="228600" indent="-228600">
              <a:buFont typeface="+mj-lt"/>
              <a:buAutoNum type="arabicPeriod"/>
            </a:pPr>
            <a:endParaRPr lang="en-SG"/>
          </a:p>
          <a:p>
            <a:pPr marL="0" indent="0">
              <a:buFont typeface="+mj-lt"/>
              <a:buNone/>
            </a:pPr>
            <a:r>
              <a:rPr lang="en-SG"/>
              <a:t>For example, label can be </a:t>
            </a:r>
            <a:r>
              <a:rPr lang="en-US"/>
              <a:t>engine need repair/reinstall/clean, and the hierarchy can be engine</a:t>
            </a:r>
            <a:endParaRPr lang="en-SG"/>
          </a:p>
        </p:txBody>
      </p:sp>
      <p:sp>
        <p:nvSpPr>
          <p:cNvPr id="4" name="Slide Number Placeholder 3">
            <a:extLst>
              <a:ext uri="{FF2B5EF4-FFF2-40B4-BE49-F238E27FC236}">
                <a16:creationId xmlns:a16="http://schemas.microsoft.com/office/drawing/2014/main" id="{79091E46-8702-11D3-D3DE-8122D7E79D97}"/>
              </a:ext>
            </a:extLst>
          </p:cNvPr>
          <p:cNvSpPr>
            <a:spLocks noGrp="1"/>
          </p:cNvSpPr>
          <p:nvPr>
            <p:ph type="sldNum" sz="quarter" idx="5"/>
          </p:nvPr>
        </p:nvSpPr>
        <p:spPr/>
        <p:txBody>
          <a:bodyPr/>
          <a:lstStyle/>
          <a:p>
            <a:fld id="{0FE55404-C75A-4CCD-ACB3-A2D70581B9DC}" type="slidenum">
              <a:rPr lang="en-SG" smtClean="0"/>
              <a:t>4</a:t>
            </a:fld>
            <a:endParaRPr lang="en-SG"/>
          </a:p>
        </p:txBody>
      </p:sp>
    </p:spTree>
    <p:extLst>
      <p:ext uri="{BB962C8B-B14F-4D97-AF65-F5344CB8AC3E}">
        <p14:creationId xmlns:p14="http://schemas.microsoft.com/office/powerpoint/2010/main" val="2239322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Kim</a:t>
            </a:r>
          </a:p>
        </p:txBody>
      </p:sp>
      <p:sp>
        <p:nvSpPr>
          <p:cNvPr id="4" name="Slide Number Placeholder 3"/>
          <p:cNvSpPr>
            <a:spLocks noGrp="1"/>
          </p:cNvSpPr>
          <p:nvPr>
            <p:ph type="sldNum" sz="quarter" idx="5"/>
          </p:nvPr>
        </p:nvSpPr>
        <p:spPr/>
        <p:txBody>
          <a:bodyPr/>
          <a:lstStyle/>
          <a:p>
            <a:fld id="{0FE55404-C75A-4CCD-ACB3-A2D70581B9DC}" type="slidenum">
              <a:rPr lang="en-SG" smtClean="0"/>
              <a:t>5</a:t>
            </a:fld>
            <a:endParaRPr lang="en-SG"/>
          </a:p>
        </p:txBody>
      </p:sp>
    </p:spTree>
    <p:extLst>
      <p:ext uri="{BB962C8B-B14F-4D97-AF65-F5344CB8AC3E}">
        <p14:creationId xmlns:p14="http://schemas.microsoft.com/office/powerpoint/2010/main" val="1517182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t>Kim</a:t>
            </a:r>
          </a:p>
          <a:p>
            <a:endParaRPr lang="en-SG"/>
          </a:p>
        </p:txBody>
      </p:sp>
      <p:sp>
        <p:nvSpPr>
          <p:cNvPr id="4" name="Slide Number Placeholder 3"/>
          <p:cNvSpPr>
            <a:spLocks noGrp="1"/>
          </p:cNvSpPr>
          <p:nvPr>
            <p:ph type="sldNum" sz="quarter" idx="5"/>
          </p:nvPr>
        </p:nvSpPr>
        <p:spPr/>
        <p:txBody>
          <a:bodyPr/>
          <a:lstStyle/>
          <a:p>
            <a:fld id="{0FE55404-C75A-4CCD-ACB3-A2D70581B9DC}" type="slidenum">
              <a:rPr lang="en-SG" smtClean="0"/>
              <a:t>6</a:t>
            </a:fld>
            <a:endParaRPr lang="en-SG"/>
          </a:p>
        </p:txBody>
      </p:sp>
    </p:spTree>
    <p:extLst>
      <p:ext uri="{BB962C8B-B14F-4D97-AF65-F5344CB8AC3E}">
        <p14:creationId xmlns:p14="http://schemas.microsoft.com/office/powerpoint/2010/main" val="2162617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t>Kim</a:t>
            </a:r>
          </a:p>
          <a:p>
            <a:endParaRPr lang="en-SG"/>
          </a:p>
        </p:txBody>
      </p:sp>
      <p:sp>
        <p:nvSpPr>
          <p:cNvPr id="4" name="Slide Number Placeholder 3"/>
          <p:cNvSpPr>
            <a:spLocks noGrp="1"/>
          </p:cNvSpPr>
          <p:nvPr>
            <p:ph type="sldNum" sz="quarter" idx="5"/>
          </p:nvPr>
        </p:nvSpPr>
        <p:spPr/>
        <p:txBody>
          <a:bodyPr/>
          <a:lstStyle/>
          <a:p>
            <a:fld id="{0FE55404-C75A-4CCD-ACB3-A2D70581B9DC}" type="slidenum">
              <a:rPr lang="en-SG" smtClean="0"/>
              <a:t>7</a:t>
            </a:fld>
            <a:endParaRPr lang="en-SG"/>
          </a:p>
        </p:txBody>
      </p:sp>
    </p:spTree>
    <p:extLst>
      <p:ext uri="{BB962C8B-B14F-4D97-AF65-F5344CB8AC3E}">
        <p14:creationId xmlns:p14="http://schemas.microsoft.com/office/powerpoint/2010/main" val="30561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We first look at a base </a:t>
            </a:r>
            <a:r>
              <a:rPr lang="en-SG" err="1"/>
              <a:t>XGBoost</a:t>
            </a:r>
            <a:r>
              <a:rPr lang="en-SG"/>
              <a:t> approach and the associated results.</a:t>
            </a:r>
          </a:p>
          <a:p>
            <a:endParaRPr lang="en-SG"/>
          </a:p>
          <a:p>
            <a:r>
              <a:rPr lang="en-SG"/>
              <a:t>Additional features were first created, which were creating a missing flag column per sensor, imputing the original value with 0, and then creating a column where the we calculated difference between each timestep x – (x-1).</a:t>
            </a:r>
          </a:p>
          <a:p>
            <a:r>
              <a:rPr lang="en-SG"/>
              <a:t>Group k=3 folds were then run, and parameters were optimized with </a:t>
            </a:r>
            <a:r>
              <a:rPr lang="en-SG" err="1"/>
              <a:t>Optuna</a:t>
            </a:r>
            <a:r>
              <a:rPr lang="en-SG"/>
              <a:t>, and the results were then aggregated for each flight.</a:t>
            </a:r>
          </a:p>
          <a:p>
            <a:endParaRPr lang="en-SG"/>
          </a:p>
          <a:p>
            <a:r>
              <a:rPr lang="en-SG"/>
              <a:t>Investigation of the results show that the flags have strong feature importance, which implies missing data or faulty sensors is indicative of requiring maintenance.</a:t>
            </a:r>
          </a:p>
          <a:p>
            <a:r>
              <a:rPr lang="en-SG"/>
              <a:t>When comparing the difference between aggregated vs non aggregated data, we see a more than 10% increase in accuracy prediction, up from 60% to 70%. This is due to while a flight is flagged as maintenance, not all data point within are problematic.</a:t>
            </a:r>
          </a:p>
          <a:p>
            <a:endParaRPr lang="en-SG"/>
          </a:p>
          <a:p>
            <a:r>
              <a:rPr lang="en-SG"/>
              <a:t>In summary, the base </a:t>
            </a:r>
            <a:r>
              <a:rPr lang="en-SG" err="1"/>
              <a:t>XGBoost</a:t>
            </a:r>
            <a:r>
              <a:rPr lang="en-SG"/>
              <a:t> approach is able to reasonably predict the necessity for maintenance. The drawback is that training of millions of rows is computationally expensive, and utilization of transformer steps may be necessary in order to streamline the training process.</a:t>
            </a:r>
          </a:p>
          <a:p>
            <a:endParaRPr lang="en-SG"/>
          </a:p>
          <a:p>
            <a:r>
              <a:rPr lang="en-SG"/>
              <a:t>Without feature preparation, accuracy ~ 50%, close to coin flip.</a:t>
            </a:r>
          </a:p>
          <a:p>
            <a:endParaRPr lang="en-SG"/>
          </a:p>
        </p:txBody>
      </p:sp>
      <p:sp>
        <p:nvSpPr>
          <p:cNvPr id="4" name="Slide Number Placeholder 3"/>
          <p:cNvSpPr>
            <a:spLocks noGrp="1"/>
          </p:cNvSpPr>
          <p:nvPr>
            <p:ph type="sldNum" sz="quarter" idx="5"/>
          </p:nvPr>
        </p:nvSpPr>
        <p:spPr/>
        <p:txBody>
          <a:bodyPr/>
          <a:lstStyle/>
          <a:p>
            <a:fld id="{0FE55404-C75A-4CCD-ACB3-A2D70581B9DC}" type="slidenum">
              <a:rPr lang="en-SG" smtClean="0"/>
              <a:t>8</a:t>
            </a:fld>
            <a:endParaRPr lang="en-SG"/>
          </a:p>
        </p:txBody>
      </p:sp>
    </p:spTree>
    <p:extLst>
      <p:ext uri="{BB962C8B-B14F-4D97-AF65-F5344CB8AC3E}">
        <p14:creationId xmlns:p14="http://schemas.microsoft.com/office/powerpoint/2010/main" val="594197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SG"/>
                  <a:t>T</a:t>
                </a:r>
              </a:p>
              <a:p>
                <a:r>
                  <a:rPr lang="en-SG"/>
                  <a:t>3 positions in kernel are +</a:t>
                </a:r>
                <a:r>
                  <a:rPr lang="en-SG" err="1"/>
                  <a:t>ve</a:t>
                </a:r>
                <a:r>
                  <a:rPr lang="en-SG"/>
                  <a:t>, 6 are –</a:t>
                </a:r>
                <a:r>
                  <a:rPr lang="en-SG" err="1"/>
                  <a:t>ve</a:t>
                </a:r>
                <a:r>
                  <a:rPr lang="en-SG"/>
                  <a:t> so 9C3 The 84 kernels come from choosing 3 positive positions out of 9, i.e. </a:t>
                </a:r>
                <a14:m>
                  <m:oMath xmlns:m="http://schemas.openxmlformats.org/officeDocument/2006/math">
                    <m:d>
                      <m:dPr>
                        <m:ctrlPr>
                          <a:rPr lang="en-SG" sz="1200" i="1" kern="1200">
                            <a:solidFill>
                              <a:schemeClr val="tx1"/>
                            </a:solidFill>
                            <a:latin typeface="Cambria Math" panose="02040503050406030204" pitchFamily="18" charset="0"/>
                            <a:ea typeface="+mn-ea"/>
                            <a:cs typeface="+mn-cs"/>
                          </a:rPr>
                        </m:ctrlPr>
                      </m:dPr>
                      <m:e>
                        <m:f>
                          <m:fPr>
                            <m:type m:val="noBar"/>
                            <m:ctrlPr>
                              <a:rPr lang="en-SG" sz="1200" i="1" kern="1200">
                                <a:solidFill>
                                  <a:schemeClr val="tx1"/>
                                </a:solidFill>
                                <a:latin typeface="Cambria Math" panose="02040503050406030204" pitchFamily="18" charset="0"/>
                                <a:ea typeface="+mn-ea"/>
                                <a:cs typeface="+mn-cs"/>
                              </a:rPr>
                            </m:ctrlPr>
                          </m:fPr>
                          <m:num>
                            <m:r>
                              <a:rPr lang="en-SG" sz="1200" i="0" kern="1200">
                                <a:solidFill>
                                  <a:schemeClr val="tx1"/>
                                </a:solidFill>
                                <a:latin typeface="Cambria Math" panose="02040503050406030204" pitchFamily="18" charset="0"/>
                                <a:ea typeface="+mn-ea"/>
                                <a:cs typeface="+mn-cs"/>
                              </a:rPr>
                              <m:t>9</m:t>
                            </m:r>
                          </m:num>
                          <m:den>
                            <m:r>
                              <a:rPr lang="en-SG" sz="1200" i="0" kern="1200">
                                <a:solidFill>
                                  <a:schemeClr val="tx1"/>
                                </a:solidFill>
                                <a:latin typeface="Cambria Math" panose="02040503050406030204" pitchFamily="18" charset="0"/>
                                <a:ea typeface="+mn-ea"/>
                                <a:cs typeface="+mn-cs"/>
                              </a:rPr>
                              <m:t>3</m:t>
                            </m:r>
                          </m:den>
                        </m:f>
                      </m:e>
                    </m:d>
                    <m:r>
                      <a:rPr lang="en-SG" sz="1200" i="0" kern="1200">
                        <a:solidFill>
                          <a:schemeClr val="tx1"/>
                        </a:solidFill>
                        <a:latin typeface="Cambria Math" panose="02040503050406030204" pitchFamily="18" charset="0"/>
                        <a:ea typeface="+mn-ea"/>
                        <a:cs typeface="+mn-cs"/>
                      </a:rPr>
                      <m:t>=84</m:t>
                    </m:r>
                  </m:oMath>
                </a14:m>
                <a:r>
                  <a:rPr lang="en-SG"/>
                  <a:t>, while the remaining positions are implicitly negative.</a:t>
                </a:r>
              </a:p>
            </p:txBody>
          </p:sp>
        </mc:Choice>
        <mc:Fallback>
          <p:sp>
            <p:nvSpPr>
              <p:cNvPr id="3" name="Notes Placeholder 2"/>
              <p:cNvSpPr>
                <a:spLocks noGrp="1"/>
              </p:cNvSpPr>
              <p:nvPr>
                <p:ph type="body" idx="1"/>
              </p:nvPr>
            </p:nvSpPr>
            <p:spPr/>
            <p:txBody>
              <a:bodyPr/>
              <a:lstStyle/>
              <a:p>
                <a:r>
                  <a:rPr lang="en-SG"/>
                  <a:t>T</a:t>
                </a:r>
              </a:p>
              <a:p>
                <a:r>
                  <a:rPr lang="en-SG"/>
                  <a:t>3 positions in kernel are +</a:t>
                </a:r>
                <a:r>
                  <a:rPr lang="en-SG" err="1"/>
                  <a:t>ve</a:t>
                </a:r>
                <a:r>
                  <a:rPr lang="en-SG"/>
                  <a:t>, 6 are –</a:t>
                </a:r>
                <a:r>
                  <a:rPr lang="en-SG" err="1"/>
                  <a:t>ve</a:t>
                </a:r>
                <a:r>
                  <a:rPr lang="en-SG"/>
                  <a:t> so 9C3 The 84 kernels come from choosing 3 positive positions out of 9, i.e. </a:t>
                </a:r>
                <a:r>
                  <a:rPr lang="en-SG" sz="1200" i="0" kern="1200">
                    <a:solidFill>
                      <a:schemeClr val="tx1"/>
                    </a:solidFill>
                    <a:latin typeface="Cambria Math" panose="02040503050406030204" pitchFamily="18" charset="0"/>
                    <a:ea typeface="+mn-ea"/>
                    <a:cs typeface="+mn-cs"/>
                  </a:rPr>
                  <a:t>(9¦3)=84</a:t>
                </a:r>
                <a:r>
                  <a:rPr lang="en-SG"/>
                  <a:t>, while the remaining positions are implicitly negative.</a:t>
                </a:r>
              </a:p>
            </p:txBody>
          </p:sp>
        </mc:Fallback>
      </mc:AlternateContent>
      <p:sp>
        <p:nvSpPr>
          <p:cNvPr id="4" name="Slide Number Placeholder 3"/>
          <p:cNvSpPr>
            <a:spLocks noGrp="1"/>
          </p:cNvSpPr>
          <p:nvPr>
            <p:ph type="sldNum" sz="quarter" idx="5"/>
          </p:nvPr>
        </p:nvSpPr>
        <p:spPr/>
        <p:txBody>
          <a:bodyPr/>
          <a:lstStyle/>
          <a:p>
            <a:fld id="{0FE55404-C75A-4CCD-ACB3-A2D70581B9DC}" type="slidenum">
              <a:rPr lang="en-SG" smtClean="0"/>
              <a:t>9</a:t>
            </a:fld>
            <a:endParaRPr lang="en-SG"/>
          </a:p>
        </p:txBody>
      </p:sp>
    </p:spTree>
    <p:extLst>
      <p:ext uri="{BB962C8B-B14F-4D97-AF65-F5344CB8AC3E}">
        <p14:creationId xmlns:p14="http://schemas.microsoft.com/office/powerpoint/2010/main" val="388392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a:t>
            </a:r>
          </a:p>
        </p:txBody>
      </p:sp>
      <p:sp>
        <p:nvSpPr>
          <p:cNvPr id="4" name="Slide Number Placeholder 3"/>
          <p:cNvSpPr>
            <a:spLocks noGrp="1"/>
          </p:cNvSpPr>
          <p:nvPr>
            <p:ph type="sldNum" sz="quarter" idx="5"/>
          </p:nvPr>
        </p:nvSpPr>
        <p:spPr/>
        <p:txBody>
          <a:bodyPr/>
          <a:lstStyle/>
          <a:p>
            <a:fld id="{0FE55404-C75A-4CCD-ACB3-A2D70581B9DC}" type="slidenum">
              <a:rPr lang="en-SG" smtClean="0"/>
              <a:t>10</a:t>
            </a:fld>
            <a:endParaRPr lang="en-SG"/>
          </a:p>
        </p:txBody>
      </p:sp>
    </p:spTree>
    <p:extLst>
      <p:ext uri="{BB962C8B-B14F-4D97-AF65-F5344CB8AC3E}">
        <p14:creationId xmlns:p14="http://schemas.microsoft.com/office/powerpoint/2010/main" val="1610953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Linh</a:t>
            </a:r>
          </a:p>
        </p:txBody>
      </p:sp>
      <p:sp>
        <p:nvSpPr>
          <p:cNvPr id="4" name="Slide Number Placeholder 3"/>
          <p:cNvSpPr>
            <a:spLocks noGrp="1"/>
          </p:cNvSpPr>
          <p:nvPr>
            <p:ph type="sldNum" sz="quarter" idx="5"/>
          </p:nvPr>
        </p:nvSpPr>
        <p:spPr/>
        <p:txBody>
          <a:bodyPr/>
          <a:lstStyle/>
          <a:p>
            <a:fld id="{0FE55404-C75A-4CCD-ACB3-A2D70581B9DC}" type="slidenum">
              <a:rPr lang="en-SG" smtClean="0"/>
              <a:t>11</a:t>
            </a:fld>
            <a:endParaRPr lang="en-SG"/>
          </a:p>
        </p:txBody>
      </p:sp>
    </p:spTree>
    <p:extLst>
      <p:ext uri="{BB962C8B-B14F-4D97-AF65-F5344CB8AC3E}">
        <p14:creationId xmlns:p14="http://schemas.microsoft.com/office/powerpoint/2010/main" val="1045248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Helen</a:t>
            </a:r>
          </a:p>
        </p:txBody>
      </p:sp>
      <p:sp>
        <p:nvSpPr>
          <p:cNvPr id="4" name="Slide Number Placeholder 3"/>
          <p:cNvSpPr>
            <a:spLocks noGrp="1"/>
          </p:cNvSpPr>
          <p:nvPr>
            <p:ph type="sldNum" sz="quarter" idx="5"/>
          </p:nvPr>
        </p:nvSpPr>
        <p:spPr/>
        <p:txBody>
          <a:bodyPr/>
          <a:lstStyle/>
          <a:p>
            <a:fld id="{0FE55404-C75A-4CCD-ACB3-A2D70581B9DC}" type="slidenum">
              <a:rPr lang="en-SG" smtClean="0"/>
              <a:t>13</a:t>
            </a:fld>
            <a:endParaRPr lang="en-SG"/>
          </a:p>
        </p:txBody>
      </p:sp>
    </p:spTree>
    <p:extLst>
      <p:ext uri="{BB962C8B-B14F-4D97-AF65-F5344CB8AC3E}">
        <p14:creationId xmlns:p14="http://schemas.microsoft.com/office/powerpoint/2010/main" val="255256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Helen</a:t>
            </a:r>
          </a:p>
        </p:txBody>
      </p:sp>
      <p:sp>
        <p:nvSpPr>
          <p:cNvPr id="4" name="Slide Number Placeholder 3"/>
          <p:cNvSpPr>
            <a:spLocks noGrp="1"/>
          </p:cNvSpPr>
          <p:nvPr>
            <p:ph type="sldNum" sz="quarter" idx="5"/>
          </p:nvPr>
        </p:nvSpPr>
        <p:spPr/>
        <p:txBody>
          <a:bodyPr/>
          <a:lstStyle/>
          <a:p>
            <a:fld id="{0FE55404-C75A-4CCD-ACB3-A2D70581B9DC}" type="slidenum">
              <a:rPr lang="en-SG" smtClean="0"/>
              <a:t>15</a:t>
            </a:fld>
            <a:endParaRPr lang="en-SG"/>
          </a:p>
        </p:txBody>
      </p:sp>
    </p:spTree>
    <p:extLst>
      <p:ext uri="{BB962C8B-B14F-4D97-AF65-F5344CB8AC3E}">
        <p14:creationId xmlns:p14="http://schemas.microsoft.com/office/powerpoint/2010/main" val="934506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a:t>
            </a:r>
          </a:p>
        </p:txBody>
      </p:sp>
      <p:sp>
        <p:nvSpPr>
          <p:cNvPr id="4" name="Slide Number Placeholder 3"/>
          <p:cNvSpPr>
            <a:spLocks noGrp="1"/>
          </p:cNvSpPr>
          <p:nvPr>
            <p:ph type="sldNum" sz="quarter" idx="5"/>
          </p:nvPr>
        </p:nvSpPr>
        <p:spPr/>
        <p:txBody>
          <a:bodyPr/>
          <a:lstStyle/>
          <a:p>
            <a:fld id="{0FE55404-C75A-4CCD-ACB3-A2D70581B9DC}" type="slidenum">
              <a:rPr lang="en-SG" smtClean="0"/>
              <a:t>16</a:t>
            </a:fld>
            <a:endParaRPr lang="en-SG"/>
          </a:p>
        </p:txBody>
      </p:sp>
    </p:spTree>
    <p:extLst>
      <p:ext uri="{BB962C8B-B14F-4D97-AF65-F5344CB8AC3E}">
        <p14:creationId xmlns:p14="http://schemas.microsoft.com/office/powerpoint/2010/main" val="2007214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Linh</a:t>
            </a:r>
            <a:endParaRPr lang="en-S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E55404-C75A-4CCD-ACB3-A2D70581B9DC}"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2424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48CF7-BE7A-DCD7-E1B4-11D2EA3A5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0A608-D7A7-3C57-EE2D-60B6488B2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51F93-497C-AE54-8616-F2CB65555BB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0EA5BB5-5835-CBAF-C0B7-71113AC19C7E}"/>
              </a:ext>
            </a:extLst>
          </p:cNvPr>
          <p:cNvSpPr>
            <a:spLocks noGrp="1"/>
          </p:cNvSpPr>
          <p:nvPr>
            <p:ph type="sldNum" sz="quarter" idx="5"/>
          </p:nvPr>
        </p:nvSpPr>
        <p:spPr/>
        <p:txBody>
          <a:bodyPr/>
          <a:lstStyle/>
          <a:p>
            <a:fld id="{0FE55404-C75A-4CCD-ACB3-A2D70581B9DC}" type="slidenum">
              <a:rPr lang="en-SG" smtClean="0"/>
              <a:t>20</a:t>
            </a:fld>
            <a:endParaRPr lang="en-SG"/>
          </a:p>
        </p:txBody>
      </p:sp>
    </p:spTree>
    <p:extLst>
      <p:ext uri="{BB962C8B-B14F-4D97-AF65-F5344CB8AC3E}">
        <p14:creationId xmlns:p14="http://schemas.microsoft.com/office/powerpoint/2010/main" val="1504519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F5687-9F05-8308-C4A8-628B7EDC3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3BB52-2EF4-BEF2-F141-047F654E9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80483A-CB04-696A-7942-C57EDDF786C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07638B6-725B-F9EB-8668-A9E438387E29}"/>
              </a:ext>
            </a:extLst>
          </p:cNvPr>
          <p:cNvSpPr>
            <a:spLocks noGrp="1"/>
          </p:cNvSpPr>
          <p:nvPr>
            <p:ph type="sldNum" sz="quarter" idx="5"/>
          </p:nvPr>
        </p:nvSpPr>
        <p:spPr/>
        <p:txBody>
          <a:bodyPr/>
          <a:lstStyle/>
          <a:p>
            <a:fld id="{0FE55404-C75A-4CCD-ACB3-A2D70581B9DC}" type="slidenum">
              <a:rPr lang="en-SG" smtClean="0"/>
              <a:t>21</a:t>
            </a:fld>
            <a:endParaRPr lang="en-SG"/>
          </a:p>
        </p:txBody>
      </p:sp>
    </p:spTree>
    <p:extLst>
      <p:ext uri="{BB962C8B-B14F-4D97-AF65-F5344CB8AC3E}">
        <p14:creationId xmlns:p14="http://schemas.microsoft.com/office/powerpoint/2010/main" val="3309076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F918-F3A5-5187-ED6A-7718FA540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BDB6C-970D-4E6B-02A2-395F2EC14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77DCA-8810-9479-FABF-E1C4AF2AF61A}"/>
              </a:ext>
            </a:extLst>
          </p:cNvPr>
          <p:cNvSpPr>
            <a:spLocks noGrp="1"/>
          </p:cNvSpPr>
          <p:nvPr>
            <p:ph type="body" idx="1"/>
          </p:nvPr>
        </p:nvSpPr>
        <p:spPr/>
        <p:txBody>
          <a:bodyPr/>
          <a:lstStyle/>
          <a:p>
            <a:r>
              <a:rPr lang="en-SG"/>
              <a:t>NGAFID</a:t>
            </a:r>
          </a:p>
          <a:p>
            <a:endParaRPr lang="en-SG"/>
          </a:p>
          <a:p>
            <a:r>
              <a:rPr lang="en-SG"/>
              <a:t>The NGAFID is part of Aviation Safety Information Analysis and Sharing (ASIAS), a Federal Aviation Administration (FAA) funded, joint government-industry, collaborative information sharing program to proactively </a:t>
            </a:r>
            <a:r>
              <a:rPr lang="en-SG" err="1"/>
              <a:t>analyze</a:t>
            </a:r>
            <a:r>
              <a:rPr lang="en-SG"/>
              <a:t> broad and extensive data sources towards the advancement of safety initiatives and the discovery of vulnerabilities in the National Airspace System (NAS). The primary objective of ASIAS is to provide a national resource for use in discovering common, systemic safety problems that span multiple operators, fleets, and regions of the airspace. Safety information discovered through ASIAS activities is used across the aviation industry to drive improvements and support a variety of safety initiatives. The NGAFID was originally conceived to bring voluntary Flight Data Monitoring (FDM) capabilities to General Aviation, but has now expanded to include the broader aviation community.</a:t>
            </a:r>
          </a:p>
        </p:txBody>
      </p:sp>
      <p:sp>
        <p:nvSpPr>
          <p:cNvPr id="4" name="Slide Number Placeholder 3">
            <a:extLst>
              <a:ext uri="{FF2B5EF4-FFF2-40B4-BE49-F238E27FC236}">
                <a16:creationId xmlns:a16="http://schemas.microsoft.com/office/drawing/2014/main" id="{05A53773-6FDE-5E59-F4D1-EF1EC931F19C}"/>
              </a:ext>
            </a:extLst>
          </p:cNvPr>
          <p:cNvSpPr>
            <a:spLocks noGrp="1"/>
          </p:cNvSpPr>
          <p:nvPr>
            <p:ph type="sldNum" sz="quarter" idx="5"/>
          </p:nvPr>
        </p:nvSpPr>
        <p:spPr/>
        <p:txBody>
          <a:bodyPr/>
          <a:lstStyle/>
          <a:p>
            <a:fld id="{0FE55404-C75A-4CCD-ACB3-A2D70581B9DC}" type="slidenum">
              <a:rPr lang="en-SG" smtClean="0"/>
              <a:t>22</a:t>
            </a:fld>
            <a:endParaRPr lang="en-SG"/>
          </a:p>
        </p:txBody>
      </p:sp>
    </p:spTree>
    <p:extLst>
      <p:ext uri="{BB962C8B-B14F-4D97-AF65-F5344CB8AC3E}">
        <p14:creationId xmlns:p14="http://schemas.microsoft.com/office/powerpoint/2010/main" val="3935452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96C0F-CDD7-0674-661F-62A46E3C0E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566B4AE8-DD1A-38C9-90DC-64A43EDE47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1D768F2-C053-6C59-AC90-B7F6B2580D67}"/>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CE26DF0B-C0E0-9673-2DD1-957149D0C81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5BDC317-1A33-54CF-1F82-39AE2B17D4D4}"/>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106053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C558B-8441-BFA0-7E9C-93514C7A14B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B4138C9-AB3F-2629-5729-2058855CCA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3874DD7-7276-8398-2245-BCD0489FD47B}"/>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F426648F-5407-F768-FA3A-2DBBFEDA8A2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4E20D8B-B0D1-4256-BBD0-E885CCCC0107}"/>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3227427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961E8-3DD3-D744-2600-58EB2D509B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56D1CF81-EDC0-1BC2-4BAD-F0A2CC3CB8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8B5A13-C67C-EEE5-1D6C-5E29BAAFA930}"/>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F8E93942-2F4C-8B6D-27F7-E74D29AE09D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6DAA100-AF6A-7ADA-8995-D231D782AEDB}"/>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3584518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2632F-39DD-19CE-7DD5-F14921D9B8E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E7722C9-7D6E-0379-231E-94CF15E962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EB57DAD4-D783-E2CC-2906-ACDA7BFC3F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40BFC208-0705-BFF9-D7CE-D255F3D3F2D5}"/>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6" name="Footer Placeholder 5">
            <a:extLst>
              <a:ext uri="{FF2B5EF4-FFF2-40B4-BE49-F238E27FC236}">
                <a16:creationId xmlns:a16="http://schemas.microsoft.com/office/drawing/2014/main" id="{4371FEE6-B245-6703-E04B-7942BA7F763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A135621-F4AE-5F2A-A960-7167843B9BF7}"/>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2422649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D476D-CACE-CC77-7598-7E357976E7C2}"/>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00D7AE3-79B3-3658-7497-63B92BDF5F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C54080-EEE5-6053-1BAD-5EFCD5C7F4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950493D-AE32-1A03-4685-CA01680FBC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4A3D17-5D07-60DD-5295-E90EFBBF20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21EB2FD-D6BA-6E12-363E-85A15CB3E40C}"/>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8" name="Footer Placeholder 7">
            <a:extLst>
              <a:ext uri="{FF2B5EF4-FFF2-40B4-BE49-F238E27FC236}">
                <a16:creationId xmlns:a16="http://schemas.microsoft.com/office/drawing/2014/main" id="{9AB99933-2FBE-07C9-280F-888892B92E9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0CE3C7C7-6811-1CE3-2071-FF1EC643F23D}"/>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852900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6CD28-3D55-9644-4EB4-C93AEF6C24F9}"/>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57509DD3-1D55-8B80-01C8-F8F57DD2F36F}"/>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4" name="Footer Placeholder 3">
            <a:extLst>
              <a:ext uri="{FF2B5EF4-FFF2-40B4-BE49-F238E27FC236}">
                <a16:creationId xmlns:a16="http://schemas.microsoft.com/office/drawing/2014/main" id="{8E19F5B3-45A1-254F-6379-72582EF0747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BB592BA4-FA49-2EBC-F3C3-7DDDE6F09290}"/>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222468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539A49-E87A-636A-E3C4-F305811A433F}"/>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3" name="Footer Placeholder 2">
            <a:extLst>
              <a:ext uri="{FF2B5EF4-FFF2-40B4-BE49-F238E27FC236}">
                <a16:creationId xmlns:a16="http://schemas.microsoft.com/office/drawing/2014/main" id="{75932F80-309C-37CC-42AC-82917ABDD07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8AD36A17-1C37-AB72-16A4-846871A8FA42}"/>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661407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424A-55D6-3BC2-8C7A-6EAFB2D6DA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4782E70-C81C-165C-E33B-045C81AC7D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558AFAC7-7A4F-1AC0-6F6B-50C920CC69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BCE0AE-9BC7-8CDF-0B1A-871DD71CE61B}"/>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6" name="Footer Placeholder 5">
            <a:extLst>
              <a:ext uri="{FF2B5EF4-FFF2-40B4-BE49-F238E27FC236}">
                <a16:creationId xmlns:a16="http://schemas.microsoft.com/office/drawing/2014/main" id="{DF2BDFCD-A934-09FF-8A66-A9FE4712A48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0D83706-46E3-3B3A-08EB-BDA83390795A}"/>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1912375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62A1-36E5-EDF6-AB33-248CEBAEB1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212EBF57-42AD-6397-77C9-371553DCC0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F76D2CC-3FEA-93F7-7F5F-96F23CF31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214562-8568-A91A-6947-BD7F7FC37D24}"/>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6" name="Footer Placeholder 5">
            <a:extLst>
              <a:ext uri="{FF2B5EF4-FFF2-40B4-BE49-F238E27FC236}">
                <a16:creationId xmlns:a16="http://schemas.microsoft.com/office/drawing/2014/main" id="{BEB4E2DB-EC84-2BF9-35A3-3CDBA1F99C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C76504B-77B7-C32C-FF33-67EA80A9D00A}"/>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245594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4F23-D4B3-E23D-5CB6-923C8B242C1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B92B549-6DB1-43F0-A7D8-0C2F2A3497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C10C293-6C09-31A7-9F33-63C309000313}"/>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EBB2E9EF-64D5-8022-866F-A399C91FCD3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185EBFF-1491-FCD5-7DB8-C4B6ACE353C3}"/>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285656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CC17D3-D3DD-8A86-8217-78C1C233B5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40FCDDD-8035-2410-85CB-1EE8F55BAF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BD3B5B8-72A5-3094-8AEA-28EF4A321C3B}"/>
              </a:ext>
            </a:extLst>
          </p:cNvPr>
          <p:cNvSpPr>
            <a:spLocks noGrp="1"/>
          </p:cNvSpPr>
          <p:nvPr>
            <p:ph type="dt" sz="half" idx="10"/>
          </p:nvPr>
        </p:nvSpPr>
        <p:spPr/>
        <p:txBody>
          <a:body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D9DF32FE-A89F-1F5A-7739-3FC2A84B108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E364AE7-A3D5-FEE8-A504-5318196A093D}"/>
              </a:ext>
            </a:extLst>
          </p:cNvPr>
          <p:cNvSpPr>
            <a:spLocks noGrp="1"/>
          </p:cNvSpPr>
          <p:nvPr>
            <p:ph type="sldNum" sz="quarter" idx="12"/>
          </p:nvPr>
        </p:nvSpPr>
        <p:spPr/>
        <p:txBody>
          <a:bodyPr/>
          <a:lstStyle/>
          <a:p>
            <a:fld id="{9CCC0DB5-A604-4601-8F00-6F229ACBA520}" type="slidenum">
              <a:rPr lang="en-SG" smtClean="0"/>
              <a:t>‹#›</a:t>
            </a:fld>
            <a:endParaRPr lang="en-SG"/>
          </a:p>
        </p:txBody>
      </p:sp>
    </p:spTree>
    <p:extLst>
      <p:ext uri="{BB962C8B-B14F-4D97-AF65-F5344CB8AC3E}">
        <p14:creationId xmlns:p14="http://schemas.microsoft.com/office/powerpoint/2010/main" val="146693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3378BF-554C-96CF-E47D-5D169AB1C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51306F3-2DAB-CD62-7A01-D9FB1265E5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626003A-87F1-AD29-730B-51A2429050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52D730-53CD-406E-8EA9-1F2AD0BCD2A0}" type="datetimeFigureOut">
              <a:rPr lang="en-SG" smtClean="0"/>
              <a:t>24/6/2026</a:t>
            </a:fld>
            <a:endParaRPr lang="en-SG"/>
          </a:p>
        </p:txBody>
      </p:sp>
      <p:sp>
        <p:nvSpPr>
          <p:cNvPr id="5" name="Footer Placeholder 4">
            <a:extLst>
              <a:ext uri="{FF2B5EF4-FFF2-40B4-BE49-F238E27FC236}">
                <a16:creationId xmlns:a16="http://schemas.microsoft.com/office/drawing/2014/main" id="{148A0A82-A6C7-7F94-D484-8B3E64886B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90538FBC-DE50-746F-E52F-881332F487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CC0DB5-A604-4601-8F00-6F229ACBA520}" type="slidenum">
              <a:rPr lang="en-SG" smtClean="0"/>
              <a:t>‹#›</a:t>
            </a:fld>
            <a:endParaRPr lang="en-SG"/>
          </a:p>
        </p:txBody>
      </p:sp>
    </p:spTree>
    <p:extLst>
      <p:ext uri="{BB962C8B-B14F-4D97-AF65-F5344CB8AC3E}">
        <p14:creationId xmlns:p14="http://schemas.microsoft.com/office/powerpoint/2010/main" val="1733260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hooong/aviation-maintenance-dataset-from-the-ngafid"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6" name="Rectangle 1045">
            <a:extLst>
              <a:ext uri="{FF2B5EF4-FFF2-40B4-BE49-F238E27FC236}">
                <a16:creationId xmlns:a16="http://schemas.microsoft.com/office/drawing/2014/main" id="{736CAB1F-557E-4FA4-81CC-DC491EF8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AA065953-3D69-4CD4-80C3-DF10DEB4C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0"/>
            <a:ext cx="8104091" cy="6857571"/>
          </a:xfrm>
          <a:prstGeom prst="rect">
            <a:avLst/>
          </a:prstGeom>
          <a:gradFill>
            <a:gsLst>
              <a:gs pos="0">
                <a:schemeClr val="accent1">
                  <a:lumMod val="75000"/>
                </a:schemeClr>
              </a:gs>
              <a:gs pos="100000">
                <a:srgbClr val="000000"/>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2AB36DB5-F10D-4EDB-87E2-ECB9301FF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74250" y="627728"/>
            <a:ext cx="4355593" cy="8104092"/>
          </a:xfrm>
          <a:prstGeom prst="rect">
            <a:avLst/>
          </a:prstGeom>
          <a:gradFill>
            <a:gsLst>
              <a:gs pos="0">
                <a:schemeClr val="accent1">
                  <a:lumMod val="50000"/>
                </a:schemeClr>
              </a:gs>
              <a:gs pos="91000">
                <a:schemeClr val="tx2">
                  <a:lumMod val="50000"/>
                  <a:alpha val="1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446F195D-95DC-419E-BBC1-E2B601A60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1"/>
            <a:ext cx="7646891" cy="6858001"/>
          </a:xfrm>
          <a:prstGeom prst="rect">
            <a:avLst/>
          </a:prstGeom>
          <a:gradFill>
            <a:gsLst>
              <a:gs pos="41000">
                <a:schemeClr val="accent1">
                  <a:lumMod val="75000"/>
                  <a:alpha val="52000"/>
                </a:schemeClr>
              </a:gs>
              <a:gs pos="95000">
                <a:srgbClr val="000000">
                  <a:alpha val="68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55550980-2AB6-4DE5-86DD-064ADF160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2501118"/>
            <a:ext cx="8091784" cy="4331436"/>
          </a:xfrm>
          <a:prstGeom prst="rect">
            <a:avLst/>
          </a:prstGeom>
          <a:gradFill>
            <a:gsLst>
              <a:gs pos="0">
                <a:srgbClr val="000000">
                  <a:alpha val="16000"/>
                </a:srgbClr>
              </a:gs>
              <a:gs pos="91000">
                <a:schemeClr val="accent1">
                  <a:alpha val="3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EDF4B167-8E82-4458-AE55-88B683EBF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595" y="-3"/>
            <a:ext cx="8091784" cy="6857999"/>
          </a:xfrm>
          <a:prstGeom prst="rect">
            <a:avLst/>
          </a:prstGeom>
          <a:gradFill>
            <a:gsLst>
              <a:gs pos="0">
                <a:schemeClr val="accent1">
                  <a:lumMod val="75000"/>
                  <a:alpha val="6000"/>
                </a:schemeClr>
              </a:gs>
              <a:gs pos="99000">
                <a:srgbClr val="000000">
                  <a:alpha val="57000"/>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Oval 1057">
            <a:extLst>
              <a:ext uri="{FF2B5EF4-FFF2-40B4-BE49-F238E27FC236}">
                <a16:creationId xmlns:a16="http://schemas.microsoft.com/office/drawing/2014/main" id="{55993D72-5628-4E5E-BB9F-96066414E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2101742" y="699966"/>
            <a:ext cx="5121259" cy="5458067"/>
          </a:xfrm>
          <a:prstGeom prst="ellipse">
            <a:avLst/>
          </a:prstGeom>
          <a:gradFill>
            <a:gsLst>
              <a:gs pos="3000">
                <a:schemeClr val="accent1">
                  <a:lumMod val="50000"/>
                  <a:alpha val="0"/>
                </a:schemeClr>
              </a:gs>
              <a:gs pos="100000">
                <a:schemeClr val="accent1">
                  <a:lumMod val="60000"/>
                  <a:lumOff val="40000"/>
                  <a:alpha val="17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DCBBB-949F-3B3B-16AA-A158D6C4E381}"/>
              </a:ext>
            </a:extLst>
          </p:cNvPr>
          <p:cNvSpPr>
            <a:spLocks noGrp="1"/>
          </p:cNvSpPr>
          <p:nvPr>
            <p:ph type="ctrTitle"/>
          </p:nvPr>
        </p:nvSpPr>
        <p:spPr>
          <a:xfrm>
            <a:off x="905855" y="1840670"/>
            <a:ext cx="6475259" cy="1449954"/>
          </a:xfrm>
        </p:spPr>
        <p:txBody>
          <a:bodyPr anchor="t">
            <a:normAutofit/>
          </a:bodyPr>
          <a:lstStyle/>
          <a:p>
            <a:pPr algn="l"/>
            <a:r>
              <a:rPr lang="en-US" sz="4800" b="1">
                <a:solidFill>
                  <a:srgbClr val="FFFFFF"/>
                </a:solidFill>
                <a:latin typeface="Aharoni" panose="02010803020104030203" pitchFamily="2" charset="-79"/>
                <a:cs typeface="Aharoni" panose="02010803020104030203" pitchFamily="2" charset="-79"/>
              </a:rPr>
              <a:t>Aircraft Maintenance Prediction </a:t>
            </a:r>
            <a:endParaRPr lang="en-SG" sz="4800" b="1">
              <a:solidFill>
                <a:srgbClr val="FFFFFF"/>
              </a:solidFill>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C0A92875-A92F-2086-F1FD-61891CC185EC}"/>
              </a:ext>
            </a:extLst>
          </p:cNvPr>
          <p:cNvSpPr>
            <a:spLocks noGrp="1"/>
          </p:cNvSpPr>
          <p:nvPr>
            <p:ph type="subTitle" idx="1"/>
          </p:nvPr>
        </p:nvSpPr>
        <p:spPr>
          <a:xfrm>
            <a:off x="905855" y="1212861"/>
            <a:ext cx="5091282" cy="564979"/>
          </a:xfrm>
        </p:spPr>
        <p:txBody>
          <a:bodyPr anchor="b">
            <a:normAutofit/>
          </a:bodyPr>
          <a:lstStyle/>
          <a:p>
            <a:pPr algn="l"/>
            <a:r>
              <a:rPr lang="en-US" sz="2000" i="1">
                <a:solidFill>
                  <a:srgbClr val="FFFFFF"/>
                </a:solidFill>
                <a:latin typeface="Arial" panose="020B0604020202020204" pitchFamily="34" charset="0"/>
                <a:cs typeface="Arial" panose="020B0604020202020204" pitchFamily="34" charset="0"/>
              </a:rPr>
              <a:t>CS610 Applied Machine Learning</a:t>
            </a:r>
            <a:endParaRPr lang="en-SG" sz="2000" i="1">
              <a:solidFill>
                <a:srgbClr val="FFFFFF"/>
              </a:solidFill>
              <a:latin typeface="Arial" panose="020B0604020202020204" pitchFamily="34" charset="0"/>
              <a:cs typeface="Arial" panose="020B0604020202020204" pitchFamily="34" charset="0"/>
            </a:endParaRPr>
          </a:p>
        </p:txBody>
      </p:sp>
      <p:pic>
        <p:nvPicPr>
          <p:cNvPr id="1034" name="Picture 10" descr="Professional Aircraft Maintenance Crew at Work Precision and Dedication ...">
            <a:extLst>
              <a:ext uri="{FF2B5EF4-FFF2-40B4-BE49-F238E27FC236}">
                <a16:creationId xmlns:a16="http://schemas.microsoft.com/office/drawing/2014/main" id="{DA75851C-74E4-D12A-782D-66F3DD4ED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64" b="3063"/>
          <a:stretch>
            <a:fillRect/>
          </a:stretch>
        </p:blipFill>
        <p:spPr bwMode="auto">
          <a:xfrm>
            <a:off x="8104092" y="10"/>
            <a:ext cx="4099858"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E9F2FD3B-7346-C8C9-6095-D2AEEB3C9D1D}"/>
              </a:ext>
            </a:extLst>
          </p:cNvPr>
          <p:cNvSpPr txBox="1">
            <a:spLocks/>
          </p:cNvSpPr>
          <p:nvPr/>
        </p:nvSpPr>
        <p:spPr>
          <a:xfrm>
            <a:off x="905855" y="3684164"/>
            <a:ext cx="6475259" cy="1889658"/>
          </a:xfrm>
          <a:prstGeom prst="rect">
            <a:avLst/>
          </a:prstGeom>
        </p:spPr>
        <p:txBody>
          <a:bodyPr vert="horz" lIns="91440" tIns="45720" rIns="91440" bIns="45720"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pPr>
            <a:r>
              <a:rPr lang="en-US" sz="2000" b="1">
                <a:solidFill>
                  <a:srgbClr val="FFFFFF"/>
                </a:solidFill>
                <a:latin typeface="Arial" panose="020B0604020202020204" pitchFamily="34" charset="0"/>
                <a:cs typeface="Arial" panose="020B0604020202020204" pitchFamily="34" charset="0"/>
              </a:rPr>
              <a:t>G2 Group 10</a:t>
            </a:r>
          </a:p>
          <a:p>
            <a:pPr algn="l">
              <a:lnSpc>
                <a:spcPct val="150000"/>
              </a:lnSpc>
            </a:pPr>
            <a:r>
              <a:rPr lang="en-SG" sz="2000">
                <a:solidFill>
                  <a:srgbClr val="FFFFFF"/>
                </a:solidFill>
                <a:latin typeface="Arial" panose="020B0604020202020204" pitchFamily="34" charset="0"/>
                <a:cs typeface="Arial" panose="020B0604020202020204" pitchFamily="34" charset="0"/>
              </a:rPr>
              <a:t>Kimberly Bertoli </a:t>
            </a:r>
          </a:p>
          <a:p>
            <a:pPr algn="l"/>
            <a:r>
              <a:rPr lang="en-SG" sz="2000">
                <a:solidFill>
                  <a:srgbClr val="FFFFFF"/>
                </a:solidFill>
                <a:latin typeface="Arial" panose="020B0604020202020204" pitchFamily="34" charset="0"/>
                <a:cs typeface="Arial" panose="020B0604020202020204" pitchFamily="34" charset="0"/>
              </a:rPr>
              <a:t>Do </a:t>
            </a:r>
            <a:r>
              <a:rPr lang="en-SG" sz="2000" err="1">
                <a:solidFill>
                  <a:srgbClr val="FFFFFF"/>
                </a:solidFill>
                <a:latin typeface="Arial" panose="020B0604020202020204" pitchFamily="34" charset="0"/>
                <a:cs typeface="Arial" panose="020B0604020202020204" pitchFamily="34" charset="0"/>
              </a:rPr>
              <a:t>Thi</a:t>
            </a:r>
            <a:r>
              <a:rPr lang="en-SG" sz="2000">
                <a:solidFill>
                  <a:srgbClr val="FFFFFF"/>
                </a:solidFill>
                <a:latin typeface="Arial" panose="020B0604020202020204" pitchFamily="34" charset="0"/>
                <a:cs typeface="Arial" panose="020B0604020202020204" pitchFamily="34" charset="0"/>
              </a:rPr>
              <a:t> Phuong Linh</a:t>
            </a:r>
          </a:p>
          <a:p>
            <a:pPr algn="l"/>
            <a:r>
              <a:rPr lang="en-SG" sz="2000">
                <a:solidFill>
                  <a:srgbClr val="FFFFFF"/>
                </a:solidFill>
                <a:latin typeface="Arial" panose="020B0604020202020204" pitchFamily="34" charset="0"/>
                <a:cs typeface="Arial" panose="020B0604020202020204" pitchFamily="34" charset="0"/>
              </a:rPr>
              <a:t>Nguyen Kim Hau </a:t>
            </a:r>
          </a:p>
          <a:p>
            <a:pPr algn="l"/>
            <a:r>
              <a:rPr lang="en-SG" sz="2000">
                <a:solidFill>
                  <a:srgbClr val="FFFFFF"/>
                </a:solidFill>
                <a:latin typeface="Arial" panose="020B0604020202020204" pitchFamily="34" charset="0"/>
                <a:cs typeface="Arial" panose="020B0604020202020204" pitchFamily="34" charset="0"/>
              </a:rPr>
              <a:t>Tanya Arora </a:t>
            </a:r>
          </a:p>
          <a:p>
            <a:pPr algn="l"/>
            <a:r>
              <a:rPr lang="en-SG" sz="2000">
                <a:solidFill>
                  <a:srgbClr val="FFFFFF"/>
                </a:solidFill>
                <a:latin typeface="Arial" panose="020B0604020202020204" pitchFamily="34" charset="0"/>
                <a:cs typeface="Arial" panose="020B0604020202020204" pitchFamily="34" charset="0"/>
              </a:rPr>
              <a:t>Cheung See Lin </a:t>
            </a:r>
          </a:p>
        </p:txBody>
      </p:sp>
      <p:cxnSp>
        <p:nvCxnSpPr>
          <p:cNvPr id="7" name="Straight Connector 6">
            <a:extLst>
              <a:ext uri="{FF2B5EF4-FFF2-40B4-BE49-F238E27FC236}">
                <a16:creationId xmlns:a16="http://schemas.microsoft.com/office/drawing/2014/main" id="{892676FA-1380-4F89-0355-969067525AC0}"/>
              </a:ext>
            </a:extLst>
          </p:cNvPr>
          <p:cNvCxnSpPr/>
          <p:nvPr/>
        </p:nvCxnSpPr>
        <p:spPr>
          <a:xfrm>
            <a:off x="975705" y="4142232"/>
            <a:ext cx="2545641" cy="0"/>
          </a:xfrm>
          <a:prstGeom prst="line">
            <a:avLst/>
          </a:prstGeom>
          <a:ln>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8374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descr="Aircraft engineer planning with mechanician to maintenance turbine jet ...">
            <a:extLst>
              <a:ext uri="{FF2B5EF4-FFF2-40B4-BE49-F238E27FC236}">
                <a16:creationId xmlns:a16="http://schemas.microsoft.com/office/drawing/2014/main" id="{240D4736-9A96-8BB0-FBD3-93B26AE354B2}"/>
              </a:ext>
            </a:extLst>
          </p:cNvPr>
          <p:cNvPicPr>
            <a:picLocks noChangeAspect="1"/>
          </p:cNvPicPr>
          <p:nvPr/>
        </p:nvPicPr>
        <p:blipFill>
          <a:blip r:embed="rId3"/>
          <a:stretch>
            <a:fillRect/>
          </a:stretch>
        </p:blipFill>
        <p:spPr>
          <a:xfrm>
            <a:off x="9687484" y="516834"/>
            <a:ext cx="2065604" cy="2065604"/>
          </a:xfrm>
          <a:prstGeom prst="rect">
            <a:avLst/>
          </a:prstGeom>
        </p:spPr>
      </p:pic>
      <p:sp>
        <p:nvSpPr>
          <p:cNvPr id="4" name="Rectangle: Rounded Corners 3">
            <a:extLst>
              <a:ext uri="{FF2B5EF4-FFF2-40B4-BE49-F238E27FC236}">
                <a16:creationId xmlns:a16="http://schemas.microsoft.com/office/drawing/2014/main" id="{8A90E058-6A5A-D13F-3DF7-52C1FFF1A927}"/>
              </a:ext>
            </a:extLst>
          </p:cNvPr>
          <p:cNvSpPr/>
          <p:nvPr/>
        </p:nvSpPr>
        <p:spPr>
          <a:xfrm>
            <a:off x="3867912" y="256032"/>
            <a:ext cx="451713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Business Problem</a:t>
            </a:r>
            <a:endParaRPr lang="en-SG" sz="2800">
              <a:latin typeface="Aharoni" panose="02010803020104030203" pitchFamily="2" charset="-79"/>
              <a:cs typeface="Aharoni" panose="02010803020104030203" pitchFamily="2" charset="-79"/>
            </a:endParaRPr>
          </a:p>
        </p:txBody>
      </p:sp>
      <p:graphicFrame>
        <p:nvGraphicFramePr>
          <p:cNvPr id="35" name="Diagram 34">
            <a:extLst>
              <a:ext uri="{FF2B5EF4-FFF2-40B4-BE49-F238E27FC236}">
                <a16:creationId xmlns:a16="http://schemas.microsoft.com/office/drawing/2014/main" id="{CC76256C-85B8-E1BF-F23B-484E46464D80}"/>
              </a:ext>
            </a:extLst>
          </p:cNvPr>
          <p:cNvGraphicFramePr/>
          <p:nvPr>
            <p:extLst>
              <p:ext uri="{D42A27DB-BD31-4B8C-83A1-F6EECF244321}">
                <p14:modId xmlns:p14="http://schemas.microsoft.com/office/powerpoint/2010/main" val="3990867381"/>
              </p:ext>
            </p:extLst>
          </p:nvPr>
        </p:nvGraphicFramePr>
        <p:xfrm>
          <a:off x="1011428" y="3124550"/>
          <a:ext cx="10169144" cy="19692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7" name="TextBox 36">
            <a:extLst>
              <a:ext uri="{FF2B5EF4-FFF2-40B4-BE49-F238E27FC236}">
                <a16:creationId xmlns:a16="http://schemas.microsoft.com/office/drawing/2014/main" id="{BF228460-9466-8704-AC5E-47661161B654}"/>
              </a:ext>
            </a:extLst>
          </p:cNvPr>
          <p:cNvSpPr txBox="1"/>
          <p:nvPr/>
        </p:nvSpPr>
        <p:spPr>
          <a:xfrm>
            <a:off x="5053584" y="3059668"/>
            <a:ext cx="2324100" cy="369332"/>
          </a:xfrm>
          <a:prstGeom prst="rect">
            <a:avLst/>
          </a:prstGeom>
          <a:noFill/>
        </p:spPr>
        <p:txBody>
          <a:bodyPr wrap="square" rtlCol="0">
            <a:spAutoFit/>
          </a:bodyPr>
          <a:lstStyle/>
          <a:p>
            <a:pPr algn="ctr"/>
            <a:r>
              <a:rPr lang="en-SG" u="sng">
                <a:latin typeface="Aharoni" panose="02010803020104030203" pitchFamily="2" charset="-79"/>
                <a:cs typeface="Aharoni" panose="02010803020104030203" pitchFamily="2" charset="-79"/>
              </a:rPr>
              <a:t>End-to-End Solution</a:t>
            </a:r>
          </a:p>
        </p:txBody>
      </p:sp>
      <p:sp>
        <p:nvSpPr>
          <p:cNvPr id="39" name="TextBox 38">
            <a:extLst>
              <a:ext uri="{FF2B5EF4-FFF2-40B4-BE49-F238E27FC236}">
                <a16:creationId xmlns:a16="http://schemas.microsoft.com/office/drawing/2014/main" id="{788075A7-D9C0-D958-9FC1-B4CEEBE5D6CD}"/>
              </a:ext>
            </a:extLst>
          </p:cNvPr>
          <p:cNvSpPr txBox="1"/>
          <p:nvPr/>
        </p:nvSpPr>
        <p:spPr>
          <a:xfrm>
            <a:off x="4139184" y="4893225"/>
            <a:ext cx="4401312" cy="369332"/>
          </a:xfrm>
          <a:prstGeom prst="rect">
            <a:avLst/>
          </a:prstGeom>
          <a:noFill/>
        </p:spPr>
        <p:txBody>
          <a:bodyPr wrap="square" rtlCol="0">
            <a:spAutoFit/>
          </a:bodyPr>
          <a:lstStyle/>
          <a:p>
            <a:pPr algn="ctr"/>
            <a:r>
              <a:rPr lang="en-SG" u="sng">
                <a:latin typeface="Aharoni" panose="02010803020104030203" pitchFamily="2" charset="-79"/>
                <a:cs typeface="Aharoni" panose="02010803020104030203" pitchFamily="2" charset="-79"/>
              </a:rPr>
              <a:t>Expected Downstream Business Impact </a:t>
            </a:r>
          </a:p>
        </p:txBody>
      </p:sp>
      <p:sp>
        <p:nvSpPr>
          <p:cNvPr id="40" name="TextBox 39">
            <a:extLst>
              <a:ext uri="{FF2B5EF4-FFF2-40B4-BE49-F238E27FC236}">
                <a16:creationId xmlns:a16="http://schemas.microsoft.com/office/drawing/2014/main" id="{EB26CF32-CA30-275B-B9CC-6EF2453FDEB5}"/>
              </a:ext>
            </a:extLst>
          </p:cNvPr>
          <p:cNvSpPr txBox="1"/>
          <p:nvPr/>
        </p:nvSpPr>
        <p:spPr>
          <a:xfrm>
            <a:off x="865632" y="1059569"/>
            <a:ext cx="8973312" cy="1846659"/>
          </a:xfrm>
          <a:prstGeom prst="rect">
            <a:avLst/>
          </a:prstGeom>
          <a:noFill/>
        </p:spPr>
        <p:txBody>
          <a:bodyPr wrap="square" rtlCol="0">
            <a:spAutoFit/>
          </a:bodyPr>
          <a:lstStyle/>
          <a:p>
            <a:pPr algn="just"/>
            <a:r>
              <a:rPr lang="en-SG" u="sng">
                <a:latin typeface="Aharoni" panose="02010803020104030203" pitchFamily="2" charset="-79"/>
                <a:cs typeface="Aharoni" panose="02010803020104030203" pitchFamily="2" charset="-79"/>
              </a:rPr>
              <a:t>Problem Statement</a:t>
            </a:r>
          </a:p>
          <a:p>
            <a:pPr algn="just"/>
            <a:r>
              <a:rPr lang="en-SG" sz="1600">
                <a:latin typeface="Arial" panose="020B0604020202020204" pitchFamily="34" charset="0"/>
                <a:cs typeface="Arial" panose="020B0604020202020204" pitchFamily="34" charset="0"/>
              </a:rPr>
              <a:t>There are broadly two types of aircraft maintenance:</a:t>
            </a:r>
          </a:p>
          <a:p>
            <a:pPr marL="742950" lvl="1" indent="-285750" algn="just">
              <a:buFont typeface="Arial" panose="020B0604020202020204" pitchFamily="34" charset="0"/>
              <a:buChar char="•"/>
            </a:pPr>
            <a:r>
              <a:rPr lang="en-SG" sz="1600">
                <a:latin typeface="Arial" panose="020B0604020202020204" pitchFamily="34" charset="0"/>
                <a:cs typeface="Arial" panose="020B0604020202020204" pitchFamily="34" charset="0"/>
              </a:rPr>
              <a:t>Scheduled → Routine checks at fixed intervals</a:t>
            </a:r>
          </a:p>
          <a:p>
            <a:pPr marL="742950" lvl="1" indent="-285750" algn="just">
              <a:buFont typeface="Arial" panose="020B0604020202020204" pitchFamily="34" charset="0"/>
              <a:buChar char="•"/>
            </a:pPr>
            <a:r>
              <a:rPr lang="en-SG" sz="1600">
                <a:latin typeface="Arial" panose="020B0604020202020204" pitchFamily="34" charset="0"/>
                <a:cs typeface="Arial" panose="020B0604020202020204" pitchFamily="34" charset="0"/>
              </a:rPr>
              <a:t>Unscheduled → Repairs triggered by unexpected failure of components.</a:t>
            </a:r>
          </a:p>
          <a:p>
            <a:pPr algn="just"/>
            <a:r>
              <a:rPr lang="en-SG" sz="1600">
                <a:latin typeface="Arial" panose="020B0604020202020204" pitchFamily="34" charset="0"/>
                <a:cs typeface="Arial" panose="020B0604020202020204" pitchFamily="34" charset="0"/>
              </a:rPr>
              <a:t>Unscheduled maintenance events are costly both financially and operationally. </a:t>
            </a:r>
            <a:r>
              <a:rPr lang="en-US" sz="1600">
                <a:latin typeface="Arial" panose="020B0604020202020204" pitchFamily="34" charset="0"/>
                <a:cs typeface="Arial" panose="020B0604020202020204" pitchFamily="34" charset="0"/>
              </a:rPr>
              <a:t>Predicting when an aircraft is approaching such an event enables proactive interventions, minimizes inventory costs and flight delays, and improve engineering productivity.</a:t>
            </a:r>
            <a:endParaRPr lang="en-SG" sz="160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F7C9462E-C407-46D7-33FA-935C25036686}"/>
              </a:ext>
            </a:extLst>
          </p:cNvPr>
          <p:cNvSpPr/>
          <p:nvPr/>
        </p:nvSpPr>
        <p:spPr>
          <a:xfrm>
            <a:off x="865632" y="5404102"/>
            <a:ext cx="2240280" cy="937063"/>
          </a:xfrm>
          <a:prstGeom prst="rect">
            <a:avLst/>
          </a:prstGeom>
          <a:solidFill>
            <a:schemeClr val="bg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solidFill>
                  <a:schemeClr val="tx1"/>
                </a:solidFill>
                <a:latin typeface="Arial" panose="020B0604020202020204" pitchFamily="34" charset="0"/>
                <a:cs typeface="Arial" panose="020B0604020202020204" pitchFamily="34" charset="0"/>
              </a:rPr>
              <a:t>Cost Reduction</a:t>
            </a:r>
          </a:p>
          <a:p>
            <a:pPr algn="ctr"/>
            <a:r>
              <a:rPr lang="en-SG" sz="1400">
                <a:solidFill>
                  <a:schemeClr val="tx1"/>
                </a:solidFill>
                <a:latin typeface="Arial" panose="020B0604020202020204" pitchFamily="34" charset="0"/>
                <a:cs typeface="Arial" panose="020B0604020202020204" pitchFamily="34" charset="0"/>
              </a:rPr>
              <a:t>Avoid premium emergency-repair costs</a:t>
            </a:r>
          </a:p>
        </p:txBody>
      </p:sp>
      <p:sp>
        <p:nvSpPr>
          <p:cNvPr id="43" name="Rectangle 42">
            <a:extLst>
              <a:ext uri="{FF2B5EF4-FFF2-40B4-BE49-F238E27FC236}">
                <a16:creationId xmlns:a16="http://schemas.microsoft.com/office/drawing/2014/main" id="{0A11AB95-DFCE-7B89-7A10-67D27E273104}"/>
              </a:ext>
            </a:extLst>
          </p:cNvPr>
          <p:cNvSpPr/>
          <p:nvPr/>
        </p:nvSpPr>
        <p:spPr>
          <a:xfrm>
            <a:off x="3602736" y="5404103"/>
            <a:ext cx="2240280" cy="937063"/>
          </a:xfrm>
          <a:prstGeom prst="rect">
            <a:avLst/>
          </a:prstGeom>
          <a:solidFill>
            <a:schemeClr val="bg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solidFill>
                  <a:schemeClr val="tx1"/>
                </a:solidFill>
                <a:latin typeface="Arial" panose="020B0604020202020204" pitchFamily="34" charset="0"/>
                <a:cs typeface="Arial" panose="020B0604020202020204" pitchFamily="34" charset="0"/>
              </a:rPr>
              <a:t>Risk Mitigation</a:t>
            </a:r>
          </a:p>
          <a:p>
            <a:pPr algn="ctr"/>
            <a:r>
              <a:rPr lang="en-SG" sz="1400">
                <a:solidFill>
                  <a:schemeClr val="tx1"/>
                </a:solidFill>
                <a:latin typeface="Arial" panose="020B0604020202020204" pitchFamily="34" charset="0"/>
                <a:cs typeface="Arial" panose="020B0604020202020204" pitchFamily="34" charset="0"/>
              </a:rPr>
              <a:t>Catch degradation before failure </a:t>
            </a:r>
          </a:p>
        </p:txBody>
      </p:sp>
      <p:sp>
        <p:nvSpPr>
          <p:cNvPr id="45" name="Rectangle 44">
            <a:extLst>
              <a:ext uri="{FF2B5EF4-FFF2-40B4-BE49-F238E27FC236}">
                <a16:creationId xmlns:a16="http://schemas.microsoft.com/office/drawing/2014/main" id="{4C28B003-8702-56E7-4099-3D2FF9D9469E}"/>
              </a:ext>
            </a:extLst>
          </p:cNvPr>
          <p:cNvSpPr/>
          <p:nvPr/>
        </p:nvSpPr>
        <p:spPr>
          <a:xfrm>
            <a:off x="6339840" y="5404103"/>
            <a:ext cx="2240280" cy="937063"/>
          </a:xfrm>
          <a:prstGeom prst="rect">
            <a:avLst/>
          </a:prstGeom>
          <a:solidFill>
            <a:schemeClr val="bg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solidFill>
                  <a:schemeClr val="tx1"/>
                </a:solidFill>
                <a:latin typeface="Arial" panose="020B0604020202020204" pitchFamily="34" charset="0"/>
                <a:cs typeface="Arial" panose="020B0604020202020204" pitchFamily="34" charset="0"/>
              </a:rPr>
              <a:t>Process Efficiency</a:t>
            </a:r>
          </a:p>
          <a:p>
            <a:pPr algn="ctr"/>
            <a:r>
              <a:rPr lang="en-US" sz="1400">
                <a:solidFill>
                  <a:schemeClr val="tx1"/>
                </a:solidFill>
                <a:latin typeface="Arial" panose="020B0604020202020204" pitchFamily="34" charset="0"/>
                <a:cs typeface="Arial" panose="020B0604020202020204" pitchFamily="34" charset="0"/>
              </a:rPr>
              <a:t>Smarter scheduling cuts unplanned downtime</a:t>
            </a:r>
          </a:p>
        </p:txBody>
      </p:sp>
      <p:sp>
        <p:nvSpPr>
          <p:cNvPr id="47" name="Rectangle 46">
            <a:extLst>
              <a:ext uri="{FF2B5EF4-FFF2-40B4-BE49-F238E27FC236}">
                <a16:creationId xmlns:a16="http://schemas.microsoft.com/office/drawing/2014/main" id="{8D497217-BC18-D89A-4BE0-0131B360F690}"/>
              </a:ext>
            </a:extLst>
          </p:cNvPr>
          <p:cNvSpPr/>
          <p:nvPr/>
        </p:nvSpPr>
        <p:spPr>
          <a:xfrm>
            <a:off x="9076944" y="5404103"/>
            <a:ext cx="2240280" cy="937063"/>
          </a:xfrm>
          <a:prstGeom prst="rect">
            <a:avLst/>
          </a:prstGeom>
          <a:solidFill>
            <a:schemeClr val="bg1"/>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a:solidFill>
                  <a:schemeClr val="tx1"/>
                </a:solidFill>
                <a:latin typeface="Arial" panose="020B0604020202020204" pitchFamily="34" charset="0"/>
                <a:cs typeface="Arial" panose="020B0604020202020204" pitchFamily="34" charset="0"/>
              </a:rPr>
              <a:t>Revenue Protection</a:t>
            </a:r>
          </a:p>
          <a:p>
            <a:pPr algn="ctr"/>
            <a:r>
              <a:rPr lang="en-US" sz="1400">
                <a:solidFill>
                  <a:schemeClr val="tx1"/>
                </a:solidFill>
                <a:latin typeface="Arial" panose="020B0604020202020204" pitchFamily="34" charset="0"/>
                <a:cs typeface="Arial" panose="020B0604020202020204" pitchFamily="34" charset="0"/>
              </a:rPr>
              <a:t>Fewer groundings means higher aircraft availability</a:t>
            </a:r>
          </a:p>
        </p:txBody>
      </p:sp>
    </p:spTree>
    <p:extLst>
      <p:ext uri="{BB962C8B-B14F-4D97-AF65-F5344CB8AC3E}">
        <p14:creationId xmlns:p14="http://schemas.microsoft.com/office/powerpoint/2010/main" val="141064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45BB8-629A-46B9-91AF-1BDE29177B4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0372F5B-FEEC-A6B2-3BAB-A5C28B3AA656}"/>
              </a:ext>
            </a:extLst>
          </p:cNvPr>
          <p:cNvSpPr/>
          <p:nvPr/>
        </p:nvSpPr>
        <p:spPr>
          <a:xfrm>
            <a:off x="3867912" y="256032"/>
            <a:ext cx="451713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Dataset</a:t>
            </a:r>
            <a:endParaRPr lang="en-SG" sz="2800">
              <a:latin typeface="Aharoni" panose="02010803020104030203" pitchFamily="2" charset="-79"/>
              <a:cs typeface="Aharoni" panose="02010803020104030203" pitchFamily="2" charset="-79"/>
            </a:endParaRPr>
          </a:p>
        </p:txBody>
      </p:sp>
      <p:sp>
        <p:nvSpPr>
          <p:cNvPr id="3" name="TextBox 2">
            <a:extLst>
              <a:ext uri="{FF2B5EF4-FFF2-40B4-BE49-F238E27FC236}">
                <a16:creationId xmlns:a16="http://schemas.microsoft.com/office/drawing/2014/main" id="{5CA781A2-357F-44BF-0032-C8B00FAB58C3}"/>
              </a:ext>
            </a:extLst>
          </p:cNvPr>
          <p:cNvSpPr txBox="1"/>
          <p:nvPr/>
        </p:nvSpPr>
        <p:spPr>
          <a:xfrm>
            <a:off x="4373525" y="6448079"/>
            <a:ext cx="8023045" cy="30777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a:ea typeface="+mn-ea"/>
                <a:cs typeface="Arial"/>
              </a:rPr>
              <a:t>Dataset: </a:t>
            </a:r>
            <a:r>
              <a:rPr kumimoji="0" lang="en-US" sz="1400" b="0" i="0" u="none" strike="noStrike" kern="1200" cap="none" spc="0" normalizeH="0" baseline="0" noProof="0">
                <a:ln>
                  <a:noFill/>
                </a:ln>
                <a:solidFill>
                  <a:srgbClr val="0F6FC6"/>
                </a:solidFill>
                <a:effectLst/>
                <a:uLnTx/>
                <a:uFillTx/>
                <a:latin typeface="Arial"/>
                <a:ea typeface="+mn-ea"/>
                <a:cs typeface="Arial"/>
                <a:hlinkClick r:id="rId3">
                  <a:extLst>
                    <a:ext uri="{A12FA001-AC4F-418D-AE19-62706E023703}">
                      <ahyp:hlinkClr xmlns:ahyp="http://schemas.microsoft.com/office/drawing/2018/hyperlinkcolor" val="tx"/>
                    </a:ext>
                  </a:extLst>
                </a:hlinkClick>
              </a:rPr>
              <a:t>https://www.kaggle.com/datasets/hooong/aviation-maintenance-dataset-from-the-ngafid</a:t>
            </a:r>
            <a:endParaRPr kumimoji="0" lang="en-SG" sz="1400" b="0" i="0" u="none" strike="noStrike" kern="1200" cap="none" spc="0" normalizeH="0" baseline="0" noProof="0">
              <a:ln>
                <a:noFill/>
              </a:ln>
              <a:solidFill>
                <a:srgbClr val="0F6FC6"/>
              </a:solidFill>
              <a:effectLst/>
              <a:uLnTx/>
              <a:uFillTx/>
              <a:latin typeface="Arial"/>
              <a:ea typeface="+mn-ea"/>
              <a:cs typeface="Arial"/>
              <a:hlinkClick r:id="" action="ppaction://noaction">
                <a:extLst>
                  <a:ext uri="{A12FA001-AC4F-418D-AE19-62706E023703}">
                    <ahyp:hlinkClr xmlns:ahyp="http://schemas.microsoft.com/office/drawing/2018/hyperlinkcolor" val="tx"/>
                  </a:ext>
                </a:extLst>
              </a:hlinkClick>
            </a:endParaRPr>
          </a:p>
        </p:txBody>
      </p:sp>
      <p:sp>
        <p:nvSpPr>
          <p:cNvPr id="8" name="TextBox 7">
            <a:extLst>
              <a:ext uri="{FF2B5EF4-FFF2-40B4-BE49-F238E27FC236}">
                <a16:creationId xmlns:a16="http://schemas.microsoft.com/office/drawing/2014/main" id="{326F880A-18C6-6800-C0C0-011261BAEA5D}"/>
              </a:ext>
            </a:extLst>
          </p:cNvPr>
          <p:cNvSpPr txBox="1"/>
          <p:nvPr/>
        </p:nvSpPr>
        <p:spPr>
          <a:xfrm>
            <a:off x="733918" y="811113"/>
            <a:ext cx="10454640" cy="861774"/>
          </a:xfrm>
          <a:prstGeom prst="rect">
            <a:avLst/>
          </a:prstGeom>
          <a:noFill/>
        </p:spPr>
        <p:txBody>
          <a:bodyPr wrap="square" rtlCol="0">
            <a:spAutoFit/>
          </a:bodyPr>
          <a:lstStyle/>
          <a:p>
            <a:pPr algn="just"/>
            <a:r>
              <a:rPr lang="en-SG" u="sng">
                <a:latin typeface="Aharoni" panose="02010803020104030203" pitchFamily="2" charset="-79"/>
                <a:cs typeface="Aharoni" panose="02010803020104030203" pitchFamily="2" charset="-79"/>
              </a:rPr>
              <a:t>About the Dataset:</a:t>
            </a:r>
          </a:p>
          <a:p>
            <a:pPr algn="just"/>
            <a:r>
              <a:rPr lang="en-US" sz="1600">
                <a:solidFill>
                  <a:prstClr val="black"/>
                </a:solidFill>
                <a:latin typeface="Arial" panose="020B0604020202020204" pitchFamily="34" charset="0"/>
                <a:cs typeface="Arial" panose="020B0604020202020204" pitchFamily="34" charset="0"/>
              </a:rPr>
              <a:t>This dataset uses flight records and unplanned maintenance logs from a Cessna 172 aircraft, sourced from the National General Aviation Flight Information Database (NGAFID).</a:t>
            </a:r>
            <a:endParaRPr lang="en-SG" sz="1600">
              <a:solidFill>
                <a:prstClr val="black"/>
              </a:solidFill>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6ED9A975-DC6B-EC7A-9948-F70DAC19A23B}"/>
              </a:ext>
            </a:extLst>
          </p:cNvPr>
          <p:cNvGrpSpPr/>
          <p:nvPr/>
        </p:nvGrpSpPr>
        <p:grpSpPr>
          <a:xfrm>
            <a:off x="347473" y="3785616"/>
            <a:ext cx="7161784" cy="2582078"/>
            <a:chOff x="347472" y="3597062"/>
            <a:chExt cx="7933023" cy="2770632"/>
          </a:xfrm>
        </p:grpSpPr>
        <p:pic>
          <p:nvPicPr>
            <p:cNvPr id="12" name="Picture 11">
              <a:extLst>
                <a:ext uri="{FF2B5EF4-FFF2-40B4-BE49-F238E27FC236}">
                  <a16:creationId xmlns:a16="http://schemas.microsoft.com/office/drawing/2014/main" id="{A0088241-6935-10B4-8604-866E288AF356}"/>
                </a:ext>
              </a:extLst>
            </p:cNvPr>
            <p:cNvPicPr>
              <a:picLocks noChangeAspect="1"/>
            </p:cNvPicPr>
            <p:nvPr/>
          </p:nvPicPr>
          <p:blipFill>
            <a:blip r:embed="rId4">
              <a:extLst>
                <a:ext uri="{28A0092B-C50C-407E-A947-70E740481C1C}">
                  <a14:useLocalDpi xmlns:a14="http://schemas.microsoft.com/office/drawing/2010/main" val="0"/>
                </a:ext>
              </a:extLst>
            </a:blip>
            <a:srcRect l="11445" t="48533" r="34389" b="11067"/>
            <a:stretch>
              <a:fillRect/>
            </a:stretch>
          </p:blipFill>
          <p:spPr>
            <a:xfrm>
              <a:off x="347472" y="3597062"/>
              <a:ext cx="5943600" cy="2770632"/>
            </a:xfrm>
            <a:prstGeom prst="rect">
              <a:avLst/>
            </a:prstGeom>
          </p:spPr>
        </p:pic>
        <p:pic>
          <p:nvPicPr>
            <p:cNvPr id="14" name="Picture 13">
              <a:extLst>
                <a:ext uri="{FF2B5EF4-FFF2-40B4-BE49-F238E27FC236}">
                  <a16:creationId xmlns:a16="http://schemas.microsoft.com/office/drawing/2014/main" id="{9C1E0C60-8B00-C5B5-EDA9-205B201DB26A}"/>
                </a:ext>
              </a:extLst>
            </p:cNvPr>
            <p:cNvPicPr>
              <a:picLocks noChangeAspect="1"/>
            </p:cNvPicPr>
            <p:nvPr/>
          </p:nvPicPr>
          <p:blipFill>
            <a:blip r:embed="rId5"/>
            <a:srcRect l="12944" t="48800" r="36890" b="10800"/>
            <a:stretch>
              <a:fillRect/>
            </a:stretch>
          </p:blipFill>
          <p:spPr>
            <a:xfrm>
              <a:off x="3059271" y="3611882"/>
              <a:ext cx="5221224" cy="2755812"/>
            </a:xfrm>
            <a:prstGeom prst="rect">
              <a:avLst/>
            </a:prstGeom>
          </p:spPr>
        </p:pic>
      </p:grpSp>
      <p:pic>
        <p:nvPicPr>
          <p:cNvPr id="17" name="Picture 16">
            <a:extLst>
              <a:ext uri="{FF2B5EF4-FFF2-40B4-BE49-F238E27FC236}">
                <a16:creationId xmlns:a16="http://schemas.microsoft.com/office/drawing/2014/main" id="{85EBE615-7FEE-BA1B-B794-F22FA2611F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5672" y="2019844"/>
            <a:ext cx="5688050" cy="1629903"/>
          </a:xfrm>
          <a:prstGeom prst="rect">
            <a:avLst/>
          </a:prstGeom>
          <a:ln>
            <a:noFill/>
          </a:ln>
        </p:spPr>
      </p:pic>
      <p:sp>
        <p:nvSpPr>
          <p:cNvPr id="19" name="TextBox 18">
            <a:extLst>
              <a:ext uri="{FF2B5EF4-FFF2-40B4-BE49-F238E27FC236}">
                <a16:creationId xmlns:a16="http://schemas.microsoft.com/office/drawing/2014/main" id="{7746964A-7A3D-28D8-B32D-721A07FF4470}"/>
              </a:ext>
            </a:extLst>
          </p:cNvPr>
          <p:cNvSpPr txBox="1"/>
          <p:nvPr/>
        </p:nvSpPr>
        <p:spPr>
          <a:xfrm>
            <a:off x="347473" y="3477839"/>
            <a:ext cx="20267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b="0" i="0" u="sng" strike="noStrike" kern="1200" cap="none" spc="0" normalizeH="0" baseline="0" noProof="0">
                <a:ln>
                  <a:noFill/>
                </a:ln>
                <a:solidFill>
                  <a:prstClr val="black"/>
                </a:solidFill>
                <a:effectLst/>
                <a:uLnTx/>
                <a:uFillTx/>
                <a:latin typeface="Aharoni" panose="02010803020104030203" pitchFamily="2" charset="-79"/>
                <a:cs typeface="Aharoni" panose="02010803020104030203" pitchFamily="2" charset="-79"/>
              </a:rPr>
              <a:t>Sensor Data</a:t>
            </a:r>
          </a:p>
        </p:txBody>
      </p:sp>
      <p:sp>
        <p:nvSpPr>
          <p:cNvPr id="21" name="TextBox 20">
            <a:extLst>
              <a:ext uri="{FF2B5EF4-FFF2-40B4-BE49-F238E27FC236}">
                <a16:creationId xmlns:a16="http://schemas.microsoft.com/office/drawing/2014/main" id="{8AE99628-4C9F-4AC7-F5D9-2769B49FAFF1}"/>
              </a:ext>
            </a:extLst>
          </p:cNvPr>
          <p:cNvSpPr txBox="1"/>
          <p:nvPr/>
        </p:nvSpPr>
        <p:spPr>
          <a:xfrm>
            <a:off x="6275464" y="1679042"/>
            <a:ext cx="5047827" cy="369332"/>
          </a:xfrm>
          <a:prstGeom prst="rect">
            <a:avLst/>
          </a:prstGeom>
          <a:noFill/>
        </p:spPr>
        <p:txBody>
          <a:bodyPr wrap="square" lIns="91440" tIns="45720" rIns="91440" bIns="45720" rtlCol="0" anchor="t">
            <a:spAutoFit/>
          </a:bodyPr>
          <a:lstStyle/>
          <a:p>
            <a:pPr>
              <a:defRPr/>
            </a:pPr>
            <a:r>
              <a:rPr kumimoji="0" lang="en-SG" b="0" i="0" u="sng" strike="noStrike" kern="1200" cap="none" spc="0" normalizeH="0" baseline="0" noProof="0">
                <a:ln>
                  <a:noFill/>
                </a:ln>
                <a:solidFill>
                  <a:prstClr val="black"/>
                </a:solidFill>
                <a:effectLst/>
                <a:uLnTx/>
                <a:uFillTx/>
                <a:latin typeface="Aharoni"/>
                <a:cs typeface="Aharoni"/>
              </a:rPr>
              <a:t>Flight Metadata</a:t>
            </a:r>
            <a:r>
              <a:rPr lang="en-SG" u="sng">
                <a:solidFill>
                  <a:prstClr val="black"/>
                </a:solidFill>
                <a:latin typeface="Aharoni"/>
                <a:cs typeface="Aharoni"/>
              </a:rPr>
              <a:t> (raw header)</a:t>
            </a:r>
            <a:endParaRPr lang="en-SG" i="0" u="sng" strike="noStrike" kern="1200" cap="none" spc="0" normalizeH="0" baseline="0" noProof="0">
              <a:ln>
                <a:noFill/>
              </a:ln>
              <a:solidFill>
                <a:prstClr val="black"/>
              </a:solidFill>
              <a:effectLst/>
              <a:uLnTx/>
              <a:uFillTx/>
              <a:latin typeface="Aharoni" panose="02010803020104030203" pitchFamily="2" charset="-79"/>
              <a:cs typeface="Aharoni" panose="02010803020104030203" pitchFamily="2" charset="-79"/>
            </a:endParaRPr>
          </a:p>
        </p:txBody>
      </p:sp>
      <p:grpSp>
        <p:nvGrpSpPr>
          <p:cNvPr id="34" name="Group 33">
            <a:extLst>
              <a:ext uri="{FF2B5EF4-FFF2-40B4-BE49-F238E27FC236}">
                <a16:creationId xmlns:a16="http://schemas.microsoft.com/office/drawing/2014/main" id="{D2417B90-25C5-753A-559A-F5104143B195}"/>
              </a:ext>
            </a:extLst>
          </p:cNvPr>
          <p:cNvGrpSpPr/>
          <p:nvPr/>
        </p:nvGrpSpPr>
        <p:grpSpPr>
          <a:xfrm>
            <a:off x="529439" y="1741878"/>
            <a:ext cx="5431799" cy="646579"/>
            <a:chOff x="281444" y="1806616"/>
            <a:chExt cx="5431799" cy="585371"/>
          </a:xfrm>
        </p:grpSpPr>
        <p:sp>
          <p:nvSpPr>
            <p:cNvPr id="23" name="Rectangle 22">
              <a:extLst>
                <a:ext uri="{FF2B5EF4-FFF2-40B4-BE49-F238E27FC236}">
                  <a16:creationId xmlns:a16="http://schemas.microsoft.com/office/drawing/2014/main" id="{F8846394-0662-7547-757C-302F7857BD5F}"/>
                </a:ext>
              </a:extLst>
            </p:cNvPr>
            <p:cNvSpPr/>
            <p:nvPr/>
          </p:nvSpPr>
          <p:spPr>
            <a:xfrm>
              <a:off x="281444" y="1806617"/>
              <a:ext cx="1094777" cy="556942"/>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29k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050" b="0" i="1" u="none" strike="noStrike" kern="1200" cap="none" spc="0" normalizeH="0" baseline="0" noProof="0">
                  <a:ln>
                    <a:noFill/>
                  </a:ln>
                  <a:solidFill>
                    <a:prstClr val="black"/>
                  </a:solidFill>
                  <a:effectLst/>
                  <a:uLnTx/>
                  <a:uFillTx/>
                  <a:latin typeface="Arial"/>
                  <a:ea typeface="+mn-ea"/>
                  <a:cs typeface="Arial"/>
                </a:rPr>
                <a:t>flights</a:t>
              </a:r>
              <a:endParaRPr kumimoji="0" lang="en-SG"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66DDB486-9C72-2404-FD06-217A8BB2AAB6}"/>
                </a:ext>
              </a:extLst>
            </p:cNvPr>
            <p:cNvSpPr/>
            <p:nvPr/>
          </p:nvSpPr>
          <p:spPr>
            <a:xfrm>
              <a:off x="3698079" y="1810895"/>
              <a:ext cx="2015164" cy="581092"/>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a:ln>
                    <a:noFill/>
                  </a:ln>
                  <a:solidFill>
                    <a:prstClr val="black"/>
                  </a:solidFill>
                  <a:effectLst/>
                  <a:uLnTx/>
                  <a:uFillTx/>
                  <a:latin typeface="Arial"/>
                  <a:ea typeface="+mn-ea"/>
                  <a:cs typeface="Arial"/>
                </a:rPr>
                <a:t>Multivariate time series </a:t>
              </a:r>
              <a:r>
                <a:rPr kumimoji="0" lang="en-SG" sz="1050" b="0" i="1" u="none" strike="noStrike" kern="1200" cap="none" spc="0" normalizeH="0" baseline="0" noProof="0">
                  <a:ln>
                    <a:noFill/>
                  </a:ln>
                  <a:solidFill>
                    <a:prstClr val="black"/>
                  </a:solidFill>
                  <a:effectLst/>
                  <a:uLnTx/>
                  <a:uFillTx/>
                  <a:latin typeface="Arial"/>
                  <a:ea typeface="+mn-ea"/>
                  <a:cs typeface="Arial"/>
                </a:rPr>
                <a:t>of sensor/flight </a:t>
              </a:r>
              <a:br>
                <a:rPr kumimoji="0" lang="en-SG" sz="1050" b="0" i="1" u="none" strike="noStrike" kern="1200" cap="none" spc="0" normalizeH="0" baseline="0" noProof="0">
                  <a:ln>
                    <a:noFill/>
                  </a:ln>
                  <a:solidFill>
                    <a:prstClr val="black"/>
                  </a:solidFill>
                  <a:effectLst/>
                  <a:uLnTx/>
                  <a:uFillTx/>
                  <a:latin typeface="Arial"/>
                  <a:ea typeface="+mn-ea"/>
                  <a:cs typeface="Arial"/>
                </a:rPr>
              </a:br>
              <a:r>
                <a:rPr kumimoji="0" lang="en-SG" sz="1050" b="0" i="1" u="none" strike="noStrike" kern="1200" cap="none" spc="0" normalizeH="0" baseline="0" noProof="0">
                  <a:ln>
                    <a:noFill/>
                  </a:ln>
                  <a:solidFill>
                    <a:prstClr val="black"/>
                  </a:solidFill>
                  <a:effectLst/>
                  <a:uLnTx/>
                  <a:uFillTx/>
                  <a:latin typeface="Arial"/>
                  <a:ea typeface="+mn-ea"/>
                  <a:cs typeface="Arial"/>
                </a:rPr>
                <a:t>⇒ 113 million records</a:t>
              </a: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endParaRPr>
            </a:p>
          </p:txBody>
        </p:sp>
        <p:sp>
          <p:nvSpPr>
            <p:cNvPr id="29" name="TextBox 28">
              <a:extLst>
                <a:ext uri="{FF2B5EF4-FFF2-40B4-BE49-F238E27FC236}">
                  <a16:creationId xmlns:a16="http://schemas.microsoft.com/office/drawing/2014/main" id="{A0F2A471-0606-5896-19C9-1D23B21BF013}"/>
                </a:ext>
              </a:extLst>
            </p:cNvPr>
            <p:cNvSpPr txBox="1"/>
            <p:nvPr/>
          </p:nvSpPr>
          <p:spPr>
            <a:xfrm>
              <a:off x="1364892" y="1860052"/>
              <a:ext cx="1534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X</a:t>
              </a:r>
            </a:p>
          </p:txBody>
        </p:sp>
        <p:sp>
          <p:nvSpPr>
            <p:cNvPr id="31" name="TextBox 30">
              <a:extLst>
                <a:ext uri="{FF2B5EF4-FFF2-40B4-BE49-F238E27FC236}">
                  <a16:creationId xmlns:a16="http://schemas.microsoft.com/office/drawing/2014/main" id="{CA77E2D7-C66F-993F-4EDE-42DA98CBFA61}"/>
                </a:ext>
              </a:extLst>
            </p:cNvPr>
            <p:cNvSpPr txBox="1"/>
            <p:nvPr/>
          </p:nvSpPr>
          <p:spPr>
            <a:xfrm>
              <a:off x="3408979" y="1900422"/>
              <a:ext cx="1534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p>
          </p:txBody>
        </p:sp>
        <p:sp>
          <p:nvSpPr>
            <p:cNvPr id="33" name="Rectangle 32">
              <a:extLst>
                <a:ext uri="{FF2B5EF4-FFF2-40B4-BE49-F238E27FC236}">
                  <a16:creationId xmlns:a16="http://schemas.microsoft.com/office/drawing/2014/main" id="{668BA7DC-A33B-BD24-29E6-798600DDB80E}"/>
                </a:ext>
              </a:extLst>
            </p:cNvPr>
            <p:cNvSpPr/>
            <p:nvPr/>
          </p:nvSpPr>
          <p:spPr>
            <a:xfrm>
              <a:off x="1600515" y="1806616"/>
              <a:ext cx="1803085" cy="585371"/>
            </a:xfrm>
            <a:prstGeom prst="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4,400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050" b="0" i="1" u="none" strike="noStrike" kern="1200" cap="none" spc="0" normalizeH="0" baseline="0" noProof="0">
                  <a:ln>
                    <a:noFill/>
                  </a:ln>
                  <a:solidFill>
                    <a:prstClr val="black"/>
                  </a:solidFill>
                  <a:effectLst/>
                  <a:uLnTx/>
                  <a:uFillTx/>
                  <a:latin typeface="Arial"/>
                  <a:ea typeface="+mn-ea"/>
                  <a:cs typeface="Arial"/>
                </a:rPr>
                <a:t>Median timesteps per flight</a:t>
              </a:r>
              <a:endParaRPr kumimoji="0" lang="en-SG" sz="105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aphicFrame>
        <p:nvGraphicFramePr>
          <p:cNvPr id="36" name="Table 35">
            <a:extLst>
              <a:ext uri="{FF2B5EF4-FFF2-40B4-BE49-F238E27FC236}">
                <a16:creationId xmlns:a16="http://schemas.microsoft.com/office/drawing/2014/main" id="{9CAE8605-8F9B-D69F-F05B-5D50DBFEBA18}"/>
              </a:ext>
            </a:extLst>
          </p:cNvPr>
          <p:cNvGraphicFramePr>
            <a:graphicFrameLocks noGrp="1"/>
          </p:cNvGraphicFramePr>
          <p:nvPr>
            <p:extLst>
              <p:ext uri="{D42A27DB-BD31-4B8C-83A1-F6EECF244321}">
                <p14:modId xmlns:p14="http://schemas.microsoft.com/office/powerpoint/2010/main" val="2050084641"/>
              </p:ext>
            </p:extLst>
          </p:nvPr>
        </p:nvGraphicFramePr>
        <p:xfrm>
          <a:off x="7823483" y="4125577"/>
          <a:ext cx="4140239" cy="1991294"/>
        </p:xfrm>
        <a:graphic>
          <a:graphicData uri="http://schemas.openxmlformats.org/drawingml/2006/table">
            <a:tbl>
              <a:tblPr/>
              <a:tblGrid>
                <a:gridCol w="691827">
                  <a:extLst>
                    <a:ext uri="{9D8B030D-6E8A-4147-A177-3AD203B41FA5}">
                      <a16:colId xmlns:a16="http://schemas.microsoft.com/office/drawing/2014/main" val="1229744415"/>
                    </a:ext>
                  </a:extLst>
                </a:gridCol>
                <a:gridCol w="3448412">
                  <a:extLst>
                    <a:ext uri="{9D8B030D-6E8A-4147-A177-3AD203B41FA5}">
                      <a16:colId xmlns:a16="http://schemas.microsoft.com/office/drawing/2014/main" val="1612075412"/>
                    </a:ext>
                  </a:extLst>
                </a:gridCol>
              </a:tblGrid>
              <a:tr h="257361">
                <a:tc>
                  <a:txBody>
                    <a:bodyPr/>
                    <a:lstStyle/>
                    <a:p>
                      <a:pPr>
                        <a:buNone/>
                      </a:pPr>
                      <a:r>
                        <a:rPr lang="en-SG" sz="900">
                          <a:latin typeface="Arial" panose="020B0604020202020204" pitchFamily="34" charset="0"/>
                          <a:cs typeface="Arial" panose="020B0604020202020204" pitchFamily="34" charset="0"/>
                        </a:rPr>
                        <a:t>Column Name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SG" sz="900">
                          <a:latin typeface="Arial" panose="020B0604020202020204" pitchFamily="34" charset="0"/>
                          <a:cs typeface="Arial" panose="020B0604020202020204" pitchFamily="34" charset="0"/>
                        </a:rPr>
                        <a:t>Description</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531031922"/>
                  </a:ext>
                </a:extLst>
              </a:tr>
              <a:tr h="257361">
                <a:tc>
                  <a:txBody>
                    <a:bodyPr/>
                    <a:lstStyle/>
                    <a:p>
                      <a:pPr>
                        <a:buNone/>
                      </a:pPr>
                      <a:r>
                        <a:rPr lang="en-SG" sz="900">
                          <a:latin typeface="Arial" panose="020B0604020202020204" pitchFamily="34" charset="0"/>
                          <a:cs typeface="Arial" panose="020B0604020202020204" pitchFamily="34" charset="0"/>
                        </a:rPr>
                        <a:t>Master Index</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Primary Key to link to the flight records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4969703"/>
                  </a:ext>
                </a:extLst>
              </a:tr>
              <a:tr h="257361">
                <a:tc>
                  <a:txBody>
                    <a:bodyPr/>
                    <a:lstStyle/>
                    <a:p>
                      <a:pPr>
                        <a:buNone/>
                      </a:pPr>
                      <a:r>
                        <a:rPr lang="en-SG" sz="900">
                          <a:latin typeface="Arial" panose="020B0604020202020204" pitchFamily="34" charset="0"/>
                          <a:cs typeface="Arial" panose="020B0604020202020204" pitchFamily="34" charset="0"/>
                        </a:rPr>
                        <a:t>Before After</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Whether or not a flight occurred before or after maintenance. Some flights occurred during maintenance (generally test flights)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3192441"/>
                  </a:ext>
                </a:extLst>
              </a:tr>
              <a:tr h="172687">
                <a:tc>
                  <a:txBody>
                    <a:bodyPr/>
                    <a:lstStyle/>
                    <a:p>
                      <a:pPr>
                        <a:buNone/>
                      </a:pPr>
                      <a:r>
                        <a:rPr lang="en-SG" sz="900">
                          <a:latin typeface="Arial" panose="020B0604020202020204" pitchFamily="34" charset="0"/>
                          <a:cs typeface="Arial" panose="020B0604020202020204" pitchFamily="34" charset="0"/>
                        </a:rPr>
                        <a:t>Date Diff</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Days before or after the maintenance period</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190504"/>
                  </a:ext>
                </a:extLst>
              </a:tr>
              <a:tr h="257361">
                <a:tc>
                  <a:txBody>
                    <a:bodyPr/>
                    <a:lstStyle/>
                    <a:p>
                      <a:pPr>
                        <a:buNone/>
                      </a:pPr>
                      <a:r>
                        <a:rPr lang="en-SG" sz="900">
                          <a:latin typeface="Arial" panose="020B0604020202020204" pitchFamily="34" charset="0"/>
                          <a:cs typeface="Arial" panose="020B0604020202020204" pitchFamily="34" charset="0"/>
                        </a:rPr>
                        <a:t>Flight Length</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Number of flight recordings for the whole flight (duration of flight in seconds)</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717396"/>
                  </a:ext>
                </a:extLst>
              </a:tr>
              <a:tr h="128681">
                <a:tc>
                  <a:txBody>
                    <a:bodyPr/>
                    <a:lstStyle/>
                    <a:p>
                      <a:pPr>
                        <a:buNone/>
                      </a:pPr>
                      <a:r>
                        <a:rPr lang="en-SG" sz="900">
                          <a:latin typeface="Arial" panose="020B0604020202020204" pitchFamily="34" charset="0"/>
                          <a:cs typeface="Arial" panose="020B0604020202020204" pitchFamily="34" charset="0"/>
                        </a:rPr>
                        <a:t>Label</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SG" sz="900">
                          <a:latin typeface="Arial" panose="020B0604020202020204" pitchFamily="34" charset="0"/>
                          <a:cs typeface="Arial" panose="020B0604020202020204" pitchFamily="34" charset="0"/>
                        </a:rPr>
                        <a:t>Maintenance Issue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21741"/>
                  </a:ext>
                </a:extLst>
              </a:tr>
              <a:tr h="172687">
                <a:tc>
                  <a:txBody>
                    <a:bodyPr/>
                    <a:lstStyle/>
                    <a:p>
                      <a:pPr>
                        <a:buNone/>
                      </a:pPr>
                      <a:r>
                        <a:rPr lang="en-SG" sz="900">
                          <a:latin typeface="Arial" panose="020B0604020202020204" pitchFamily="34" charset="0"/>
                          <a:cs typeface="Arial" panose="020B0604020202020204" pitchFamily="34" charset="0"/>
                        </a:rPr>
                        <a:t>Hierarchy</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900">
                          <a:latin typeface="Arial" panose="020B0604020202020204" pitchFamily="34" charset="0"/>
                          <a:cs typeface="Arial" panose="020B0604020202020204" pitchFamily="34" charset="0"/>
                        </a:rPr>
                        <a:t>Maintenance Issue Hierarchy, if </a:t>
                      </a:r>
                      <a:r>
                        <a:rPr lang="en-US" sz="900" err="1">
                          <a:latin typeface="Arial" panose="020B0604020202020204" pitchFamily="34" charset="0"/>
                          <a:cs typeface="Arial" panose="020B0604020202020204" pitchFamily="34" charset="0"/>
                        </a:rPr>
                        <a:t>NaN</a:t>
                      </a:r>
                      <a:r>
                        <a:rPr lang="en-US" sz="900">
                          <a:latin typeface="Arial" panose="020B0604020202020204" pitchFamily="34" charset="0"/>
                          <a:cs typeface="Arial" panose="020B0604020202020204" pitchFamily="34" charset="0"/>
                        </a:rPr>
                        <a:t> then Other.</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7940902"/>
                  </a:ext>
                </a:extLst>
              </a:tr>
              <a:tr h="386042">
                <a:tc>
                  <a:txBody>
                    <a:bodyPr/>
                    <a:lstStyle/>
                    <a:p>
                      <a:pPr>
                        <a:buNone/>
                      </a:pPr>
                      <a:r>
                        <a:rPr lang="en-SG" sz="900">
                          <a:latin typeface="Arial" panose="020B0604020202020204" pitchFamily="34" charset="0"/>
                          <a:cs typeface="Arial" panose="020B0604020202020204" pitchFamily="34" charset="0"/>
                        </a:rPr>
                        <a:t>Number of Flights Before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900">
                          <a:latin typeface="Arial" panose="020B0604020202020204" pitchFamily="34" charset="0"/>
                          <a:cs typeface="Arial" panose="020B0604020202020204" pitchFamily="34" charset="0"/>
                        </a:rPr>
                        <a:t>The Nth flight before maintenance, with 0 representing the flight immediately before and -1 representing not applicable.</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3551913"/>
                  </a:ext>
                </a:extLst>
              </a:tr>
            </a:tbl>
          </a:graphicData>
        </a:graphic>
      </p:graphicFrame>
      <p:sp>
        <p:nvSpPr>
          <p:cNvPr id="44" name="Arrow: Down 43">
            <a:extLst>
              <a:ext uri="{FF2B5EF4-FFF2-40B4-BE49-F238E27FC236}">
                <a16:creationId xmlns:a16="http://schemas.microsoft.com/office/drawing/2014/main" id="{8BB7678E-BD55-601D-44BD-A29489D1C031}"/>
              </a:ext>
            </a:extLst>
          </p:cNvPr>
          <p:cNvSpPr/>
          <p:nvPr/>
        </p:nvSpPr>
        <p:spPr>
          <a:xfrm>
            <a:off x="9634888" y="3558314"/>
            <a:ext cx="322530" cy="544063"/>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TextBox 45">
            <a:extLst>
              <a:ext uri="{FF2B5EF4-FFF2-40B4-BE49-F238E27FC236}">
                <a16:creationId xmlns:a16="http://schemas.microsoft.com/office/drawing/2014/main" id="{8CAF5A67-BE22-7F0E-059E-5AA95860C941}"/>
              </a:ext>
            </a:extLst>
          </p:cNvPr>
          <p:cNvSpPr txBox="1"/>
          <p:nvPr/>
        </p:nvSpPr>
        <p:spPr>
          <a:xfrm>
            <a:off x="529439" y="2563816"/>
            <a:ext cx="5431799" cy="738664"/>
          </a:xfrm>
          <a:prstGeom prst="rect">
            <a:avLst/>
          </a:prstGeom>
          <a:solidFill>
            <a:schemeClr val="bg1"/>
          </a:solidFill>
          <a:ln w="19050">
            <a:solidFill>
              <a:schemeClr val="accent4"/>
            </a:solidFill>
          </a:ln>
        </p:spPr>
        <p:txBody>
          <a:bodyPr wrap="square" rtlCol="0">
            <a:spAutoFit/>
          </a:bodyPr>
          <a:lstStyle/>
          <a:p>
            <a:pPr algn="just"/>
            <a:r>
              <a:rPr lang="en-SG" sz="1400">
                <a:latin typeface="Arial" panose="020B0604020202020204" pitchFamily="34" charset="0"/>
                <a:cs typeface="Arial" panose="020B0604020202020204" pitchFamily="34" charset="0"/>
              </a:rPr>
              <a:t>Each flight records information from 23 sensors every second. </a:t>
            </a:r>
            <a:r>
              <a:rPr lang="en-US" sz="1400">
                <a:latin typeface="Arial" panose="020B0604020202020204" pitchFamily="34" charset="0"/>
                <a:cs typeface="Arial" panose="020B0604020202020204" pitchFamily="34" charset="0"/>
              </a:rPr>
              <a:t>We know each flight’s position relative to maintenance in terms of timing, order, and whether it occurs before or after the event.</a:t>
            </a:r>
            <a:endParaRPr lang="en-SG"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8602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3564-CB66-9058-1021-B963B1C09F1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EFE58C0-B4FD-CF76-1F78-76BD1F934702}"/>
              </a:ext>
            </a:extLst>
          </p:cNvPr>
          <p:cNvSpPr/>
          <p:nvPr/>
        </p:nvSpPr>
        <p:spPr>
          <a:xfrm>
            <a:off x="4271771" y="283464"/>
            <a:ext cx="3648457"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Field Description</a:t>
            </a:r>
            <a:endParaRPr lang="en-SG" sz="2800">
              <a:latin typeface="Aharoni" panose="02010803020104030203" pitchFamily="2" charset="-79"/>
              <a:cs typeface="Aharoni" panose="02010803020104030203" pitchFamily="2" charset="-79"/>
            </a:endParaRPr>
          </a:p>
        </p:txBody>
      </p:sp>
      <p:graphicFrame>
        <p:nvGraphicFramePr>
          <p:cNvPr id="7" name="Table 6">
            <a:extLst>
              <a:ext uri="{FF2B5EF4-FFF2-40B4-BE49-F238E27FC236}">
                <a16:creationId xmlns:a16="http://schemas.microsoft.com/office/drawing/2014/main" id="{BCE81A83-188F-F3C4-37AD-7D1A4E2407AF}"/>
              </a:ext>
            </a:extLst>
          </p:cNvPr>
          <p:cNvGraphicFramePr>
            <a:graphicFrameLocks noGrp="1"/>
          </p:cNvGraphicFramePr>
          <p:nvPr>
            <p:extLst>
              <p:ext uri="{D42A27DB-BD31-4B8C-83A1-F6EECF244321}">
                <p14:modId xmlns:p14="http://schemas.microsoft.com/office/powerpoint/2010/main" val="2065023766"/>
              </p:ext>
            </p:extLst>
          </p:nvPr>
        </p:nvGraphicFramePr>
        <p:xfrm>
          <a:off x="580406" y="1137932"/>
          <a:ext cx="5278439" cy="5382968"/>
        </p:xfrm>
        <a:graphic>
          <a:graphicData uri="http://schemas.openxmlformats.org/drawingml/2006/table">
            <a:tbl>
              <a:tblPr firstRow="1" bandRow="1">
                <a:tableStyleId>{5C22544A-7EE6-4342-B048-85BDC9FD1C3A}</a:tableStyleId>
              </a:tblPr>
              <a:tblGrid>
                <a:gridCol w="836841">
                  <a:extLst>
                    <a:ext uri="{9D8B030D-6E8A-4147-A177-3AD203B41FA5}">
                      <a16:colId xmlns:a16="http://schemas.microsoft.com/office/drawing/2014/main" val="2828551907"/>
                    </a:ext>
                  </a:extLst>
                </a:gridCol>
                <a:gridCol w="4441598">
                  <a:extLst>
                    <a:ext uri="{9D8B030D-6E8A-4147-A177-3AD203B41FA5}">
                      <a16:colId xmlns:a16="http://schemas.microsoft.com/office/drawing/2014/main" val="2820104981"/>
                    </a:ext>
                  </a:extLst>
                </a:gridCol>
              </a:tblGrid>
              <a:tr h="280872">
                <a:tc>
                  <a:txBody>
                    <a:bodyPr/>
                    <a:lstStyle/>
                    <a:p>
                      <a:pPr algn="ctr"/>
                      <a:r>
                        <a:rPr lang="en-SG" sz="1200">
                          <a:latin typeface="Arial" panose="020B0604020202020204" pitchFamily="34" charset="0"/>
                          <a:cs typeface="Arial" panose="020B0604020202020204" pitchFamily="34" charset="0"/>
                        </a:rPr>
                        <a:t>Field</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r>
                        <a:rPr lang="en-SG" sz="1200">
                          <a:latin typeface="Arial" panose="020B0604020202020204" pitchFamily="34" charset="0"/>
                          <a:cs typeface="Arial" panose="020B0604020202020204" pitchFamily="34" charset="0"/>
                        </a:rPr>
                        <a:t>Description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724037163"/>
                  </a:ext>
                </a:extLst>
              </a:tr>
              <a:tr h="197001">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volt1</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Main electrical system bus voltage (alternators and main battery)</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97672938"/>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volt2</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Essential bus (standby battery) bus voltage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233648715"/>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amp1</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Ammeter on the main battery (+ charging, - discharging)</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856987144"/>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amp2</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Ammeter on the standby battery (+ charging, - discharging)</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713072396"/>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FQtyL</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Fuel quantity left</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101294226"/>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FQtyR</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Fuel quantity right</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378838795"/>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FFlow</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Engine fuel flow rate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108518716"/>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OilT</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Engine oil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678759724"/>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OilP</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Engine oil pressure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823584801"/>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RPM</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Engine rotations per minute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149328478"/>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CHT1</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1st cylinder head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761741511"/>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CHT2</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2nd cylinder head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587073825"/>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CHT3</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3rd cylinder head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445591564"/>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CHT4</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4th cylinder head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804051047"/>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EGT1</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1st Exhaust gas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08487416"/>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EGT2</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2nd Exhaust gas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223075909"/>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EGT3</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3rd Exhaust gas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949575926"/>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E1 EGT4</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4th Exhaust gas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187474564"/>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OAT</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Outside air temperature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3625756325"/>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IAS</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Indicated air speed</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049542159"/>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VSpd</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Vertical speed</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4060567787"/>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NormAc</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Normal acceleration</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4139477604"/>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AltMSL</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Altitude miles above sea level</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806576768"/>
                  </a:ext>
                </a:extLst>
              </a:tr>
              <a:tr h="213265">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Timestep</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Timestep value for the flight</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964521697"/>
                  </a:ext>
                </a:extLst>
              </a:tr>
            </a:tbl>
          </a:graphicData>
        </a:graphic>
      </p:graphicFrame>
      <p:graphicFrame>
        <p:nvGraphicFramePr>
          <p:cNvPr id="9" name="Table 8">
            <a:extLst>
              <a:ext uri="{FF2B5EF4-FFF2-40B4-BE49-F238E27FC236}">
                <a16:creationId xmlns:a16="http://schemas.microsoft.com/office/drawing/2014/main" id="{FAC8BA81-E692-F208-D9AC-6FA6163D8A20}"/>
              </a:ext>
            </a:extLst>
          </p:cNvPr>
          <p:cNvGraphicFramePr>
            <a:graphicFrameLocks noGrp="1"/>
          </p:cNvGraphicFramePr>
          <p:nvPr>
            <p:extLst>
              <p:ext uri="{D42A27DB-BD31-4B8C-83A1-F6EECF244321}">
                <p14:modId xmlns:p14="http://schemas.microsoft.com/office/powerpoint/2010/main" val="3454116060"/>
              </p:ext>
            </p:extLst>
          </p:nvPr>
        </p:nvGraphicFramePr>
        <p:xfrm>
          <a:off x="6095999" y="1137932"/>
          <a:ext cx="5132482" cy="1508175"/>
        </p:xfrm>
        <a:graphic>
          <a:graphicData uri="http://schemas.openxmlformats.org/drawingml/2006/table">
            <a:tbl>
              <a:tblPr firstRow="1" bandRow="1">
                <a:tableStyleId>{5C22544A-7EE6-4342-B048-85BDC9FD1C3A}</a:tableStyleId>
              </a:tblPr>
              <a:tblGrid>
                <a:gridCol w="1008889">
                  <a:extLst>
                    <a:ext uri="{9D8B030D-6E8A-4147-A177-3AD203B41FA5}">
                      <a16:colId xmlns:a16="http://schemas.microsoft.com/office/drawing/2014/main" val="2828551907"/>
                    </a:ext>
                  </a:extLst>
                </a:gridCol>
                <a:gridCol w="4123593">
                  <a:extLst>
                    <a:ext uri="{9D8B030D-6E8A-4147-A177-3AD203B41FA5}">
                      <a16:colId xmlns:a16="http://schemas.microsoft.com/office/drawing/2014/main" val="2820104981"/>
                    </a:ext>
                  </a:extLst>
                </a:gridCol>
              </a:tblGrid>
              <a:tr h="268963">
                <a:tc>
                  <a:txBody>
                    <a:bodyPr/>
                    <a:lstStyle/>
                    <a:p>
                      <a:pPr algn="ctr"/>
                      <a:r>
                        <a:rPr lang="en-SG" sz="1200">
                          <a:latin typeface="Arial" panose="020B0604020202020204" pitchFamily="34" charset="0"/>
                          <a:cs typeface="Arial" panose="020B0604020202020204" pitchFamily="34" charset="0"/>
                        </a:rPr>
                        <a:t>Field</a:t>
                      </a:r>
                    </a:p>
                  </a:txBody>
                  <a:tcPr anchor="ctr">
                    <a:lnB w="12700" cap="flat" cmpd="sng" algn="ctr">
                      <a:solidFill>
                        <a:schemeClr val="bg2">
                          <a:lumMod val="75000"/>
                        </a:schemeClr>
                      </a:solidFill>
                      <a:prstDash val="solid"/>
                      <a:round/>
                      <a:headEnd type="none" w="med" len="med"/>
                      <a:tailEnd type="none" w="med" len="med"/>
                    </a:lnB>
                  </a:tcPr>
                </a:tc>
                <a:tc>
                  <a:txBody>
                    <a:bodyPr/>
                    <a:lstStyle/>
                    <a:p>
                      <a:pPr algn="ctr"/>
                      <a:r>
                        <a:rPr lang="en-SG" sz="1200">
                          <a:latin typeface="Arial" panose="020B0604020202020204" pitchFamily="34" charset="0"/>
                          <a:cs typeface="Arial" panose="020B0604020202020204" pitchFamily="34" charset="0"/>
                        </a:rPr>
                        <a:t>Description</a:t>
                      </a:r>
                    </a:p>
                  </a:txBody>
                  <a:tcPr anchor="ctr">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724037163"/>
                  </a:ext>
                </a:extLst>
              </a:tr>
              <a:tr h="188648">
                <a:tc>
                  <a:txBody>
                    <a:bodyPr/>
                    <a:lstStyle/>
                    <a:p>
                      <a:pPr algn="ctr" fontAlgn="b">
                        <a:buNone/>
                      </a:pPr>
                      <a:r>
                        <a:rPr lang="en-SG" sz="1200" b="0" i="0" u="none" strike="noStrike" kern="1200">
                          <a:solidFill>
                            <a:srgbClr val="000000"/>
                          </a:solidFill>
                          <a:effectLst/>
                          <a:latin typeface="Arial" panose="020B0604020202020204" pitchFamily="34" charset="0"/>
                          <a:ea typeface="+mn-ea"/>
                          <a:cs typeface="Arial" panose="020B0604020202020204" pitchFamily="34" charset="0"/>
                        </a:rPr>
                        <a:t>Master Index</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Flight Index</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97672938"/>
                  </a:ext>
                </a:extLst>
              </a:tr>
              <a:tr h="208290">
                <a:tc>
                  <a:txBody>
                    <a:bodyPr/>
                    <a:lstStyle/>
                    <a:p>
                      <a:pPr algn="ctr" fontAlgn="b">
                        <a:buNone/>
                      </a:pPr>
                      <a:r>
                        <a:rPr lang="en-SG" sz="1200" b="0" i="0" u="none" strike="noStrike" kern="1200">
                          <a:solidFill>
                            <a:srgbClr val="000000"/>
                          </a:solidFill>
                          <a:effectLst/>
                          <a:latin typeface="Arial" panose="020B0604020202020204" pitchFamily="34" charset="0"/>
                          <a:ea typeface="+mn-ea"/>
                          <a:cs typeface="Arial" panose="020B0604020202020204" pitchFamily="34" charset="0"/>
                        </a:rPr>
                        <a:t>before_after</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Record before / after maintenance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233648715"/>
                  </a:ext>
                </a:extLst>
              </a:tr>
              <a:tr h="208290">
                <a:tc>
                  <a:txBody>
                    <a:bodyPr/>
                    <a:lstStyle/>
                    <a:p>
                      <a:pPr algn="ctr" fontAlgn="b">
                        <a:buNone/>
                      </a:pPr>
                      <a:r>
                        <a:rPr lang="en-SG" sz="1200" b="0" i="0" u="none" strike="noStrike" kern="1200">
                          <a:solidFill>
                            <a:srgbClr val="000000"/>
                          </a:solidFill>
                          <a:effectLst/>
                          <a:latin typeface="Arial" panose="020B0604020202020204" pitchFamily="34" charset="0"/>
                          <a:ea typeface="+mn-ea"/>
                          <a:cs typeface="Arial" panose="020B0604020202020204" pitchFamily="34" charset="0"/>
                        </a:rPr>
                        <a:t>date_diff</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SG" sz="1200" b="0" i="0" u="none" strike="noStrike">
                          <a:solidFill>
                            <a:srgbClr val="000000"/>
                          </a:solidFill>
                          <a:effectLst/>
                          <a:latin typeface="Arial" panose="020B0604020202020204" pitchFamily="34" charset="0"/>
                          <a:cs typeface="Arial" panose="020B0604020202020204" pitchFamily="34" charset="0"/>
                        </a:rPr>
                        <a:t>Record log number of days before / after maintenance.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856987144"/>
                  </a:ext>
                </a:extLst>
              </a:tr>
              <a:tr h="208290">
                <a:tc>
                  <a:txBody>
                    <a:bodyPr/>
                    <a:lstStyle/>
                    <a:p>
                      <a:pPr algn="ctr" fontAlgn="b">
                        <a:buNone/>
                      </a:pPr>
                      <a:r>
                        <a:rPr lang="en-SG" sz="1200" b="0" i="0" u="none" strike="noStrike" kern="1200" err="1">
                          <a:solidFill>
                            <a:srgbClr val="000000"/>
                          </a:solidFill>
                          <a:effectLst/>
                          <a:latin typeface="Arial" panose="020B0604020202020204" pitchFamily="34" charset="0"/>
                          <a:ea typeface="+mn-ea"/>
                          <a:cs typeface="Arial" panose="020B0604020202020204" pitchFamily="34" charset="0"/>
                        </a:rPr>
                        <a:t>flight_length</a:t>
                      </a:r>
                      <a:endParaRPr lang="en-SG" sz="12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Number of timestep (s)</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713072396"/>
                  </a:ext>
                </a:extLst>
              </a:tr>
              <a:tr h="208290">
                <a:tc>
                  <a:txBody>
                    <a:bodyPr/>
                    <a:lstStyle/>
                    <a:p>
                      <a:pPr algn="ctr" fontAlgn="b">
                        <a:buNone/>
                      </a:pPr>
                      <a:r>
                        <a:rPr lang="en-SG" sz="1200" b="0" i="0" u="none" strike="noStrike" kern="1200">
                          <a:solidFill>
                            <a:srgbClr val="000000"/>
                          </a:solidFill>
                          <a:effectLst/>
                          <a:latin typeface="Arial" panose="020B0604020202020204" pitchFamily="34" charset="0"/>
                          <a:ea typeface="+mn-ea"/>
                          <a:cs typeface="Arial" panose="020B0604020202020204" pitchFamily="34" charset="0"/>
                        </a:rPr>
                        <a:t>label</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Type of Maintenance Done</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2101294226"/>
                  </a:ext>
                </a:extLst>
              </a:tr>
              <a:tr h="208290">
                <a:tc>
                  <a:txBody>
                    <a:bodyPr/>
                    <a:lstStyle/>
                    <a:p>
                      <a:pPr algn="ctr" fontAlgn="b">
                        <a:buNone/>
                      </a:pPr>
                      <a:r>
                        <a:rPr lang="en-SG" sz="1200" b="0" i="0" u="none" strike="noStrike" kern="1200">
                          <a:solidFill>
                            <a:srgbClr val="000000"/>
                          </a:solidFill>
                          <a:effectLst/>
                          <a:latin typeface="Arial" panose="020B0604020202020204" pitchFamily="34" charset="0"/>
                          <a:ea typeface="+mn-ea"/>
                          <a:cs typeface="Arial" panose="020B0604020202020204" pitchFamily="34" charset="0"/>
                        </a:rPr>
                        <a:t>hierarchy</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tc>
                  <a:txBody>
                    <a:bodyPr/>
                    <a:lstStyle/>
                    <a:p>
                      <a:pPr algn="ctr" fontAlgn="b">
                        <a:buNone/>
                      </a:pPr>
                      <a:r>
                        <a:rPr lang="en-SG" sz="1200" b="0" i="0" u="none" strike="noStrike">
                          <a:solidFill>
                            <a:srgbClr val="000000"/>
                          </a:solidFill>
                          <a:effectLst/>
                          <a:latin typeface="Arial" panose="020B0604020202020204" pitchFamily="34" charset="0"/>
                          <a:cs typeface="Arial" panose="020B0604020202020204" pitchFamily="34" charset="0"/>
                        </a:rPr>
                        <a:t>Class of Maintenance Required</a:t>
                      </a:r>
                    </a:p>
                  </a:txBody>
                  <a:tcPr marL="9525" marR="9525" marT="9525"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3F3F3"/>
                    </a:solidFill>
                  </a:tcPr>
                </a:tc>
                <a:extLst>
                  <a:ext uri="{0D108BD9-81ED-4DB2-BD59-A6C34878D82A}">
                    <a16:rowId xmlns:a16="http://schemas.microsoft.com/office/drawing/2014/main" val="1378838795"/>
                  </a:ext>
                </a:extLst>
              </a:tr>
            </a:tbl>
          </a:graphicData>
        </a:graphic>
      </p:graphicFrame>
      <p:grpSp>
        <p:nvGrpSpPr>
          <p:cNvPr id="2" name="Group 1">
            <a:extLst>
              <a:ext uri="{FF2B5EF4-FFF2-40B4-BE49-F238E27FC236}">
                <a16:creationId xmlns:a16="http://schemas.microsoft.com/office/drawing/2014/main" id="{40DE5BBC-D8B9-4931-6A28-D8DA3299DEB8}"/>
              </a:ext>
            </a:extLst>
          </p:cNvPr>
          <p:cNvGrpSpPr/>
          <p:nvPr/>
        </p:nvGrpSpPr>
        <p:grpSpPr>
          <a:xfrm>
            <a:off x="6778252" y="3218688"/>
            <a:ext cx="4119486" cy="2878635"/>
            <a:chOff x="6942844" y="3429000"/>
            <a:chExt cx="4119486" cy="2878635"/>
          </a:xfrm>
        </p:grpSpPr>
        <p:pic>
          <p:nvPicPr>
            <p:cNvPr id="10" name="Picture 9" descr="Cessna 172 - Wikipedia">
              <a:extLst>
                <a:ext uri="{FF2B5EF4-FFF2-40B4-BE49-F238E27FC236}">
                  <a16:creationId xmlns:a16="http://schemas.microsoft.com/office/drawing/2014/main" id="{315C677D-E39F-61EF-C641-E51F8D8A5BE2}"/>
                </a:ext>
              </a:extLst>
            </p:cNvPr>
            <p:cNvPicPr>
              <a:picLocks noChangeAspect="1"/>
            </p:cNvPicPr>
            <p:nvPr/>
          </p:nvPicPr>
          <p:blipFill>
            <a:blip r:embed="rId3"/>
            <a:stretch>
              <a:fillRect/>
            </a:stretch>
          </p:blipFill>
          <p:spPr>
            <a:xfrm>
              <a:off x="6942844" y="3429000"/>
              <a:ext cx="3994787" cy="2663191"/>
            </a:xfrm>
            <a:prstGeom prst="rect">
              <a:avLst/>
            </a:prstGeom>
          </p:spPr>
        </p:pic>
        <p:sp>
          <p:nvSpPr>
            <p:cNvPr id="12" name="TextBox 11">
              <a:extLst>
                <a:ext uri="{FF2B5EF4-FFF2-40B4-BE49-F238E27FC236}">
                  <a16:creationId xmlns:a16="http://schemas.microsoft.com/office/drawing/2014/main" id="{82320ACC-A18A-843E-B131-836F6B4A86E1}"/>
                </a:ext>
              </a:extLst>
            </p:cNvPr>
            <p:cNvSpPr txBox="1"/>
            <p:nvPr/>
          </p:nvSpPr>
          <p:spPr>
            <a:xfrm>
              <a:off x="6942844" y="6092191"/>
              <a:ext cx="4119486" cy="215444"/>
            </a:xfrm>
            <a:prstGeom prst="rect">
              <a:avLst/>
            </a:prstGeom>
            <a:noFill/>
          </p:spPr>
          <p:txBody>
            <a:bodyPr wrap="square">
              <a:spAutoFit/>
            </a:bodyPr>
            <a:lstStyle/>
            <a:p>
              <a:r>
                <a:rPr lang="en-SG" sz="800" i="1">
                  <a:latin typeface="Arial" panose="020B0604020202020204" pitchFamily="34" charset="0"/>
                  <a:cs typeface="Arial" panose="020B0604020202020204" pitchFamily="34" charset="0"/>
                </a:rPr>
                <a:t>Source: https://en.wikipedia.org/wiki/Cessna_172</a:t>
              </a:r>
            </a:p>
          </p:txBody>
        </p:sp>
      </p:grpSp>
    </p:spTree>
    <p:extLst>
      <p:ext uri="{BB962C8B-B14F-4D97-AF65-F5344CB8AC3E}">
        <p14:creationId xmlns:p14="http://schemas.microsoft.com/office/powerpoint/2010/main" val="1083517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495F2-7F54-6775-ECC3-CAD56C391C6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7AEEA2D-D7C0-528A-A98A-4FC2E7C9035A}"/>
              </a:ext>
            </a:extLst>
          </p:cNvPr>
          <p:cNvSpPr/>
          <p:nvPr/>
        </p:nvSpPr>
        <p:spPr>
          <a:xfrm>
            <a:off x="2575560" y="219456"/>
            <a:ext cx="7040880"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ML Problem Formulation and Solution</a:t>
            </a:r>
            <a:endParaRPr lang="en-SG" sz="2800">
              <a:latin typeface="Aharoni" panose="02010803020104030203" pitchFamily="2" charset="-79"/>
              <a:cs typeface="Aharoni" panose="02010803020104030203" pitchFamily="2" charset="-79"/>
            </a:endParaRPr>
          </a:p>
        </p:txBody>
      </p:sp>
      <p:sp>
        <p:nvSpPr>
          <p:cNvPr id="7" name="TextBox 6">
            <a:extLst>
              <a:ext uri="{FF2B5EF4-FFF2-40B4-BE49-F238E27FC236}">
                <a16:creationId xmlns:a16="http://schemas.microsoft.com/office/drawing/2014/main" id="{7961D370-A87C-82F0-8D50-EF024D7B17E4}"/>
              </a:ext>
            </a:extLst>
          </p:cNvPr>
          <p:cNvSpPr txBox="1"/>
          <p:nvPr/>
        </p:nvSpPr>
        <p:spPr>
          <a:xfrm>
            <a:off x="621792" y="877465"/>
            <a:ext cx="11000232" cy="584775"/>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Objective:</a:t>
            </a:r>
            <a:r>
              <a:rPr lang="en-SG" sz="1600">
                <a:latin typeface="Aharoni" panose="02010803020104030203" pitchFamily="2" charset="-79"/>
                <a:cs typeface="Aharoni" panose="02010803020104030203" pitchFamily="2" charset="-79"/>
              </a:rPr>
              <a:t> </a:t>
            </a:r>
            <a:r>
              <a:rPr lang="en-US" sz="1600">
                <a:latin typeface="Arial" panose="020B0604020202020204" pitchFamily="34" charset="0"/>
                <a:cs typeface="Arial" panose="020B0604020202020204" pitchFamily="34" charset="0"/>
              </a:rPr>
              <a:t>Predict whether an aircraft will require unscheduled maintenance within a specified future horizon (2 days) using flight sensor and operational data. </a:t>
            </a:r>
            <a:endParaRPr lang="en-SG" sz="160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014ABAB-BFCA-0D0D-4E28-37F18293BE73}"/>
              </a:ext>
            </a:extLst>
          </p:cNvPr>
          <p:cNvSpPr/>
          <p:nvPr/>
        </p:nvSpPr>
        <p:spPr>
          <a:xfrm>
            <a:off x="740664" y="1627632"/>
            <a:ext cx="2176272" cy="941832"/>
          </a:xfrm>
          <a:prstGeom prst="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Input Features (X)</a:t>
            </a:r>
          </a:p>
          <a:p>
            <a:pPr algn="ctr"/>
            <a:r>
              <a:rPr lang="en-US" sz="1200">
                <a:latin typeface="Arial" panose="020B0604020202020204" pitchFamily="34" charset="0"/>
                <a:cs typeface="Arial" panose="020B0604020202020204" pitchFamily="34" charset="0"/>
              </a:rPr>
              <a:t>Flight sensor data multivariate</a:t>
            </a:r>
            <a:endParaRPr lang="en-SG" sz="120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CCAD25FC-FD5E-6AFF-8C2A-22AD13CD1C77}"/>
              </a:ext>
            </a:extLst>
          </p:cNvPr>
          <p:cNvSpPr/>
          <p:nvPr/>
        </p:nvSpPr>
        <p:spPr>
          <a:xfrm>
            <a:off x="4440061" y="1627632"/>
            <a:ext cx="2176272" cy="941832"/>
          </a:xfrm>
          <a:prstGeom prst="rect">
            <a:avLst/>
          </a:prstGeom>
          <a:solidFill>
            <a:schemeClr val="accent3"/>
          </a:solidFill>
          <a:ln>
            <a:noFill/>
          </a:ln>
          <a:effectLst>
            <a:glow rad="63500">
              <a:schemeClr val="accent1">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Target Output (Y)</a:t>
            </a:r>
          </a:p>
          <a:p>
            <a:pPr algn="ctr"/>
            <a:r>
              <a:rPr lang="en-US" sz="1200">
                <a:latin typeface="Arial" panose="020B0604020202020204" pitchFamily="34" charset="0"/>
                <a:cs typeface="Arial" panose="020B0604020202020204" pitchFamily="34" charset="0"/>
              </a:rPr>
              <a:t>0 = </a:t>
            </a:r>
            <a:r>
              <a:rPr lang="en-SG" sz="1200">
                <a:latin typeface="Arial" panose="020B0604020202020204" pitchFamily="34" charset="0"/>
                <a:cs typeface="Arial" panose="020B0604020202020204" pitchFamily="34" charset="0"/>
              </a:rPr>
              <a:t>Risk</a:t>
            </a:r>
          </a:p>
          <a:p>
            <a:pPr algn="ctr"/>
            <a:r>
              <a:rPr lang="en-SG" sz="1200">
                <a:latin typeface="Arial" panose="020B0604020202020204" pitchFamily="34" charset="0"/>
                <a:cs typeface="Arial" panose="020B0604020202020204" pitchFamily="34" charset="0"/>
              </a:rPr>
              <a:t>1 = Safe</a:t>
            </a:r>
          </a:p>
        </p:txBody>
      </p:sp>
      <p:sp>
        <p:nvSpPr>
          <p:cNvPr id="13" name="Arrow: Down 12">
            <a:extLst>
              <a:ext uri="{FF2B5EF4-FFF2-40B4-BE49-F238E27FC236}">
                <a16:creationId xmlns:a16="http://schemas.microsoft.com/office/drawing/2014/main" id="{3D0F92E1-BDA4-6F4D-4188-831AA7E0D1D3}"/>
              </a:ext>
            </a:extLst>
          </p:cNvPr>
          <p:cNvSpPr/>
          <p:nvPr/>
        </p:nvSpPr>
        <p:spPr>
          <a:xfrm rot="16200000">
            <a:off x="3488450" y="1463672"/>
            <a:ext cx="352666" cy="1302376"/>
          </a:xfrm>
          <a:prstGeom prst="downArrow">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TextBox 14">
            <a:extLst>
              <a:ext uri="{FF2B5EF4-FFF2-40B4-BE49-F238E27FC236}">
                <a16:creationId xmlns:a16="http://schemas.microsoft.com/office/drawing/2014/main" id="{1D11B086-D8DC-D2F5-87B6-C805D9D6E8DD}"/>
              </a:ext>
            </a:extLst>
          </p:cNvPr>
          <p:cNvSpPr txBox="1"/>
          <p:nvPr/>
        </p:nvSpPr>
        <p:spPr>
          <a:xfrm>
            <a:off x="2668630" y="1699360"/>
            <a:ext cx="2019737" cy="830997"/>
          </a:xfrm>
          <a:prstGeom prst="rect">
            <a:avLst/>
          </a:prstGeom>
          <a:noFill/>
        </p:spPr>
        <p:txBody>
          <a:bodyPr wrap="square">
            <a:spAutoFit/>
          </a:bodyPr>
          <a:lstStyle/>
          <a:p>
            <a:pPr algn="ctr"/>
            <a:r>
              <a:rPr lang="en-US" sz="1600">
                <a:highlight>
                  <a:srgbClr val="FFFFCC"/>
                </a:highlight>
                <a:latin typeface="Arial" panose="020B0604020202020204" pitchFamily="34" charset="0"/>
                <a:cs typeface="Arial" panose="020B0604020202020204" pitchFamily="34" charset="0"/>
              </a:rPr>
              <a:t>Binary </a:t>
            </a:r>
          </a:p>
          <a:p>
            <a:endParaRPr lang="en-US" sz="1600">
              <a:highlight>
                <a:srgbClr val="FFFFCC"/>
              </a:highlight>
              <a:latin typeface="Arial" panose="020B0604020202020204" pitchFamily="34" charset="0"/>
              <a:cs typeface="Arial" panose="020B0604020202020204" pitchFamily="34" charset="0"/>
            </a:endParaRPr>
          </a:p>
          <a:p>
            <a:pPr algn="ctr"/>
            <a:r>
              <a:rPr lang="en-US" sz="1600">
                <a:highlight>
                  <a:srgbClr val="FFFFCC"/>
                </a:highlight>
                <a:latin typeface="Arial" panose="020B0604020202020204" pitchFamily="34" charset="0"/>
                <a:cs typeface="Arial" panose="020B0604020202020204" pitchFamily="34" charset="0"/>
              </a:rPr>
              <a:t>Classification</a:t>
            </a:r>
            <a:endParaRPr lang="en-SG" sz="1600">
              <a:highlight>
                <a:srgbClr val="FFFFCC"/>
              </a:highlight>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C15D0B08-CD09-4EBE-0234-635171B976FD}"/>
              </a:ext>
            </a:extLst>
          </p:cNvPr>
          <p:cNvSpPr txBox="1"/>
          <p:nvPr/>
        </p:nvSpPr>
        <p:spPr>
          <a:xfrm>
            <a:off x="7407324" y="1445158"/>
            <a:ext cx="4214700" cy="1200329"/>
          </a:xfrm>
          <a:prstGeom prst="rect">
            <a:avLst/>
          </a:prstGeom>
          <a:noFill/>
          <a:ln>
            <a:solidFill>
              <a:schemeClr val="accent4"/>
            </a:solidFill>
          </a:ln>
        </p:spPr>
        <p:txBody>
          <a:bodyPr wrap="square" lIns="91440" tIns="45720" rIns="91440" bIns="45720" rtlCol="0" anchor="t">
            <a:spAutoFit/>
          </a:bodyPr>
          <a:lstStyle/>
          <a:p>
            <a:pPr algn="just"/>
            <a:r>
              <a:rPr lang="en-US" sz="1200">
                <a:latin typeface="Arial"/>
                <a:cs typeface="Arial"/>
              </a:rPr>
              <a:t>2-Day RUL was chosen as it captures aircraft requiring </a:t>
            </a:r>
            <a:r>
              <a:rPr lang="en-US" sz="1200" b="1">
                <a:latin typeface="Arial"/>
                <a:cs typeface="Arial"/>
              </a:rPr>
              <a:t>immediate maintenance attention</a:t>
            </a:r>
            <a:r>
              <a:rPr lang="en-US" sz="1200">
                <a:latin typeface="Arial"/>
                <a:cs typeface="Arial"/>
              </a:rPr>
              <a:t>, providing a more actionable risk definition. Longer horizons (5 and 10-day) exist for sensitivity and generate earlier warnings but may introduce more false positives and dilute the distinction between urgent and non-urgent maintenance cases.</a:t>
            </a:r>
            <a:endParaRPr lang="en-SG" sz="1200">
              <a:latin typeface="Arial"/>
              <a:cs typeface="Arial"/>
            </a:endParaRPr>
          </a:p>
        </p:txBody>
      </p:sp>
      <p:pic>
        <p:nvPicPr>
          <p:cNvPr id="22" name="Picture 21" descr="Question mark PNG transparent image download, size: 1500x1500px">
            <a:extLst>
              <a:ext uri="{FF2B5EF4-FFF2-40B4-BE49-F238E27FC236}">
                <a16:creationId xmlns:a16="http://schemas.microsoft.com/office/drawing/2014/main" id="{08143B84-59EA-4B52-97D0-193316B2E052}"/>
              </a:ext>
            </a:extLst>
          </p:cNvPr>
          <p:cNvPicPr>
            <a:picLocks noChangeAspect="1"/>
          </p:cNvPicPr>
          <p:nvPr/>
        </p:nvPicPr>
        <p:blipFill>
          <a:blip r:embed="rId3"/>
          <a:stretch>
            <a:fillRect/>
          </a:stretch>
        </p:blipFill>
        <p:spPr>
          <a:xfrm>
            <a:off x="6740423" y="1124497"/>
            <a:ext cx="842110" cy="842110"/>
          </a:xfrm>
          <a:prstGeom prst="rect">
            <a:avLst/>
          </a:prstGeom>
        </p:spPr>
      </p:pic>
      <p:sp>
        <p:nvSpPr>
          <p:cNvPr id="24" name="TextBox 23">
            <a:extLst>
              <a:ext uri="{FF2B5EF4-FFF2-40B4-BE49-F238E27FC236}">
                <a16:creationId xmlns:a16="http://schemas.microsoft.com/office/drawing/2014/main" id="{3470BD6A-7212-9B11-C3DE-C174191317FE}"/>
              </a:ext>
            </a:extLst>
          </p:cNvPr>
          <p:cNvSpPr txBox="1"/>
          <p:nvPr/>
        </p:nvSpPr>
        <p:spPr>
          <a:xfrm>
            <a:off x="726948" y="2641192"/>
            <a:ext cx="5875669" cy="461665"/>
          </a:xfrm>
          <a:prstGeom prst="rect">
            <a:avLst/>
          </a:prstGeom>
          <a:noFill/>
        </p:spPr>
        <p:txBody>
          <a:bodyPr wrap="square">
            <a:spAutoFit/>
          </a:bodyPr>
          <a:lstStyle/>
          <a:p>
            <a:pPr algn="ctr"/>
            <a:r>
              <a:rPr lang="en-SG" sz="1200">
                <a:latin typeface="Arial" panose="020B0604020202020204" pitchFamily="34" charset="0"/>
                <a:cs typeface="Arial" panose="020B0604020202020204" pitchFamily="34" charset="0"/>
              </a:rPr>
              <a:t>RUL= 1 (SAFE): flight is after maintenance OR before but &gt; 2 days away</a:t>
            </a:r>
          </a:p>
          <a:p>
            <a:pPr algn="ctr"/>
            <a:r>
              <a:rPr lang="en-SG" sz="1200">
                <a:latin typeface="Arial" panose="020B0604020202020204" pitchFamily="34" charset="0"/>
                <a:cs typeface="Arial" panose="020B0604020202020204" pitchFamily="34" charset="0"/>
              </a:rPr>
              <a:t>RUL = 0 (RISK): flight is before AND within 2 days of maintenance</a:t>
            </a:r>
          </a:p>
        </p:txBody>
      </p:sp>
      <p:sp>
        <p:nvSpPr>
          <p:cNvPr id="25" name="Oval 24">
            <a:extLst>
              <a:ext uri="{FF2B5EF4-FFF2-40B4-BE49-F238E27FC236}">
                <a16:creationId xmlns:a16="http://schemas.microsoft.com/office/drawing/2014/main" id="{01EC6615-71AC-9F30-FCEA-97E7A4633DF6}"/>
              </a:ext>
            </a:extLst>
          </p:cNvPr>
          <p:cNvSpPr/>
          <p:nvPr/>
        </p:nvSpPr>
        <p:spPr>
          <a:xfrm>
            <a:off x="4288288" y="3569766"/>
            <a:ext cx="1843723" cy="813816"/>
          </a:xfrm>
          <a:prstGeom prst="ellipse">
            <a:avLst/>
          </a:prstGeom>
          <a:ln>
            <a:noFill/>
          </a:ln>
          <a:effectLst>
            <a:glow rad="63500">
              <a:schemeClr val="accent6">
                <a:satMod val="175000"/>
                <a:alpha val="40000"/>
              </a:schemeClr>
            </a:glo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a:latin typeface="Arial" panose="020B0604020202020204" pitchFamily="34" charset="0"/>
                <a:cs typeface="Arial" panose="020B0604020202020204" pitchFamily="34" charset="0"/>
              </a:rPr>
              <a:t>Soft Voting</a:t>
            </a:r>
          </a:p>
        </p:txBody>
      </p:sp>
      <p:sp>
        <p:nvSpPr>
          <p:cNvPr id="26" name="Rectangle: Rounded Corners 25">
            <a:extLst>
              <a:ext uri="{FF2B5EF4-FFF2-40B4-BE49-F238E27FC236}">
                <a16:creationId xmlns:a16="http://schemas.microsoft.com/office/drawing/2014/main" id="{9A2BAD1D-C7CB-E0E8-5309-2D9D2ADA6EC6}"/>
              </a:ext>
            </a:extLst>
          </p:cNvPr>
          <p:cNvSpPr/>
          <p:nvPr/>
        </p:nvSpPr>
        <p:spPr>
          <a:xfrm>
            <a:off x="1503967" y="3418023"/>
            <a:ext cx="1509628" cy="660785"/>
          </a:xfrm>
          <a:prstGeom prst="round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latin typeface="Arial" panose="020B0604020202020204" pitchFamily="34" charset="0"/>
                <a:cs typeface="Arial" panose="020B0604020202020204" pitchFamily="34" charset="0"/>
              </a:rPr>
              <a:t>XGBoost</a:t>
            </a:r>
            <a:endParaRPr lang="en-US" sz="1600" b="1">
              <a:latin typeface="Arial" panose="020B0604020202020204" pitchFamily="34" charset="0"/>
              <a:cs typeface="Arial" panose="020B0604020202020204" pitchFamily="34" charset="0"/>
            </a:endParaRPr>
          </a:p>
          <a:p>
            <a:pPr algn="ctr"/>
            <a:r>
              <a:rPr lang="en-US" sz="1100" i="1">
                <a:latin typeface="Arial" panose="020B0604020202020204" pitchFamily="34" charset="0"/>
                <a:cs typeface="Arial" panose="020B0604020202020204" pitchFamily="34" charset="0"/>
              </a:rPr>
              <a:t>Tabular aggregate</a:t>
            </a:r>
          </a:p>
          <a:p>
            <a:pPr algn="ctr"/>
            <a:r>
              <a:rPr lang="en-US" sz="1100" i="1">
                <a:latin typeface="Arial" panose="020B0604020202020204" pitchFamily="34" charset="0"/>
                <a:cs typeface="Arial" panose="020B0604020202020204" pitchFamily="34" charset="0"/>
              </a:rPr>
              <a:t>features</a:t>
            </a:r>
            <a:endParaRPr lang="en-SG" sz="1100" i="1">
              <a:latin typeface="Arial" panose="020B0604020202020204" pitchFamily="34" charset="0"/>
              <a:cs typeface="Arial" panose="020B0604020202020204" pitchFamily="34" charset="0"/>
            </a:endParaRPr>
          </a:p>
        </p:txBody>
      </p:sp>
      <p:sp>
        <p:nvSpPr>
          <p:cNvPr id="28" name="Rectangle: Rounded Corners 27">
            <a:extLst>
              <a:ext uri="{FF2B5EF4-FFF2-40B4-BE49-F238E27FC236}">
                <a16:creationId xmlns:a16="http://schemas.microsoft.com/office/drawing/2014/main" id="{B31A58D0-B262-4E8A-3059-5300A0E7F3D1}"/>
              </a:ext>
            </a:extLst>
          </p:cNvPr>
          <p:cNvSpPr/>
          <p:nvPr/>
        </p:nvSpPr>
        <p:spPr>
          <a:xfrm>
            <a:off x="1503967" y="4218385"/>
            <a:ext cx="1509628" cy="660785"/>
          </a:xfrm>
          <a:prstGeom prst="round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latin typeface="Arial" panose="020B0604020202020204" pitchFamily="34" charset="0"/>
                <a:cs typeface="Arial" panose="020B0604020202020204" pitchFamily="34" charset="0"/>
              </a:rPr>
              <a:t>MiniRocket</a:t>
            </a:r>
            <a:endParaRPr lang="en-SG" sz="1600" b="1">
              <a:latin typeface="Arial" panose="020B0604020202020204" pitchFamily="34" charset="0"/>
              <a:cs typeface="Arial" panose="020B0604020202020204" pitchFamily="34" charset="0"/>
            </a:endParaRPr>
          </a:p>
        </p:txBody>
      </p:sp>
      <p:sp>
        <p:nvSpPr>
          <p:cNvPr id="30" name="Rectangle: Rounded Corners 29">
            <a:extLst>
              <a:ext uri="{FF2B5EF4-FFF2-40B4-BE49-F238E27FC236}">
                <a16:creationId xmlns:a16="http://schemas.microsoft.com/office/drawing/2014/main" id="{6F394B66-DB8B-CE91-F0E4-FBFC8171186D}"/>
              </a:ext>
            </a:extLst>
          </p:cNvPr>
          <p:cNvSpPr/>
          <p:nvPr/>
        </p:nvSpPr>
        <p:spPr>
          <a:xfrm>
            <a:off x="1503967" y="5029784"/>
            <a:ext cx="1509628" cy="660785"/>
          </a:xfrm>
          <a:prstGeom prst="round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Inception Time</a:t>
            </a:r>
            <a:endParaRPr lang="en-SG" sz="1600" b="1">
              <a:latin typeface="Arial" panose="020B0604020202020204" pitchFamily="34" charset="0"/>
              <a:cs typeface="Arial" panose="020B0604020202020204" pitchFamily="34" charset="0"/>
            </a:endParaRPr>
          </a:p>
        </p:txBody>
      </p:sp>
      <p:sp>
        <p:nvSpPr>
          <p:cNvPr id="32" name="Rectangle: Rounded Corners 31">
            <a:extLst>
              <a:ext uri="{FF2B5EF4-FFF2-40B4-BE49-F238E27FC236}">
                <a16:creationId xmlns:a16="http://schemas.microsoft.com/office/drawing/2014/main" id="{C34A86C5-A507-95A5-2F83-C9C843CE581B}"/>
              </a:ext>
            </a:extLst>
          </p:cNvPr>
          <p:cNvSpPr/>
          <p:nvPr/>
        </p:nvSpPr>
        <p:spPr>
          <a:xfrm>
            <a:off x="1503967" y="5841183"/>
            <a:ext cx="1509628" cy="660785"/>
          </a:xfrm>
          <a:prstGeom prst="round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Transformer</a:t>
            </a:r>
            <a:endParaRPr lang="en-SG" sz="1600" b="1">
              <a:latin typeface="Arial" panose="020B0604020202020204" pitchFamily="34" charset="0"/>
              <a:cs typeface="Arial" panose="020B0604020202020204" pitchFamily="34" charset="0"/>
            </a:endParaRPr>
          </a:p>
        </p:txBody>
      </p:sp>
      <p:sp>
        <p:nvSpPr>
          <p:cNvPr id="33" name="Left Brace 32">
            <a:extLst>
              <a:ext uri="{FF2B5EF4-FFF2-40B4-BE49-F238E27FC236}">
                <a16:creationId xmlns:a16="http://schemas.microsoft.com/office/drawing/2014/main" id="{DFDFBD9B-263C-DBCC-FEEC-D41ADD84FD20}"/>
              </a:ext>
            </a:extLst>
          </p:cNvPr>
          <p:cNvSpPr/>
          <p:nvPr/>
        </p:nvSpPr>
        <p:spPr>
          <a:xfrm>
            <a:off x="898177" y="3429000"/>
            <a:ext cx="374904" cy="134416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G"/>
          </a:p>
        </p:txBody>
      </p:sp>
      <p:sp>
        <p:nvSpPr>
          <p:cNvPr id="35" name="Left Brace 34">
            <a:extLst>
              <a:ext uri="{FF2B5EF4-FFF2-40B4-BE49-F238E27FC236}">
                <a16:creationId xmlns:a16="http://schemas.microsoft.com/office/drawing/2014/main" id="{19DD17F8-7EC5-E244-E32C-73F535CF68EA}"/>
              </a:ext>
            </a:extLst>
          </p:cNvPr>
          <p:cNvSpPr/>
          <p:nvPr/>
        </p:nvSpPr>
        <p:spPr>
          <a:xfrm>
            <a:off x="898177" y="5069617"/>
            <a:ext cx="374904" cy="134416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G"/>
          </a:p>
        </p:txBody>
      </p:sp>
      <p:sp>
        <p:nvSpPr>
          <p:cNvPr id="36" name="TextBox 35">
            <a:extLst>
              <a:ext uri="{FF2B5EF4-FFF2-40B4-BE49-F238E27FC236}">
                <a16:creationId xmlns:a16="http://schemas.microsoft.com/office/drawing/2014/main" id="{9FCE4CB3-8DD6-6E84-D040-82F91E56CF92}"/>
              </a:ext>
            </a:extLst>
          </p:cNvPr>
          <p:cNvSpPr txBox="1"/>
          <p:nvPr/>
        </p:nvSpPr>
        <p:spPr>
          <a:xfrm>
            <a:off x="41259" y="3924919"/>
            <a:ext cx="898177"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Baseline</a:t>
            </a:r>
            <a:endParaRPr lang="en-SG" sz="140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9D73791-11E4-517E-8FBD-8E4BAC9DC81B}"/>
              </a:ext>
            </a:extLst>
          </p:cNvPr>
          <p:cNvSpPr txBox="1"/>
          <p:nvPr/>
        </p:nvSpPr>
        <p:spPr>
          <a:xfrm>
            <a:off x="56929" y="5560964"/>
            <a:ext cx="985487" cy="523220"/>
          </a:xfrm>
          <a:prstGeom prst="rect">
            <a:avLst/>
          </a:prstGeom>
          <a:noFill/>
        </p:spPr>
        <p:txBody>
          <a:bodyPr wrap="square" rtlCol="0">
            <a:spAutoFit/>
          </a:bodyPr>
          <a:lstStyle/>
          <a:p>
            <a:pPr algn="ctr"/>
            <a:r>
              <a:rPr lang="en-US" sz="1400">
                <a:latin typeface="Arial" panose="020B0604020202020204" pitchFamily="34" charset="0"/>
                <a:cs typeface="Arial" panose="020B0604020202020204" pitchFamily="34" charset="0"/>
              </a:rPr>
              <a:t>Deep Networks</a:t>
            </a:r>
            <a:endParaRPr lang="en-SG" sz="1400">
              <a:latin typeface="Arial" panose="020B0604020202020204" pitchFamily="34" charset="0"/>
              <a:cs typeface="Arial" panose="020B0604020202020204" pitchFamily="34" charset="0"/>
            </a:endParaRPr>
          </a:p>
        </p:txBody>
      </p:sp>
      <p:cxnSp>
        <p:nvCxnSpPr>
          <p:cNvPr id="56" name="Straight Connector 55">
            <a:extLst>
              <a:ext uri="{FF2B5EF4-FFF2-40B4-BE49-F238E27FC236}">
                <a16:creationId xmlns:a16="http://schemas.microsoft.com/office/drawing/2014/main" id="{A7092591-9071-2F67-42B6-F0D93FAD794D}"/>
              </a:ext>
            </a:extLst>
          </p:cNvPr>
          <p:cNvCxnSpPr>
            <a:cxnSpLocks/>
            <a:stCxn id="32" idx="3"/>
            <a:endCxn id="25" idx="2"/>
          </p:cNvCxnSpPr>
          <p:nvPr/>
        </p:nvCxnSpPr>
        <p:spPr>
          <a:xfrm flipV="1">
            <a:off x="3013595" y="3976674"/>
            <a:ext cx="1274693" cy="2194902"/>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D06B141-AD84-E3FA-E276-16C0DD77FA3D}"/>
              </a:ext>
            </a:extLst>
          </p:cNvPr>
          <p:cNvCxnSpPr>
            <a:cxnSpLocks/>
            <a:stCxn id="30" idx="3"/>
            <a:endCxn id="25" idx="2"/>
          </p:cNvCxnSpPr>
          <p:nvPr/>
        </p:nvCxnSpPr>
        <p:spPr>
          <a:xfrm flipV="1">
            <a:off x="3013595" y="3976674"/>
            <a:ext cx="1274693" cy="1383503"/>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B3616676-AAAA-567C-5E70-8A94006F54CF}"/>
              </a:ext>
            </a:extLst>
          </p:cNvPr>
          <p:cNvCxnSpPr>
            <a:cxnSpLocks/>
            <a:stCxn id="28" idx="3"/>
            <a:endCxn id="25" idx="2"/>
          </p:cNvCxnSpPr>
          <p:nvPr/>
        </p:nvCxnSpPr>
        <p:spPr>
          <a:xfrm flipV="1">
            <a:off x="3013595" y="3976674"/>
            <a:ext cx="1274693" cy="572104"/>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8F35C05A-35B9-C5AC-B4A0-950C2B892718}"/>
              </a:ext>
            </a:extLst>
          </p:cNvPr>
          <p:cNvCxnSpPr>
            <a:cxnSpLocks/>
            <a:stCxn id="26" idx="3"/>
            <a:endCxn id="25" idx="2"/>
          </p:cNvCxnSpPr>
          <p:nvPr/>
        </p:nvCxnSpPr>
        <p:spPr>
          <a:xfrm>
            <a:off x="3013595" y="3748416"/>
            <a:ext cx="1274693" cy="228258"/>
          </a:xfrm>
          <a:prstGeom prst="line">
            <a:avLst/>
          </a:prstGeom>
        </p:spPr>
        <p:style>
          <a:lnRef idx="2">
            <a:schemeClr val="accent1"/>
          </a:lnRef>
          <a:fillRef idx="0">
            <a:schemeClr val="accent1"/>
          </a:fillRef>
          <a:effectRef idx="1">
            <a:schemeClr val="accent1"/>
          </a:effectRef>
          <a:fontRef idx="minor">
            <a:schemeClr val="tx1"/>
          </a:fontRef>
        </p:style>
      </p:cxnSp>
      <p:sp>
        <p:nvSpPr>
          <p:cNvPr id="77" name="Rectangle: Rounded Corners 76">
            <a:extLst>
              <a:ext uri="{FF2B5EF4-FFF2-40B4-BE49-F238E27FC236}">
                <a16:creationId xmlns:a16="http://schemas.microsoft.com/office/drawing/2014/main" id="{CAFB5DF8-6582-F293-7F6C-39450D03F6D4}"/>
              </a:ext>
            </a:extLst>
          </p:cNvPr>
          <p:cNvSpPr/>
          <p:nvPr/>
        </p:nvSpPr>
        <p:spPr>
          <a:xfrm>
            <a:off x="6791230" y="4293212"/>
            <a:ext cx="1509628" cy="660785"/>
          </a:xfrm>
          <a:prstGeom prst="roundRect">
            <a:avLst/>
          </a:prstGeom>
          <a:solidFill>
            <a:schemeClr val="accent3"/>
          </a:solidFill>
          <a:ln>
            <a:no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rial" panose="020B0604020202020204" pitchFamily="34" charset="0"/>
                <a:cs typeface="Arial" panose="020B0604020202020204" pitchFamily="34" charset="0"/>
              </a:rPr>
              <a:t>Best Model Selected </a:t>
            </a:r>
          </a:p>
        </p:txBody>
      </p:sp>
      <p:pic>
        <p:nvPicPr>
          <p:cNvPr id="83" name="Picture 82" descr="Gold Crown PNG Transparent Images Free Download - Pngfre">
            <a:extLst>
              <a:ext uri="{FF2B5EF4-FFF2-40B4-BE49-F238E27FC236}">
                <a16:creationId xmlns:a16="http://schemas.microsoft.com/office/drawing/2014/main" id="{105E064E-E8F4-5CE4-AFA3-71F58904981A}"/>
              </a:ext>
            </a:extLst>
          </p:cNvPr>
          <p:cNvPicPr>
            <a:picLocks noChangeAspect="1"/>
          </p:cNvPicPr>
          <p:nvPr/>
        </p:nvPicPr>
        <p:blipFill>
          <a:blip r:embed="rId4"/>
          <a:stretch>
            <a:fillRect/>
          </a:stretch>
        </p:blipFill>
        <p:spPr>
          <a:xfrm>
            <a:off x="7303677" y="3832168"/>
            <a:ext cx="448513" cy="359847"/>
          </a:xfrm>
          <a:prstGeom prst="rect">
            <a:avLst/>
          </a:prstGeom>
        </p:spPr>
      </p:pic>
      <p:sp>
        <p:nvSpPr>
          <p:cNvPr id="87" name="TextBox 86">
            <a:extLst>
              <a:ext uri="{FF2B5EF4-FFF2-40B4-BE49-F238E27FC236}">
                <a16:creationId xmlns:a16="http://schemas.microsoft.com/office/drawing/2014/main" id="{0BBB706E-C28C-CC1C-9925-3CFAAB78F670}"/>
              </a:ext>
            </a:extLst>
          </p:cNvPr>
          <p:cNvSpPr txBox="1"/>
          <p:nvPr/>
        </p:nvSpPr>
        <p:spPr>
          <a:xfrm>
            <a:off x="8764476" y="2784181"/>
            <a:ext cx="2857548" cy="2281476"/>
          </a:xfrm>
          <a:prstGeom prst="roundRect">
            <a:avLst/>
          </a:prstGeom>
          <a:solidFill>
            <a:schemeClr val="tx2">
              <a:lumMod val="10000"/>
              <a:lumOff val="90000"/>
              <a:alpha val="67000"/>
            </a:schemeClr>
          </a:solidFill>
        </p:spPr>
        <p:txBody>
          <a:bodyPr wrap="square">
            <a:spAutoFit/>
          </a:bodyPr>
          <a:lstStyle/>
          <a:p>
            <a:r>
              <a:rPr lang="en-SG" sz="1600" u="sng">
                <a:latin typeface="Aharoni" panose="02010803020104030203" pitchFamily="2" charset="-79"/>
                <a:cs typeface="Aharoni" panose="02010803020104030203" pitchFamily="2" charset="-79"/>
              </a:rPr>
              <a:t>Evaluation Metrics:</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Recall </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Precision</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F-1 Score</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ROC-AUC</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PR-AUC</a:t>
            </a:r>
          </a:p>
          <a:p>
            <a:pPr marL="285750" indent="-285750">
              <a:buFont typeface="Arial" panose="020B0604020202020204" pitchFamily="34" charset="0"/>
              <a:buChar char="•"/>
            </a:pPr>
            <a:r>
              <a:rPr lang="en-SG" sz="1600">
                <a:latin typeface="Arial" panose="020B0604020202020204" pitchFamily="34" charset="0"/>
                <a:cs typeface="Arial" panose="020B0604020202020204" pitchFamily="34" charset="0"/>
              </a:rPr>
              <a:t>Confusion Matrix   (Error Analysis)</a:t>
            </a:r>
          </a:p>
        </p:txBody>
      </p:sp>
      <p:sp>
        <p:nvSpPr>
          <p:cNvPr id="93" name="TextBox 92">
            <a:extLst>
              <a:ext uri="{FF2B5EF4-FFF2-40B4-BE49-F238E27FC236}">
                <a16:creationId xmlns:a16="http://schemas.microsoft.com/office/drawing/2014/main" id="{9C73AB0C-6CC1-87F2-575E-B598E6ADE585}"/>
              </a:ext>
            </a:extLst>
          </p:cNvPr>
          <p:cNvSpPr txBox="1"/>
          <p:nvPr/>
        </p:nvSpPr>
        <p:spPr>
          <a:xfrm>
            <a:off x="8764476" y="5260968"/>
            <a:ext cx="2857548" cy="1328023"/>
          </a:xfrm>
          <a:prstGeom prst="roundRect">
            <a:avLst/>
          </a:prstGeom>
          <a:solidFill>
            <a:schemeClr val="tx2">
              <a:lumMod val="10000"/>
              <a:lumOff val="90000"/>
              <a:alpha val="67000"/>
            </a:schemeClr>
          </a:solidFill>
        </p:spPr>
        <p:txBody>
          <a:bodyPr wrap="square">
            <a:spAutoFit/>
          </a:bodyPr>
          <a:lstStyle/>
          <a:p>
            <a:r>
              <a:rPr lang="en-SG" sz="1600" u="sng">
                <a:latin typeface="Aharoni" panose="02010803020104030203" pitchFamily="2" charset="-79"/>
                <a:cs typeface="Aharoni" panose="02010803020104030203" pitchFamily="2" charset="-79"/>
              </a:rPr>
              <a:t>Cost Trade-Off:</a:t>
            </a:r>
          </a:p>
          <a:p>
            <a:r>
              <a:rPr lang="en-SG" sz="1400" b="1">
                <a:solidFill>
                  <a:srgbClr val="C00000"/>
                </a:solidFill>
                <a:latin typeface="Arial" panose="020B0604020202020204" pitchFamily="34" charset="0"/>
                <a:cs typeface="Arial" panose="020B0604020202020204" pitchFamily="34" charset="0"/>
              </a:rPr>
              <a:t>False Negative (Missed Alert)</a:t>
            </a:r>
          </a:p>
          <a:p>
            <a:r>
              <a:rPr lang="en-SG" sz="1400" i="1">
                <a:solidFill>
                  <a:srgbClr val="C00000"/>
                </a:solidFill>
                <a:latin typeface="Arial" panose="020B0604020202020204" pitchFamily="34" charset="0"/>
                <a:cs typeface="Arial" panose="020B0604020202020204" pitchFamily="34" charset="0"/>
              </a:rPr>
              <a:t>Cost: VERY HIGH</a:t>
            </a:r>
          </a:p>
          <a:p>
            <a:r>
              <a:rPr lang="en-SG" sz="1400" b="1">
                <a:solidFill>
                  <a:schemeClr val="accent3"/>
                </a:solidFill>
                <a:latin typeface="Arial" panose="020B0604020202020204" pitchFamily="34" charset="0"/>
                <a:cs typeface="Arial" panose="020B0604020202020204" pitchFamily="34" charset="0"/>
              </a:rPr>
              <a:t>False Positive (False Alarm)</a:t>
            </a:r>
          </a:p>
          <a:p>
            <a:r>
              <a:rPr lang="en-SG" sz="1400" i="1">
                <a:solidFill>
                  <a:schemeClr val="accent3"/>
                </a:solidFill>
                <a:latin typeface="Arial" panose="020B0604020202020204" pitchFamily="34" charset="0"/>
                <a:cs typeface="Arial" panose="020B0604020202020204" pitchFamily="34" charset="0"/>
              </a:rPr>
              <a:t>Cost: MODERATE</a:t>
            </a:r>
          </a:p>
        </p:txBody>
      </p:sp>
      <p:sp>
        <p:nvSpPr>
          <p:cNvPr id="103" name="TextBox 102">
            <a:extLst>
              <a:ext uri="{FF2B5EF4-FFF2-40B4-BE49-F238E27FC236}">
                <a16:creationId xmlns:a16="http://schemas.microsoft.com/office/drawing/2014/main" id="{89D31B5C-BB43-C919-47FD-761535FBD4BD}"/>
              </a:ext>
            </a:extLst>
          </p:cNvPr>
          <p:cNvSpPr txBox="1"/>
          <p:nvPr/>
        </p:nvSpPr>
        <p:spPr>
          <a:xfrm>
            <a:off x="6505205" y="4993366"/>
            <a:ext cx="2019737" cy="338554"/>
          </a:xfrm>
          <a:prstGeom prst="rect">
            <a:avLst/>
          </a:prstGeom>
          <a:noFill/>
        </p:spPr>
        <p:txBody>
          <a:bodyPr wrap="square" lIns="91440" tIns="45720" rIns="91440" bIns="45720" anchor="t">
            <a:spAutoFit/>
          </a:bodyPr>
          <a:lstStyle/>
          <a:p>
            <a:pPr algn="ctr"/>
            <a:r>
              <a:rPr lang="en-US" sz="1600" i="1">
                <a:highlight>
                  <a:srgbClr val="FFFFCC"/>
                </a:highlight>
                <a:latin typeface="Arial"/>
                <a:cs typeface="Arial"/>
              </a:rPr>
              <a:t>Highest AUC-ROC</a:t>
            </a:r>
            <a:endParaRPr lang="en-SG" sz="1600" i="1">
              <a:highlight>
                <a:srgbClr val="FFFFCC"/>
              </a:highlight>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FA6B41FF-3139-25BC-083D-7D97371C86F5}"/>
              </a:ext>
            </a:extLst>
          </p:cNvPr>
          <p:cNvSpPr/>
          <p:nvPr/>
        </p:nvSpPr>
        <p:spPr>
          <a:xfrm>
            <a:off x="4327387" y="4832781"/>
            <a:ext cx="1843723" cy="813816"/>
          </a:xfrm>
          <a:prstGeom prst="ellipse">
            <a:avLst/>
          </a:prstGeom>
          <a:ln>
            <a:noFill/>
          </a:ln>
          <a:effectLst>
            <a:glow rad="63500">
              <a:schemeClr val="accent6">
                <a:satMod val="175000"/>
                <a:alpha val="40000"/>
              </a:schemeClr>
            </a:glo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a:latin typeface="Arial" panose="020B0604020202020204" pitchFamily="34" charset="0"/>
                <a:cs typeface="Arial" panose="020B0604020202020204" pitchFamily="34" charset="0"/>
              </a:rPr>
              <a:t>Stacking</a:t>
            </a:r>
          </a:p>
        </p:txBody>
      </p:sp>
      <p:cxnSp>
        <p:nvCxnSpPr>
          <p:cNvPr id="37" name="Straight Connector 36">
            <a:extLst>
              <a:ext uri="{FF2B5EF4-FFF2-40B4-BE49-F238E27FC236}">
                <a16:creationId xmlns:a16="http://schemas.microsoft.com/office/drawing/2014/main" id="{24AF6862-9951-B974-BC03-EB12DF0CC0C8}"/>
              </a:ext>
            </a:extLst>
          </p:cNvPr>
          <p:cNvCxnSpPr>
            <a:stCxn id="26" idx="3"/>
            <a:endCxn id="29" idx="2"/>
          </p:cNvCxnSpPr>
          <p:nvPr/>
        </p:nvCxnSpPr>
        <p:spPr>
          <a:xfrm>
            <a:off x="3013595" y="3748416"/>
            <a:ext cx="1313792" cy="149127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B278972-87C4-9782-0C9E-AFF2D8261E90}"/>
              </a:ext>
            </a:extLst>
          </p:cNvPr>
          <p:cNvCxnSpPr>
            <a:stCxn id="28" idx="3"/>
            <a:endCxn id="29" idx="2"/>
          </p:cNvCxnSpPr>
          <p:nvPr/>
        </p:nvCxnSpPr>
        <p:spPr>
          <a:xfrm>
            <a:off x="3013595" y="4548778"/>
            <a:ext cx="1313792" cy="690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D29DF17-768C-96E8-C873-3AAFBBC097FF}"/>
              </a:ext>
            </a:extLst>
          </p:cNvPr>
          <p:cNvCxnSpPr>
            <a:stCxn id="30" idx="3"/>
            <a:endCxn id="29" idx="2"/>
          </p:cNvCxnSpPr>
          <p:nvPr/>
        </p:nvCxnSpPr>
        <p:spPr>
          <a:xfrm flipV="1">
            <a:off x="3013595" y="5239689"/>
            <a:ext cx="1313792" cy="1204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C613FAF-10E0-D1B1-CDCE-2C1152CF2697}"/>
              </a:ext>
            </a:extLst>
          </p:cNvPr>
          <p:cNvCxnSpPr>
            <a:stCxn id="32" idx="3"/>
            <a:endCxn id="29" idx="2"/>
          </p:cNvCxnSpPr>
          <p:nvPr/>
        </p:nvCxnSpPr>
        <p:spPr>
          <a:xfrm flipV="1">
            <a:off x="3013595" y="5239689"/>
            <a:ext cx="1313792" cy="931887"/>
          </a:xfrm>
          <a:prstGeom prst="line">
            <a:avLst/>
          </a:prstGeom>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C57C4EE1-E41E-6B57-6391-A0BFE80D9B0C}"/>
              </a:ext>
            </a:extLst>
          </p:cNvPr>
          <p:cNvSpPr txBox="1"/>
          <p:nvPr/>
        </p:nvSpPr>
        <p:spPr>
          <a:xfrm>
            <a:off x="4219831" y="4425873"/>
            <a:ext cx="2019737" cy="338554"/>
          </a:xfrm>
          <a:prstGeom prst="rect">
            <a:avLst/>
          </a:prstGeom>
          <a:noFill/>
        </p:spPr>
        <p:txBody>
          <a:bodyPr wrap="square">
            <a:spAutoFit/>
          </a:bodyPr>
          <a:lstStyle/>
          <a:p>
            <a:pPr algn="ctr"/>
            <a:r>
              <a:rPr lang="en-US" sz="1600" i="1">
                <a:highlight>
                  <a:srgbClr val="FFFFCC"/>
                </a:highlight>
                <a:latin typeface="Arial" panose="020B0604020202020204" pitchFamily="34" charset="0"/>
                <a:cs typeface="Arial" panose="020B0604020202020204" pitchFamily="34" charset="0"/>
              </a:rPr>
              <a:t>Ensemble</a:t>
            </a:r>
            <a:endParaRPr lang="en-SG" sz="1600" i="1">
              <a:highlight>
                <a:srgbClr val="FFFFCC"/>
              </a:highlight>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D426DF26-8BE9-24BF-F107-7A155586C1FC}"/>
              </a:ext>
            </a:extLst>
          </p:cNvPr>
          <p:cNvCxnSpPr>
            <a:stCxn id="25" idx="6"/>
            <a:endCxn id="77" idx="1"/>
          </p:cNvCxnSpPr>
          <p:nvPr/>
        </p:nvCxnSpPr>
        <p:spPr>
          <a:xfrm>
            <a:off x="6132011" y="3976674"/>
            <a:ext cx="659219" cy="646931"/>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1373F1E-5C46-A0C9-2E50-ED8D5F8C5A2C}"/>
              </a:ext>
            </a:extLst>
          </p:cNvPr>
          <p:cNvCxnSpPr>
            <a:endCxn id="77" idx="1"/>
          </p:cNvCxnSpPr>
          <p:nvPr/>
        </p:nvCxnSpPr>
        <p:spPr>
          <a:xfrm flipV="1">
            <a:off x="6132011" y="4623605"/>
            <a:ext cx="659219" cy="736571"/>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357856E-5214-341C-EC2F-9E99F4F17EC6}"/>
              </a:ext>
            </a:extLst>
          </p:cNvPr>
          <p:cNvSpPr txBox="1"/>
          <p:nvPr/>
        </p:nvSpPr>
        <p:spPr>
          <a:xfrm>
            <a:off x="4059478" y="5952546"/>
            <a:ext cx="4073043" cy="578882"/>
          </a:xfrm>
          <a:prstGeom prst="roundRect">
            <a:avLst/>
          </a:prstGeom>
          <a:solidFill>
            <a:schemeClr val="tx2">
              <a:lumMod val="10000"/>
              <a:lumOff val="90000"/>
              <a:alpha val="67000"/>
            </a:schemeClr>
          </a:solidFill>
        </p:spPr>
        <p:txBody>
          <a:bodyPr wrap="square" lIns="91440" tIns="45720" rIns="91440" bIns="45720" anchor="t">
            <a:spAutoFit/>
          </a:bodyPr>
          <a:lstStyle/>
          <a:p>
            <a:r>
              <a:rPr lang="en-SG" sz="1400">
                <a:latin typeface="Arial" panose="020B0604020202020204" pitchFamily="34" charset="0"/>
                <a:ea typeface="+mn-lt"/>
                <a:cs typeface="Arial" panose="020B0604020202020204" pitchFamily="34" charset="0"/>
              </a:rPr>
              <a:t>Both implemented; tiebreak on class-0 recall. </a:t>
            </a:r>
            <a:endParaRPr lang="en-US" sz="1400">
              <a:latin typeface="Arial" panose="020B0604020202020204" pitchFamily="34" charset="0"/>
              <a:ea typeface="+mn-lt"/>
              <a:cs typeface="Arial" panose="020B0604020202020204" pitchFamily="34" charset="0"/>
            </a:endParaRPr>
          </a:p>
          <a:p>
            <a:r>
              <a:rPr lang="en-SG" sz="1400">
                <a:latin typeface="Arial" panose="020B0604020202020204" pitchFamily="34" charset="0"/>
                <a:ea typeface="+mn-lt"/>
                <a:cs typeface="Arial" panose="020B0604020202020204" pitchFamily="34" charset="0"/>
              </a:rPr>
              <a:t>Ensemble adopted if it beats best single model.</a:t>
            </a:r>
            <a:endParaRPr lang="en-US" sz="1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108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5FD31-4AF5-4EED-1D06-C999A091A24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8B4DFBB-0BF9-B06E-E33A-0E378237A565}"/>
              </a:ext>
            </a:extLst>
          </p:cNvPr>
          <p:cNvSpPr/>
          <p:nvPr/>
        </p:nvSpPr>
        <p:spPr>
          <a:xfrm>
            <a:off x="3867912" y="256032"/>
            <a:ext cx="451713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EDA</a:t>
            </a:r>
            <a:endParaRPr lang="en-SG" sz="2800">
              <a:latin typeface="Aharoni" panose="02010803020104030203" pitchFamily="2" charset="-79"/>
              <a:cs typeface="Aharoni" panose="02010803020104030203" pitchFamily="2" charset="-79"/>
            </a:endParaRPr>
          </a:p>
        </p:txBody>
      </p:sp>
      <p:pic>
        <p:nvPicPr>
          <p:cNvPr id="10" name="Picture 9">
            <a:extLst>
              <a:ext uri="{FF2B5EF4-FFF2-40B4-BE49-F238E27FC236}">
                <a16:creationId xmlns:a16="http://schemas.microsoft.com/office/drawing/2014/main" id="{0A34A9E6-40A1-5915-2D63-A3269D2D2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285" y="922924"/>
            <a:ext cx="5840187" cy="3455398"/>
          </a:xfrm>
          <a:prstGeom prst="rect">
            <a:avLst/>
          </a:prstGeom>
        </p:spPr>
      </p:pic>
      <p:pic>
        <p:nvPicPr>
          <p:cNvPr id="13" name="Picture 12">
            <a:extLst>
              <a:ext uri="{FF2B5EF4-FFF2-40B4-BE49-F238E27FC236}">
                <a16:creationId xmlns:a16="http://schemas.microsoft.com/office/drawing/2014/main" id="{337FE05F-5DC2-CD77-DD53-F0F7692ADF0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969012" y="4988153"/>
            <a:ext cx="3974646" cy="1408339"/>
          </a:xfrm>
          <a:prstGeom prst="rect">
            <a:avLst/>
          </a:prstGeom>
        </p:spPr>
      </p:pic>
      <p:pic>
        <p:nvPicPr>
          <p:cNvPr id="14" name="Picture 13">
            <a:extLst>
              <a:ext uri="{FF2B5EF4-FFF2-40B4-BE49-F238E27FC236}">
                <a16:creationId xmlns:a16="http://schemas.microsoft.com/office/drawing/2014/main" id="{AEE5999A-9131-008D-BD2E-D9932896D2D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58990" y="4653625"/>
            <a:ext cx="3567792" cy="263978"/>
          </a:xfrm>
          <a:prstGeom prst="rect">
            <a:avLst/>
          </a:prstGeom>
        </p:spPr>
      </p:pic>
      <p:pic>
        <p:nvPicPr>
          <p:cNvPr id="15" name="Picture 14">
            <a:extLst>
              <a:ext uri="{FF2B5EF4-FFF2-40B4-BE49-F238E27FC236}">
                <a16:creationId xmlns:a16="http://schemas.microsoft.com/office/drawing/2014/main" id="{69DB2DAB-A44B-6344-E569-8871D861D73B}"/>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371202" y="4471218"/>
            <a:ext cx="3597810" cy="2102793"/>
          </a:xfrm>
          <a:prstGeom prst="rect">
            <a:avLst/>
          </a:prstGeom>
        </p:spPr>
      </p:pic>
      <p:pic>
        <p:nvPicPr>
          <p:cNvPr id="2" name="Picture 1" descr="A graph of flight length distribution&#10;&#10;AI-generated content may be incorrect.">
            <a:extLst>
              <a:ext uri="{FF2B5EF4-FFF2-40B4-BE49-F238E27FC236}">
                <a16:creationId xmlns:a16="http://schemas.microsoft.com/office/drawing/2014/main" id="{37FB6CF5-8117-FD50-A5A8-3483F01DA83B}"/>
              </a:ext>
            </a:extLst>
          </p:cNvPr>
          <p:cNvPicPr>
            <a:picLocks noChangeAspect="1"/>
          </p:cNvPicPr>
          <p:nvPr/>
        </p:nvPicPr>
        <p:blipFill>
          <a:blip r:embed="rId7"/>
          <a:stretch>
            <a:fillRect/>
          </a:stretch>
        </p:blipFill>
        <p:spPr>
          <a:xfrm>
            <a:off x="362365" y="4461925"/>
            <a:ext cx="3918859" cy="2112086"/>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F2C11BE7-64D5-481F-C7D4-42397679593B}"/>
              </a:ext>
            </a:extLst>
          </p:cNvPr>
          <p:cNvPicPr>
            <a:picLocks noChangeAspect="1"/>
          </p:cNvPicPr>
          <p:nvPr/>
        </p:nvPicPr>
        <p:blipFill>
          <a:blip r:embed="rId8"/>
          <a:stretch>
            <a:fillRect/>
          </a:stretch>
        </p:blipFill>
        <p:spPr>
          <a:xfrm>
            <a:off x="7246037" y="1043786"/>
            <a:ext cx="3777637" cy="3224893"/>
          </a:xfrm>
          <a:prstGeom prst="rect">
            <a:avLst/>
          </a:prstGeom>
        </p:spPr>
      </p:pic>
      <p:sp>
        <p:nvSpPr>
          <p:cNvPr id="6" name="TextBox 5">
            <a:extLst>
              <a:ext uri="{FF2B5EF4-FFF2-40B4-BE49-F238E27FC236}">
                <a16:creationId xmlns:a16="http://schemas.microsoft.com/office/drawing/2014/main" id="{1D0401F6-D93F-0489-C846-C4399D0EA766}"/>
              </a:ext>
            </a:extLst>
          </p:cNvPr>
          <p:cNvSpPr txBox="1"/>
          <p:nvPr/>
        </p:nvSpPr>
        <p:spPr>
          <a:xfrm>
            <a:off x="7969012" y="4227179"/>
            <a:ext cx="218944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solidFill>
                  <a:srgbClr val="3F3F3F"/>
                </a:solidFill>
                <a:latin typeface="Arial" panose="020B0604020202020204" pitchFamily="34" charset="0"/>
                <a:ea typeface="+mn-lt"/>
                <a:cs typeface="Arial" panose="020B0604020202020204" pitchFamily="34" charset="0"/>
              </a:rPr>
              <a:t>(15 retained after dropping redundant ones)</a:t>
            </a:r>
            <a:endParaRPr lang="en-US" sz="800">
              <a:solidFill>
                <a:srgbClr val="3F3F3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070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7C41-BFDC-ADE9-C390-AC7646FFAD2A}"/>
            </a:ext>
          </a:extLst>
        </p:cNvPr>
        <p:cNvGrpSpPr/>
        <p:nvPr/>
      </p:nvGrpSpPr>
      <p:grpSpPr>
        <a:xfrm>
          <a:off x="0" y="0"/>
          <a:ext cx="0" cy="0"/>
          <a:chOff x="0" y="0"/>
          <a:chExt cx="0" cy="0"/>
        </a:xfrm>
      </p:grpSpPr>
      <p:sp>
        <p:nvSpPr>
          <p:cNvPr id="57" name="Arrow: Left 56">
            <a:extLst>
              <a:ext uri="{FF2B5EF4-FFF2-40B4-BE49-F238E27FC236}">
                <a16:creationId xmlns:a16="http://schemas.microsoft.com/office/drawing/2014/main" id="{677A9478-40A8-965F-6DDD-780413B62003}"/>
              </a:ext>
            </a:extLst>
          </p:cNvPr>
          <p:cNvSpPr/>
          <p:nvPr/>
        </p:nvSpPr>
        <p:spPr>
          <a:xfrm>
            <a:off x="4229100" y="3306114"/>
            <a:ext cx="7024382" cy="458883"/>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Rectangle 28">
            <a:extLst>
              <a:ext uri="{FF2B5EF4-FFF2-40B4-BE49-F238E27FC236}">
                <a16:creationId xmlns:a16="http://schemas.microsoft.com/office/drawing/2014/main" id="{A4264210-4AFB-C987-E921-B74A9E66648C}"/>
              </a:ext>
            </a:extLst>
          </p:cNvPr>
          <p:cNvSpPr/>
          <p:nvPr/>
        </p:nvSpPr>
        <p:spPr>
          <a:xfrm>
            <a:off x="141732" y="1853620"/>
            <a:ext cx="10863072" cy="2403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Rectangle: Rounded Corners 3">
            <a:extLst>
              <a:ext uri="{FF2B5EF4-FFF2-40B4-BE49-F238E27FC236}">
                <a16:creationId xmlns:a16="http://schemas.microsoft.com/office/drawing/2014/main" id="{1A5A20DB-B939-8181-9642-968F77DAC915}"/>
              </a:ext>
            </a:extLst>
          </p:cNvPr>
          <p:cNvSpPr/>
          <p:nvPr/>
        </p:nvSpPr>
        <p:spPr>
          <a:xfrm>
            <a:off x="3867912" y="256032"/>
            <a:ext cx="451713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Data Preprocessing</a:t>
            </a:r>
            <a:endParaRPr lang="en-SG" sz="2800">
              <a:latin typeface="Aharoni" panose="02010803020104030203" pitchFamily="2" charset="-79"/>
              <a:cs typeface="Aharoni" panose="02010803020104030203" pitchFamily="2" charset="-79"/>
            </a:endParaRPr>
          </a:p>
        </p:txBody>
      </p:sp>
      <p:pic>
        <p:nvPicPr>
          <p:cNvPr id="6" name="Picture 5">
            <a:extLst>
              <a:ext uri="{FF2B5EF4-FFF2-40B4-BE49-F238E27FC236}">
                <a16:creationId xmlns:a16="http://schemas.microsoft.com/office/drawing/2014/main" id="{6E80300F-6255-BCD7-6EA5-19ABFFE84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130" y="4761273"/>
            <a:ext cx="4116590" cy="1749551"/>
          </a:xfrm>
          <a:prstGeom prst="rect">
            <a:avLst/>
          </a:prstGeom>
        </p:spPr>
      </p:pic>
      <p:grpSp>
        <p:nvGrpSpPr>
          <p:cNvPr id="23" name="Group 22">
            <a:extLst>
              <a:ext uri="{FF2B5EF4-FFF2-40B4-BE49-F238E27FC236}">
                <a16:creationId xmlns:a16="http://schemas.microsoft.com/office/drawing/2014/main" id="{7EF62CFD-04D2-232B-3981-A41044051A79}"/>
              </a:ext>
            </a:extLst>
          </p:cNvPr>
          <p:cNvGrpSpPr/>
          <p:nvPr/>
        </p:nvGrpSpPr>
        <p:grpSpPr>
          <a:xfrm>
            <a:off x="2504561" y="1157992"/>
            <a:ext cx="2048256" cy="1620532"/>
            <a:chOff x="2907792" y="1152144"/>
            <a:chExt cx="2048256" cy="1620532"/>
          </a:xfrm>
        </p:grpSpPr>
        <p:sp>
          <p:nvSpPr>
            <p:cNvPr id="10" name="Rectangle 9">
              <a:extLst>
                <a:ext uri="{FF2B5EF4-FFF2-40B4-BE49-F238E27FC236}">
                  <a16:creationId xmlns:a16="http://schemas.microsoft.com/office/drawing/2014/main" id="{7EE713C5-DE8E-DA78-F739-29418127EED6}"/>
                </a:ext>
              </a:extLst>
            </p:cNvPr>
            <p:cNvSpPr/>
            <p:nvPr/>
          </p:nvSpPr>
          <p:spPr>
            <a:xfrm>
              <a:off x="2907792" y="115214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Target Engineering</a:t>
              </a:r>
              <a:endParaRPr lang="en-SG" sz="160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0B3D5BB-29FD-C20E-DD2D-817D3BD7E059}"/>
                </a:ext>
              </a:extLst>
            </p:cNvPr>
            <p:cNvSpPr txBox="1"/>
            <p:nvPr/>
          </p:nvSpPr>
          <p:spPr>
            <a:xfrm>
              <a:off x="2907792" y="1603125"/>
              <a:ext cx="2048256" cy="1169551"/>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0 (Risk) if the aircraft is within 2 days of a maintenance event, else 1 (Safe)</a:t>
              </a:r>
              <a:endParaRPr lang="en-SG" sz="1400">
                <a:latin typeface="Arial" panose="020B0604020202020204" pitchFamily="34" charset="0"/>
                <a:cs typeface="Arial" panose="020B0604020202020204" pitchFamily="34" charset="0"/>
              </a:endParaRPr>
            </a:p>
          </p:txBody>
        </p:sp>
      </p:grpSp>
      <p:sp>
        <p:nvSpPr>
          <p:cNvPr id="16" name="Arrow: Circular 15">
            <a:extLst>
              <a:ext uri="{FF2B5EF4-FFF2-40B4-BE49-F238E27FC236}">
                <a16:creationId xmlns:a16="http://schemas.microsoft.com/office/drawing/2014/main" id="{81869C52-26BD-3AD1-ADF6-7715D57159C5}"/>
              </a:ext>
            </a:extLst>
          </p:cNvPr>
          <p:cNvSpPr/>
          <p:nvPr/>
        </p:nvSpPr>
        <p:spPr>
          <a:xfrm rot="5400000">
            <a:off x="9946110" y="1778683"/>
            <a:ext cx="2075345" cy="2029968"/>
          </a:xfrm>
          <a:prstGeom prst="circular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pic>
        <p:nvPicPr>
          <p:cNvPr id="18" name="Picture 17">
            <a:extLst>
              <a:ext uri="{FF2B5EF4-FFF2-40B4-BE49-F238E27FC236}">
                <a16:creationId xmlns:a16="http://schemas.microsoft.com/office/drawing/2014/main" id="{EBC8CE6A-9316-DBE4-93AF-4A7B70B950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6976" y="4761273"/>
            <a:ext cx="2359008" cy="1852286"/>
          </a:xfrm>
          <a:prstGeom prst="rect">
            <a:avLst/>
          </a:prstGeom>
        </p:spPr>
      </p:pic>
      <p:grpSp>
        <p:nvGrpSpPr>
          <p:cNvPr id="24" name="Group 23">
            <a:extLst>
              <a:ext uri="{FF2B5EF4-FFF2-40B4-BE49-F238E27FC236}">
                <a16:creationId xmlns:a16="http://schemas.microsoft.com/office/drawing/2014/main" id="{79903C5A-AB62-465C-1739-75A178921C89}"/>
              </a:ext>
            </a:extLst>
          </p:cNvPr>
          <p:cNvGrpSpPr/>
          <p:nvPr/>
        </p:nvGrpSpPr>
        <p:grpSpPr>
          <a:xfrm>
            <a:off x="4732020" y="1157992"/>
            <a:ext cx="2048256" cy="1620532"/>
            <a:chOff x="5291328" y="1149254"/>
            <a:chExt cx="2048256" cy="1620532"/>
          </a:xfrm>
        </p:grpSpPr>
        <p:sp>
          <p:nvSpPr>
            <p:cNvPr id="20" name="Rectangle 19">
              <a:extLst>
                <a:ext uri="{FF2B5EF4-FFF2-40B4-BE49-F238E27FC236}">
                  <a16:creationId xmlns:a16="http://schemas.microsoft.com/office/drawing/2014/main" id="{6542BB1A-4067-4263-FC94-1C05F97FA404}"/>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Train/Val/ Test </a:t>
              </a:r>
              <a:endParaRPr lang="en-SG" sz="16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30C4E60D-EB7B-C833-16E4-D4549170D8BA}"/>
                </a:ext>
              </a:extLst>
            </p:cNvPr>
            <p:cNvSpPr txBox="1"/>
            <p:nvPr/>
          </p:nvSpPr>
          <p:spPr>
            <a:xfrm>
              <a:off x="5291328" y="1600235"/>
              <a:ext cx="2048256" cy="1169551"/>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Stratified Random Split: Train (70%), Val (15%) and Test (15%) </a:t>
              </a:r>
            </a:p>
            <a:p>
              <a:pPr marL="285750" indent="-285750">
                <a:buFont typeface="Arial" panose="020B0604020202020204" pitchFamily="34" charset="0"/>
                <a:buChar char="•"/>
              </a:pPr>
              <a:endParaRPr lang="en-SG" sz="1400">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62243450-70F9-5740-3A66-22CA61B8907D}"/>
              </a:ext>
            </a:extLst>
          </p:cNvPr>
          <p:cNvGrpSpPr/>
          <p:nvPr/>
        </p:nvGrpSpPr>
        <p:grpSpPr>
          <a:xfrm>
            <a:off x="6968623" y="1157992"/>
            <a:ext cx="2048256" cy="1620532"/>
            <a:chOff x="5291328" y="1149254"/>
            <a:chExt cx="2048256" cy="1620532"/>
          </a:xfrm>
        </p:grpSpPr>
        <p:sp>
          <p:nvSpPr>
            <p:cNvPr id="26" name="Rectangle 25">
              <a:extLst>
                <a:ext uri="{FF2B5EF4-FFF2-40B4-BE49-F238E27FC236}">
                  <a16:creationId xmlns:a16="http://schemas.microsoft.com/office/drawing/2014/main" id="{D2D85AB3-A7A7-F910-E880-0B5F78B63F4F}"/>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Sensor Selection</a:t>
              </a:r>
              <a:endParaRPr lang="en-SG" sz="160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9311B17C-D49D-5CF1-CE1F-46817E053EA2}"/>
                </a:ext>
              </a:extLst>
            </p:cNvPr>
            <p:cNvSpPr txBox="1"/>
            <p:nvPr/>
          </p:nvSpPr>
          <p:spPr>
            <a:xfrm>
              <a:off x="5291328" y="1600235"/>
              <a:ext cx="2048256" cy="1169551"/>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Highly correlated sensors (&gt;0.9) dropped. Out of 23 retained 15 sensors</a:t>
              </a:r>
            </a:p>
            <a:p>
              <a:pPr marL="285750" indent="-285750">
                <a:buFont typeface="Arial" panose="020B0604020202020204" pitchFamily="34" charset="0"/>
                <a:buChar char="•"/>
              </a:pPr>
              <a:endParaRPr lang="en-SG" sz="1400">
                <a:latin typeface="Arial" panose="020B0604020202020204" pitchFamily="34" charset="0"/>
                <a:cs typeface="Arial" panose="020B0604020202020204" pitchFamily="34" charset="0"/>
              </a:endParaRPr>
            </a:p>
          </p:txBody>
        </p:sp>
      </p:grpSp>
      <p:grpSp>
        <p:nvGrpSpPr>
          <p:cNvPr id="11" name="Group 10">
            <a:extLst>
              <a:ext uri="{FF2B5EF4-FFF2-40B4-BE49-F238E27FC236}">
                <a16:creationId xmlns:a16="http://schemas.microsoft.com/office/drawing/2014/main" id="{10C8B01D-B868-7B5B-F6B9-DDBB2284CD21}"/>
              </a:ext>
            </a:extLst>
          </p:cNvPr>
          <p:cNvGrpSpPr/>
          <p:nvPr/>
        </p:nvGrpSpPr>
        <p:grpSpPr>
          <a:xfrm>
            <a:off x="374009" y="1157992"/>
            <a:ext cx="1920240" cy="1620532"/>
            <a:chOff x="512064" y="1152144"/>
            <a:chExt cx="1920240" cy="1620532"/>
          </a:xfrm>
        </p:grpSpPr>
        <p:sp>
          <p:nvSpPr>
            <p:cNvPr id="7" name="Rectangle 6">
              <a:extLst>
                <a:ext uri="{FF2B5EF4-FFF2-40B4-BE49-F238E27FC236}">
                  <a16:creationId xmlns:a16="http://schemas.microsoft.com/office/drawing/2014/main" id="{0AB43346-7EBF-0DFD-AF58-20E81A1FFCA3}"/>
                </a:ext>
              </a:extLst>
            </p:cNvPr>
            <p:cNvSpPr/>
            <p:nvPr/>
          </p:nvSpPr>
          <p:spPr>
            <a:xfrm>
              <a:off x="512064" y="1152144"/>
              <a:ext cx="1920240"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Data Cleaning</a:t>
              </a:r>
              <a:endParaRPr lang="en-SG" sz="16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C199082-0224-94FD-E3BD-15A2A352BE65}"/>
                </a:ext>
              </a:extLst>
            </p:cNvPr>
            <p:cNvSpPr txBox="1"/>
            <p:nvPr/>
          </p:nvSpPr>
          <p:spPr>
            <a:xfrm>
              <a:off x="512064" y="1603125"/>
              <a:ext cx="1920240" cy="1169551"/>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SG" sz="1400" err="1">
                  <a:latin typeface="Arial" panose="020B0604020202020204" pitchFamily="34" charset="0"/>
                  <a:cs typeface="Arial" panose="020B0604020202020204" pitchFamily="34" charset="0"/>
                </a:rPr>
                <a:t>flight_length</a:t>
              </a:r>
              <a:r>
                <a:rPr lang="en-SG" sz="1400">
                  <a:latin typeface="Arial" panose="020B0604020202020204" pitchFamily="34" charset="0"/>
                  <a:cs typeface="Arial" panose="020B0604020202020204" pitchFamily="34" charset="0"/>
                </a:rPr>
                <a:t> &lt; 100 removed</a:t>
              </a:r>
            </a:p>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Flights where </a:t>
              </a:r>
              <a:r>
                <a:rPr lang="en-US" sz="1400" err="1">
                  <a:latin typeface="Arial" panose="020B0604020202020204" pitchFamily="34" charset="0"/>
                  <a:cs typeface="Arial" panose="020B0604020202020204" pitchFamily="34" charset="0"/>
                </a:rPr>
                <a:t>before_after</a:t>
              </a:r>
              <a:r>
                <a:rPr lang="en-US" sz="1400">
                  <a:latin typeface="Arial" panose="020B0604020202020204" pitchFamily="34" charset="0"/>
                  <a:cs typeface="Arial" panose="020B0604020202020204" pitchFamily="34" charset="0"/>
                </a:rPr>
                <a:t> == "same" removed</a:t>
              </a:r>
              <a:endParaRPr lang="en-SG" sz="1400">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ACE650B4-4D8E-9222-90FE-2F3D18311F50}"/>
              </a:ext>
            </a:extLst>
          </p:cNvPr>
          <p:cNvGrpSpPr/>
          <p:nvPr/>
        </p:nvGrpSpPr>
        <p:grpSpPr>
          <a:xfrm>
            <a:off x="9205226" y="1163531"/>
            <a:ext cx="2048256" cy="1614993"/>
            <a:chOff x="5291328" y="1149254"/>
            <a:chExt cx="2048256" cy="1614993"/>
          </a:xfrm>
        </p:grpSpPr>
        <p:sp>
          <p:nvSpPr>
            <p:cNvPr id="31" name="Rectangle 30">
              <a:extLst>
                <a:ext uri="{FF2B5EF4-FFF2-40B4-BE49-F238E27FC236}">
                  <a16:creationId xmlns:a16="http://schemas.microsoft.com/office/drawing/2014/main" id="{44ED9045-6F9F-8705-7E5B-38E65B8FCB23}"/>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Tabular Feature Engineering</a:t>
              </a:r>
              <a:endParaRPr lang="en-SG" sz="160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698D226C-3B2A-8540-97F0-3F00A399A99D}"/>
                </a:ext>
              </a:extLst>
            </p:cNvPr>
            <p:cNvSpPr txBox="1"/>
            <p:nvPr/>
          </p:nvSpPr>
          <p:spPr>
            <a:xfrm>
              <a:off x="5291328" y="1594696"/>
              <a:ext cx="2048256" cy="1169551"/>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Statistical, Trends, by flight phase, domain specific (fuel efficiency, imbalance etc.) </a:t>
              </a:r>
              <a:endParaRPr lang="en-SG" sz="1400">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45F6BF68-A149-6BB1-2A26-372A2BD96A18}"/>
              </a:ext>
            </a:extLst>
          </p:cNvPr>
          <p:cNvGrpSpPr/>
          <p:nvPr/>
        </p:nvGrpSpPr>
        <p:grpSpPr>
          <a:xfrm>
            <a:off x="9205226" y="3012166"/>
            <a:ext cx="2048256" cy="1399549"/>
            <a:chOff x="5291328" y="1149254"/>
            <a:chExt cx="2048256" cy="1399549"/>
          </a:xfrm>
        </p:grpSpPr>
        <p:sp>
          <p:nvSpPr>
            <p:cNvPr id="34" name="Rectangle 33">
              <a:extLst>
                <a:ext uri="{FF2B5EF4-FFF2-40B4-BE49-F238E27FC236}">
                  <a16:creationId xmlns:a16="http://schemas.microsoft.com/office/drawing/2014/main" id="{2F9096E6-CED5-CA36-6F71-5EE6E9AD8B6B}"/>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Scaling</a:t>
              </a:r>
              <a:endParaRPr lang="en-SG" sz="160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34EFBDF-1BAC-04C8-1AB2-DDBD4006A53F}"/>
                </a:ext>
              </a:extLst>
            </p:cNvPr>
            <p:cNvSpPr txBox="1"/>
            <p:nvPr/>
          </p:nvSpPr>
          <p:spPr>
            <a:xfrm>
              <a:off x="5291328" y="1594696"/>
              <a:ext cx="2048256" cy="954107"/>
            </a:xfrm>
            <a:prstGeom prst="rect">
              <a:avLst/>
            </a:prstGeom>
            <a:solidFill>
              <a:schemeClr val="bg1"/>
            </a:solidFill>
            <a:ln>
              <a:solidFill>
                <a:schemeClr val="accent4"/>
              </a:solidFill>
            </a:ln>
          </p:spPr>
          <p:txBody>
            <a:bodyPr wrap="square" lIns="91440" tIns="45720" rIns="91440" bIns="45720" rtlCol="0" anchor="t">
              <a:spAutoFit/>
            </a:bodyPr>
            <a:lstStyle/>
            <a:p>
              <a:pPr marL="285750" indent="-285750">
                <a:buFont typeface="Arial" panose="020B0604020202020204" pitchFamily="34" charset="0"/>
                <a:buChar char="•"/>
              </a:pPr>
              <a:r>
                <a:rPr lang="en-US" sz="1400" err="1">
                  <a:latin typeface="Arial"/>
                  <a:cs typeface="Arial"/>
                </a:rPr>
                <a:t>RobustScaler</a:t>
              </a:r>
              <a:r>
                <a:rPr lang="en-US" sz="1400">
                  <a:latin typeface="Arial"/>
                  <a:cs typeface="Arial"/>
                </a:rPr>
                <a:t> fitted on raw sensor sequences, tabular features</a:t>
              </a:r>
              <a:endParaRPr lang="en-SG" sz="1400">
                <a:latin typeface="Arial"/>
                <a:cs typeface="Arial"/>
              </a:endParaRPr>
            </a:p>
          </p:txBody>
        </p:sp>
      </p:grpSp>
      <p:grpSp>
        <p:nvGrpSpPr>
          <p:cNvPr id="36" name="Group 35">
            <a:extLst>
              <a:ext uri="{FF2B5EF4-FFF2-40B4-BE49-F238E27FC236}">
                <a16:creationId xmlns:a16="http://schemas.microsoft.com/office/drawing/2014/main" id="{7F2467ED-55AD-097B-402D-A79E2CF3C727}"/>
              </a:ext>
            </a:extLst>
          </p:cNvPr>
          <p:cNvGrpSpPr/>
          <p:nvPr/>
        </p:nvGrpSpPr>
        <p:grpSpPr>
          <a:xfrm>
            <a:off x="6968623" y="3012166"/>
            <a:ext cx="2048256" cy="1399549"/>
            <a:chOff x="5291328" y="1149254"/>
            <a:chExt cx="2048256" cy="1399549"/>
          </a:xfrm>
        </p:grpSpPr>
        <p:sp>
          <p:nvSpPr>
            <p:cNvPr id="37" name="Rectangle 36">
              <a:extLst>
                <a:ext uri="{FF2B5EF4-FFF2-40B4-BE49-F238E27FC236}">
                  <a16:creationId xmlns:a16="http://schemas.microsoft.com/office/drawing/2014/main" id="{3CB3652D-EC93-E894-3D3A-AD9DFAC8E10C}"/>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Missing Values</a:t>
              </a:r>
              <a:endParaRPr lang="en-SG" sz="160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B3D1AB1E-FD3A-7B01-61B3-0E5948136E7F}"/>
                </a:ext>
              </a:extLst>
            </p:cNvPr>
            <p:cNvSpPr txBox="1"/>
            <p:nvPr/>
          </p:nvSpPr>
          <p:spPr>
            <a:xfrm>
              <a:off x="5291328" y="1594696"/>
              <a:ext cx="2048256" cy="954107"/>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Forward fill, Backward fill and Zero fill to preserve temporal continuity</a:t>
              </a:r>
              <a:endParaRPr lang="en-SG" sz="1400">
                <a:latin typeface="Arial" panose="020B0604020202020204" pitchFamily="34" charset="0"/>
                <a:cs typeface="Arial" panose="020B0604020202020204" pitchFamily="34" charset="0"/>
              </a:endParaRPr>
            </a:p>
          </p:txBody>
        </p:sp>
      </p:grpSp>
      <p:sp>
        <p:nvSpPr>
          <p:cNvPr id="39" name="Oval 38">
            <a:extLst>
              <a:ext uri="{FF2B5EF4-FFF2-40B4-BE49-F238E27FC236}">
                <a16:creationId xmlns:a16="http://schemas.microsoft.com/office/drawing/2014/main" id="{B1BAC74F-FFAA-774A-1C65-C9F9D8C6422C}"/>
              </a:ext>
            </a:extLst>
          </p:cNvPr>
          <p:cNvSpPr/>
          <p:nvPr/>
        </p:nvSpPr>
        <p:spPr>
          <a:xfrm>
            <a:off x="219456" y="1069848"/>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1</a:t>
            </a:r>
            <a:endParaRPr lang="en-SG" sz="1400" b="1">
              <a:latin typeface="Arial" panose="020B0604020202020204" pitchFamily="34" charset="0"/>
              <a:cs typeface="Arial" panose="020B0604020202020204" pitchFamily="34" charset="0"/>
            </a:endParaRPr>
          </a:p>
        </p:txBody>
      </p:sp>
      <p:sp>
        <p:nvSpPr>
          <p:cNvPr id="41" name="Oval 40">
            <a:extLst>
              <a:ext uri="{FF2B5EF4-FFF2-40B4-BE49-F238E27FC236}">
                <a16:creationId xmlns:a16="http://schemas.microsoft.com/office/drawing/2014/main" id="{6156585E-7437-931D-75DF-242451C67C14}"/>
              </a:ext>
            </a:extLst>
          </p:cNvPr>
          <p:cNvSpPr/>
          <p:nvPr/>
        </p:nvSpPr>
        <p:spPr>
          <a:xfrm>
            <a:off x="2381117" y="1069848"/>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2</a:t>
            </a:r>
            <a:endParaRPr lang="en-SG" sz="1400" b="1">
              <a:latin typeface="Arial" panose="020B0604020202020204" pitchFamily="34" charset="0"/>
              <a:cs typeface="Arial" panose="020B0604020202020204" pitchFamily="34" charset="0"/>
            </a:endParaRPr>
          </a:p>
        </p:txBody>
      </p:sp>
      <p:sp>
        <p:nvSpPr>
          <p:cNvPr id="43" name="Oval 42">
            <a:extLst>
              <a:ext uri="{FF2B5EF4-FFF2-40B4-BE49-F238E27FC236}">
                <a16:creationId xmlns:a16="http://schemas.microsoft.com/office/drawing/2014/main" id="{B0A17544-F594-1E47-41ED-30F32D6EC97C}"/>
              </a:ext>
            </a:extLst>
          </p:cNvPr>
          <p:cNvSpPr/>
          <p:nvPr/>
        </p:nvSpPr>
        <p:spPr>
          <a:xfrm>
            <a:off x="4617720" y="1082872"/>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3</a:t>
            </a:r>
            <a:endParaRPr lang="en-SG" sz="1400" b="1">
              <a:latin typeface="Arial" panose="020B0604020202020204" pitchFamily="34" charset="0"/>
              <a:cs typeface="Arial" panose="020B0604020202020204" pitchFamily="34" charset="0"/>
            </a:endParaRPr>
          </a:p>
        </p:txBody>
      </p:sp>
      <p:sp>
        <p:nvSpPr>
          <p:cNvPr id="45" name="Oval 44">
            <a:extLst>
              <a:ext uri="{FF2B5EF4-FFF2-40B4-BE49-F238E27FC236}">
                <a16:creationId xmlns:a16="http://schemas.microsoft.com/office/drawing/2014/main" id="{5C704CAF-2B90-70CB-5C05-173264A59117}"/>
              </a:ext>
            </a:extLst>
          </p:cNvPr>
          <p:cNvSpPr/>
          <p:nvPr/>
        </p:nvSpPr>
        <p:spPr>
          <a:xfrm>
            <a:off x="6817747" y="1042136"/>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4</a:t>
            </a:r>
            <a:endParaRPr lang="en-SG" sz="1400" b="1">
              <a:latin typeface="Arial" panose="020B0604020202020204" pitchFamily="34" charset="0"/>
              <a:cs typeface="Arial" panose="020B0604020202020204" pitchFamily="34" charset="0"/>
            </a:endParaRPr>
          </a:p>
        </p:txBody>
      </p:sp>
      <p:sp>
        <p:nvSpPr>
          <p:cNvPr id="47" name="Oval 46">
            <a:extLst>
              <a:ext uri="{FF2B5EF4-FFF2-40B4-BE49-F238E27FC236}">
                <a16:creationId xmlns:a16="http://schemas.microsoft.com/office/drawing/2014/main" id="{CB1FFE64-E654-DF61-8799-0FF83A9B2525}"/>
              </a:ext>
            </a:extLst>
          </p:cNvPr>
          <p:cNvSpPr/>
          <p:nvPr/>
        </p:nvSpPr>
        <p:spPr>
          <a:xfrm>
            <a:off x="9081782" y="1007430"/>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5</a:t>
            </a:r>
            <a:endParaRPr lang="en-SG" sz="1400" b="1">
              <a:latin typeface="Arial" panose="020B0604020202020204" pitchFamily="34" charset="0"/>
              <a:cs typeface="Arial" panose="020B0604020202020204" pitchFamily="34" charset="0"/>
            </a:endParaRPr>
          </a:p>
        </p:txBody>
      </p:sp>
      <p:sp>
        <p:nvSpPr>
          <p:cNvPr id="49" name="Oval 48">
            <a:extLst>
              <a:ext uri="{FF2B5EF4-FFF2-40B4-BE49-F238E27FC236}">
                <a16:creationId xmlns:a16="http://schemas.microsoft.com/office/drawing/2014/main" id="{9CF18BE8-C195-DA6F-22C2-C3471D8EF12D}"/>
              </a:ext>
            </a:extLst>
          </p:cNvPr>
          <p:cNvSpPr/>
          <p:nvPr/>
        </p:nvSpPr>
        <p:spPr>
          <a:xfrm>
            <a:off x="9081782" y="2945552"/>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6</a:t>
            </a:r>
            <a:endParaRPr lang="en-SG" sz="1400" b="1">
              <a:latin typeface="Arial" panose="020B0604020202020204" pitchFamily="34" charset="0"/>
              <a:cs typeface="Arial" panose="020B0604020202020204" pitchFamily="34" charset="0"/>
            </a:endParaRPr>
          </a:p>
        </p:txBody>
      </p:sp>
      <p:sp>
        <p:nvSpPr>
          <p:cNvPr id="51" name="Oval 50">
            <a:extLst>
              <a:ext uri="{FF2B5EF4-FFF2-40B4-BE49-F238E27FC236}">
                <a16:creationId xmlns:a16="http://schemas.microsoft.com/office/drawing/2014/main" id="{54AA4700-BD56-71E9-695D-4E8DE0F56059}"/>
              </a:ext>
            </a:extLst>
          </p:cNvPr>
          <p:cNvSpPr/>
          <p:nvPr/>
        </p:nvSpPr>
        <p:spPr>
          <a:xfrm>
            <a:off x="6845179" y="2947228"/>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7</a:t>
            </a:r>
            <a:endParaRPr lang="en-SG" sz="1400" b="1">
              <a:latin typeface="Arial" panose="020B0604020202020204" pitchFamily="34" charset="0"/>
              <a:cs typeface="Arial" panose="020B0604020202020204" pitchFamily="34" charset="0"/>
            </a:endParaRPr>
          </a:p>
        </p:txBody>
      </p:sp>
      <p:grpSp>
        <p:nvGrpSpPr>
          <p:cNvPr id="52" name="Group 51">
            <a:extLst>
              <a:ext uri="{FF2B5EF4-FFF2-40B4-BE49-F238E27FC236}">
                <a16:creationId xmlns:a16="http://schemas.microsoft.com/office/drawing/2014/main" id="{B0C77499-275F-067B-5AF4-A726D9F42F1A}"/>
              </a:ext>
            </a:extLst>
          </p:cNvPr>
          <p:cNvGrpSpPr/>
          <p:nvPr/>
        </p:nvGrpSpPr>
        <p:grpSpPr>
          <a:xfrm>
            <a:off x="4229100" y="3023171"/>
            <a:ext cx="2427732" cy="1399549"/>
            <a:chOff x="5291328" y="1149254"/>
            <a:chExt cx="2048256" cy="1399549"/>
          </a:xfrm>
        </p:grpSpPr>
        <p:sp>
          <p:nvSpPr>
            <p:cNvPr id="53" name="Rectangle 52">
              <a:extLst>
                <a:ext uri="{FF2B5EF4-FFF2-40B4-BE49-F238E27FC236}">
                  <a16:creationId xmlns:a16="http://schemas.microsoft.com/office/drawing/2014/main" id="{81E46A18-5C6A-C7B4-8CC8-E1ECE3F53696}"/>
                </a:ext>
              </a:extLst>
            </p:cNvPr>
            <p:cNvSpPr/>
            <p:nvPr/>
          </p:nvSpPr>
          <p:spPr>
            <a:xfrm>
              <a:off x="5291328" y="1149254"/>
              <a:ext cx="2048256" cy="4389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Time-Series Sequence Construction</a:t>
              </a:r>
              <a:endParaRPr lang="en-SG" sz="160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F68D948E-B869-5103-DB04-18C0E6644603}"/>
                </a:ext>
              </a:extLst>
            </p:cNvPr>
            <p:cNvSpPr txBox="1"/>
            <p:nvPr/>
          </p:nvSpPr>
          <p:spPr>
            <a:xfrm>
              <a:off x="5291328" y="1594696"/>
              <a:ext cx="2048256" cy="954107"/>
            </a:xfrm>
            <a:prstGeom prst="rect">
              <a:avLst/>
            </a:prstGeom>
            <a:solidFill>
              <a:schemeClr val="bg1"/>
            </a:solidFill>
            <a:ln>
              <a:solidFill>
                <a:schemeClr val="accent4"/>
              </a:solidFill>
            </a:ln>
          </p:spPr>
          <p:txBody>
            <a:bodyPr wrap="square" rtlCol="0">
              <a:spAutoFit/>
            </a:bodyPr>
            <a:lstStyle/>
            <a:p>
              <a:pPr marL="285750" indent="-285750">
                <a:buFont typeface="Arial" panose="020B0604020202020204" pitchFamily="34" charset="0"/>
                <a:buChar char="•"/>
              </a:pPr>
              <a:r>
                <a:rPr lang="en-US" sz="1400">
                  <a:latin typeface="Arial" panose="020B0604020202020204" pitchFamily="34" charset="0"/>
                  <a:cs typeface="Arial" panose="020B0604020202020204" pitchFamily="34" charset="0"/>
                </a:rPr>
                <a:t>Fixed Length tensor of shape (9212,15) where 9212 is 95</a:t>
              </a:r>
              <a:r>
                <a:rPr lang="en-US" sz="1400" baseline="30000">
                  <a:latin typeface="Arial" panose="020B0604020202020204" pitchFamily="34" charset="0"/>
                  <a:cs typeface="Arial" panose="020B0604020202020204" pitchFamily="34" charset="0"/>
                </a:rPr>
                <a:t>th</a:t>
              </a:r>
              <a:r>
                <a:rPr lang="en-US" sz="1400">
                  <a:latin typeface="Arial" panose="020B0604020202020204" pitchFamily="34" charset="0"/>
                  <a:cs typeface="Arial" panose="020B0604020202020204" pitchFamily="34" charset="0"/>
                </a:rPr>
                <a:t> percentile length</a:t>
              </a:r>
              <a:endParaRPr lang="en-SG" sz="1400">
                <a:latin typeface="Arial" panose="020B0604020202020204" pitchFamily="34" charset="0"/>
                <a:cs typeface="Arial" panose="020B0604020202020204" pitchFamily="34" charset="0"/>
              </a:endParaRPr>
            </a:p>
          </p:txBody>
        </p:sp>
      </p:grpSp>
      <p:sp>
        <p:nvSpPr>
          <p:cNvPr id="56" name="Oval 55">
            <a:extLst>
              <a:ext uri="{FF2B5EF4-FFF2-40B4-BE49-F238E27FC236}">
                <a16:creationId xmlns:a16="http://schemas.microsoft.com/office/drawing/2014/main" id="{D66EA16C-7E16-C7A7-D7A1-CED838D61200}"/>
              </a:ext>
            </a:extLst>
          </p:cNvPr>
          <p:cNvSpPr/>
          <p:nvPr/>
        </p:nvSpPr>
        <p:spPr>
          <a:xfrm>
            <a:off x="4105656" y="2918738"/>
            <a:ext cx="246888" cy="24035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cs typeface="Arial" panose="020B0604020202020204" pitchFamily="34" charset="0"/>
              </a:rPr>
              <a:t>8</a:t>
            </a:r>
            <a:endParaRPr lang="en-SG" sz="1400" b="1">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FF4516D5-61A6-A0EF-FD15-AE3D9F8E8191}"/>
              </a:ext>
            </a:extLst>
          </p:cNvPr>
          <p:cNvSpPr txBox="1"/>
          <p:nvPr/>
        </p:nvSpPr>
        <p:spPr>
          <a:xfrm>
            <a:off x="406907" y="3038915"/>
            <a:ext cx="3461005" cy="1384995"/>
          </a:xfrm>
          <a:prstGeom prst="rect">
            <a:avLst/>
          </a:prstGeom>
          <a:noFill/>
          <a:ln>
            <a:solidFill>
              <a:schemeClr val="accent4"/>
            </a:solidFill>
          </a:ln>
        </p:spPr>
        <p:txBody>
          <a:bodyPr wrap="square" rtlCol="0">
            <a:spAutoFit/>
          </a:bodyPr>
          <a:lstStyle/>
          <a:p>
            <a:pPr algn="just"/>
            <a:r>
              <a:rPr lang="en-SG" sz="1200">
                <a:latin typeface="Arial" panose="020B0604020202020204" pitchFamily="34" charset="0"/>
                <a:cs typeface="Arial" panose="020B0604020202020204" pitchFamily="34" charset="0"/>
              </a:rPr>
              <a:t>Stratified Random Split maintains a consistent Class 0 ratio (~40.4%) across all seeds, ensuring stable and comparable evaluations. Grouped Event Split exhibits substantial fluctuations (30–58%), leading to higher evaluation variance and less reliable model comparisons.</a:t>
            </a:r>
          </a:p>
        </p:txBody>
      </p:sp>
      <p:pic>
        <p:nvPicPr>
          <p:cNvPr id="61" name="Picture 60">
            <a:extLst>
              <a:ext uri="{FF2B5EF4-FFF2-40B4-BE49-F238E27FC236}">
                <a16:creationId xmlns:a16="http://schemas.microsoft.com/office/drawing/2014/main" id="{6B9456ED-4276-72C9-C086-964287CA2638}"/>
              </a:ext>
            </a:extLst>
          </p:cNvPr>
          <p:cNvPicPr>
            <a:picLocks noChangeAspect="1"/>
          </p:cNvPicPr>
          <p:nvPr/>
        </p:nvPicPr>
        <p:blipFill>
          <a:blip r:embed="rId5"/>
          <a:stretch>
            <a:fillRect/>
          </a:stretch>
        </p:blipFill>
        <p:spPr>
          <a:xfrm>
            <a:off x="7741291" y="4526622"/>
            <a:ext cx="3358335" cy="2075346"/>
          </a:xfrm>
          <a:prstGeom prst="rect">
            <a:avLst/>
          </a:prstGeom>
        </p:spPr>
      </p:pic>
    </p:spTree>
    <p:extLst>
      <p:ext uri="{BB962C8B-B14F-4D97-AF65-F5344CB8AC3E}">
        <p14:creationId xmlns:p14="http://schemas.microsoft.com/office/powerpoint/2010/main" val="202480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6D771-9797-665F-5ED8-E136B5DB275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D833444-F7D7-90B9-7992-63DA56A8CD1D}"/>
              </a:ext>
            </a:extLst>
          </p:cNvPr>
          <p:cNvSpPr/>
          <p:nvPr/>
        </p:nvSpPr>
        <p:spPr>
          <a:xfrm>
            <a:off x="2575560" y="219456"/>
            <a:ext cx="7040880"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err="1">
                <a:latin typeface="Aharoni" panose="02010803020104030203" pitchFamily="2" charset="-79"/>
                <a:cs typeface="Aharoni" panose="02010803020104030203" pitchFamily="2" charset="-79"/>
              </a:rPr>
              <a:t>XGBoost</a:t>
            </a:r>
            <a:r>
              <a:rPr lang="en-US" sz="2800">
                <a:latin typeface="Aharoni" panose="02010803020104030203" pitchFamily="2" charset="-79"/>
                <a:cs typeface="Aharoni" panose="02010803020104030203" pitchFamily="2" charset="-79"/>
              </a:rPr>
              <a:t> Approach and Results </a:t>
            </a:r>
            <a:endParaRPr lang="en-SG" sz="2800">
              <a:latin typeface="Aharoni" panose="02010803020104030203" pitchFamily="2" charset="-79"/>
              <a:cs typeface="Aharoni" panose="02010803020104030203" pitchFamily="2" charset="-79"/>
            </a:endParaRPr>
          </a:p>
        </p:txBody>
      </p:sp>
      <p:pic>
        <p:nvPicPr>
          <p:cNvPr id="13" name="Picture 12">
            <a:extLst>
              <a:ext uri="{FF2B5EF4-FFF2-40B4-BE49-F238E27FC236}">
                <a16:creationId xmlns:a16="http://schemas.microsoft.com/office/drawing/2014/main" id="{48D8B464-2E3E-D21C-9C3B-2B20B08D3D2A}"/>
              </a:ext>
            </a:extLst>
          </p:cNvPr>
          <p:cNvPicPr>
            <a:picLocks noChangeAspect="1"/>
          </p:cNvPicPr>
          <p:nvPr/>
        </p:nvPicPr>
        <p:blipFill>
          <a:blip r:embed="rId3"/>
          <a:stretch>
            <a:fillRect/>
          </a:stretch>
        </p:blipFill>
        <p:spPr>
          <a:xfrm>
            <a:off x="8602501" y="3983213"/>
            <a:ext cx="3420000" cy="2542301"/>
          </a:xfrm>
          <a:prstGeom prst="rect">
            <a:avLst/>
          </a:prstGeom>
          <a:ln>
            <a:noFill/>
          </a:ln>
        </p:spPr>
      </p:pic>
      <p:pic>
        <p:nvPicPr>
          <p:cNvPr id="15" name="Picture 14">
            <a:extLst>
              <a:ext uri="{FF2B5EF4-FFF2-40B4-BE49-F238E27FC236}">
                <a16:creationId xmlns:a16="http://schemas.microsoft.com/office/drawing/2014/main" id="{375870FA-0932-2C85-03E3-31C4E6016995}"/>
              </a:ext>
            </a:extLst>
          </p:cNvPr>
          <p:cNvPicPr>
            <a:picLocks noChangeAspect="1"/>
          </p:cNvPicPr>
          <p:nvPr/>
        </p:nvPicPr>
        <p:blipFill>
          <a:blip r:embed="rId4"/>
          <a:stretch>
            <a:fillRect/>
          </a:stretch>
        </p:blipFill>
        <p:spPr>
          <a:xfrm>
            <a:off x="8712921" y="1164756"/>
            <a:ext cx="3309580" cy="2699999"/>
          </a:xfrm>
          <a:prstGeom prst="rect">
            <a:avLst/>
          </a:prstGeom>
          <a:ln>
            <a:noFill/>
          </a:ln>
        </p:spPr>
      </p:pic>
      <p:pic>
        <p:nvPicPr>
          <p:cNvPr id="19" name="Picture 18">
            <a:extLst>
              <a:ext uri="{FF2B5EF4-FFF2-40B4-BE49-F238E27FC236}">
                <a16:creationId xmlns:a16="http://schemas.microsoft.com/office/drawing/2014/main" id="{7D92E84D-BC2F-AD7B-D2A5-6B593FC6052A}"/>
              </a:ext>
            </a:extLst>
          </p:cNvPr>
          <p:cNvPicPr>
            <a:picLocks noChangeAspect="1"/>
          </p:cNvPicPr>
          <p:nvPr/>
        </p:nvPicPr>
        <p:blipFill>
          <a:blip r:embed="rId5"/>
          <a:stretch>
            <a:fillRect/>
          </a:stretch>
        </p:blipFill>
        <p:spPr>
          <a:xfrm>
            <a:off x="4548683" y="3983213"/>
            <a:ext cx="4034568" cy="2543065"/>
          </a:xfrm>
          <a:prstGeom prst="rect">
            <a:avLst/>
          </a:prstGeom>
          <a:ln>
            <a:noFill/>
          </a:ln>
        </p:spPr>
      </p:pic>
      <p:grpSp>
        <p:nvGrpSpPr>
          <p:cNvPr id="38" name="Group 37">
            <a:extLst>
              <a:ext uri="{FF2B5EF4-FFF2-40B4-BE49-F238E27FC236}">
                <a16:creationId xmlns:a16="http://schemas.microsoft.com/office/drawing/2014/main" id="{8C0D8D5E-F73E-D794-0A8D-0CE7A3C3BC13}"/>
              </a:ext>
            </a:extLst>
          </p:cNvPr>
          <p:cNvGrpSpPr/>
          <p:nvPr/>
        </p:nvGrpSpPr>
        <p:grpSpPr>
          <a:xfrm>
            <a:off x="4515977" y="1046301"/>
            <a:ext cx="4200876" cy="2699997"/>
            <a:chOff x="4034061" y="946680"/>
            <a:chExt cx="4200876" cy="2699997"/>
          </a:xfrm>
        </p:grpSpPr>
        <p:grpSp>
          <p:nvGrpSpPr>
            <p:cNvPr id="36" name="Group 35">
              <a:extLst>
                <a:ext uri="{FF2B5EF4-FFF2-40B4-BE49-F238E27FC236}">
                  <a16:creationId xmlns:a16="http://schemas.microsoft.com/office/drawing/2014/main" id="{90F2F759-2971-24E3-832F-7BBBC7574F49}"/>
                </a:ext>
              </a:extLst>
            </p:cNvPr>
            <p:cNvGrpSpPr/>
            <p:nvPr/>
          </p:nvGrpSpPr>
          <p:grpSpPr>
            <a:xfrm>
              <a:off x="4034061" y="975014"/>
              <a:ext cx="4200876" cy="2647365"/>
              <a:chOff x="4034061" y="975014"/>
              <a:chExt cx="4200876" cy="2647365"/>
            </a:xfrm>
          </p:grpSpPr>
          <p:sp>
            <p:nvSpPr>
              <p:cNvPr id="24" name="TextBox 23">
                <a:extLst>
                  <a:ext uri="{FF2B5EF4-FFF2-40B4-BE49-F238E27FC236}">
                    <a16:creationId xmlns:a16="http://schemas.microsoft.com/office/drawing/2014/main" id="{B02C4E70-B807-11DC-12D8-1E9828880F04}"/>
                  </a:ext>
                </a:extLst>
              </p:cNvPr>
              <p:cNvSpPr txBox="1"/>
              <p:nvPr/>
            </p:nvSpPr>
            <p:spPr>
              <a:xfrm>
                <a:off x="4034062" y="975014"/>
                <a:ext cx="3867150" cy="369332"/>
              </a:xfrm>
              <a:prstGeom prst="rect">
                <a:avLst/>
              </a:prstGeom>
              <a:noFill/>
              <a:ln>
                <a:noFill/>
              </a:ln>
            </p:spPr>
            <p:txBody>
              <a:bodyPr wrap="square" rtlCol="0">
                <a:spAutoFit/>
              </a:bodyPr>
              <a:lstStyle/>
              <a:p>
                <a:r>
                  <a:rPr lang="en-SG" u="sng">
                    <a:latin typeface="Aharoni" panose="02010803020104030203" pitchFamily="2" charset="-79"/>
                    <a:cs typeface="Aharoni" panose="02010803020104030203" pitchFamily="2" charset="-79"/>
                  </a:rPr>
                  <a:t>Classification Report</a:t>
                </a:r>
              </a:p>
            </p:txBody>
          </p:sp>
          <p:pic>
            <p:nvPicPr>
              <p:cNvPr id="26" name="Picture 25">
                <a:extLst>
                  <a:ext uri="{FF2B5EF4-FFF2-40B4-BE49-F238E27FC236}">
                    <a16:creationId xmlns:a16="http://schemas.microsoft.com/office/drawing/2014/main" id="{80B130D1-285C-6FB7-2C8D-CF65CE924DD1}"/>
                  </a:ext>
                </a:extLst>
              </p:cNvPr>
              <p:cNvPicPr>
                <a:picLocks noChangeAspect="1"/>
              </p:cNvPicPr>
              <p:nvPr/>
            </p:nvPicPr>
            <p:blipFill>
              <a:blip r:embed="rId6"/>
              <a:stretch>
                <a:fillRect/>
              </a:stretch>
            </p:blipFill>
            <p:spPr>
              <a:xfrm>
                <a:off x="4181118" y="1537130"/>
                <a:ext cx="2681870" cy="923266"/>
              </a:xfrm>
              <a:prstGeom prst="rect">
                <a:avLst/>
              </a:prstGeom>
              <a:ln>
                <a:noFill/>
              </a:ln>
            </p:spPr>
          </p:pic>
          <p:pic>
            <p:nvPicPr>
              <p:cNvPr id="30" name="Picture 29">
                <a:extLst>
                  <a:ext uri="{FF2B5EF4-FFF2-40B4-BE49-F238E27FC236}">
                    <a16:creationId xmlns:a16="http://schemas.microsoft.com/office/drawing/2014/main" id="{5C7AFEAD-6649-211A-A8AA-83C810253FB6}"/>
                  </a:ext>
                </a:extLst>
              </p:cNvPr>
              <p:cNvPicPr>
                <a:picLocks noChangeAspect="1"/>
              </p:cNvPicPr>
              <p:nvPr/>
            </p:nvPicPr>
            <p:blipFill>
              <a:blip r:embed="rId7"/>
              <a:stretch>
                <a:fillRect/>
              </a:stretch>
            </p:blipFill>
            <p:spPr>
              <a:xfrm>
                <a:off x="4181118" y="2687886"/>
                <a:ext cx="2681869" cy="934493"/>
              </a:xfrm>
              <a:prstGeom prst="rect">
                <a:avLst/>
              </a:prstGeom>
              <a:ln>
                <a:noFill/>
              </a:ln>
            </p:spPr>
          </p:pic>
          <p:sp>
            <p:nvSpPr>
              <p:cNvPr id="31" name="TextBox 30">
                <a:extLst>
                  <a:ext uri="{FF2B5EF4-FFF2-40B4-BE49-F238E27FC236}">
                    <a16:creationId xmlns:a16="http://schemas.microsoft.com/office/drawing/2014/main" id="{3A7971D4-C707-61C5-5B0E-7A13DC7093E7}"/>
                  </a:ext>
                </a:extLst>
              </p:cNvPr>
              <p:cNvSpPr txBox="1"/>
              <p:nvPr/>
            </p:nvSpPr>
            <p:spPr>
              <a:xfrm>
                <a:off x="4072562" y="1286850"/>
                <a:ext cx="3867150" cy="276999"/>
              </a:xfrm>
              <a:prstGeom prst="rect">
                <a:avLst/>
              </a:prstGeom>
              <a:noFill/>
              <a:ln>
                <a:noFill/>
              </a:ln>
            </p:spPr>
            <p:txBody>
              <a:bodyPr wrap="square" rtlCol="0">
                <a:spAutoFit/>
              </a:bodyPr>
              <a:lstStyle/>
              <a:p>
                <a:r>
                  <a:rPr lang="en-SG" sz="1200" i="1">
                    <a:latin typeface="Arial" panose="020B0604020202020204" pitchFamily="34" charset="0"/>
                    <a:cs typeface="Arial" panose="020B0604020202020204" pitchFamily="34" charset="0"/>
                  </a:rPr>
                  <a:t>Aggregated</a:t>
                </a:r>
              </a:p>
            </p:txBody>
          </p:sp>
          <p:sp>
            <p:nvSpPr>
              <p:cNvPr id="32" name="TextBox 31">
                <a:extLst>
                  <a:ext uri="{FF2B5EF4-FFF2-40B4-BE49-F238E27FC236}">
                    <a16:creationId xmlns:a16="http://schemas.microsoft.com/office/drawing/2014/main" id="{4E5CAD9D-0048-E2AF-E259-95C0962F2BEE}"/>
                  </a:ext>
                </a:extLst>
              </p:cNvPr>
              <p:cNvSpPr txBox="1"/>
              <p:nvPr/>
            </p:nvSpPr>
            <p:spPr>
              <a:xfrm>
                <a:off x="4072561" y="2478404"/>
                <a:ext cx="3867150" cy="276999"/>
              </a:xfrm>
              <a:prstGeom prst="rect">
                <a:avLst/>
              </a:prstGeom>
              <a:noFill/>
              <a:ln>
                <a:noFill/>
              </a:ln>
            </p:spPr>
            <p:txBody>
              <a:bodyPr wrap="square" rtlCol="0">
                <a:spAutoFit/>
              </a:bodyPr>
              <a:lstStyle/>
              <a:p>
                <a:r>
                  <a:rPr lang="en-SG" sz="1200" i="1">
                    <a:latin typeface="Arial" panose="020B0604020202020204" pitchFamily="34" charset="0"/>
                    <a:cs typeface="Arial" panose="020B0604020202020204" pitchFamily="34" charset="0"/>
                  </a:rPr>
                  <a:t>Raw</a:t>
                </a:r>
              </a:p>
            </p:txBody>
          </p:sp>
          <p:sp>
            <p:nvSpPr>
              <p:cNvPr id="33" name="TextBox 32">
                <a:extLst>
                  <a:ext uri="{FF2B5EF4-FFF2-40B4-BE49-F238E27FC236}">
                    <a16:creationId xmlns:a16="http://schemas.microsoft.com/office/drawing/2014/main" id="{480C6308-E7F8-F0D3-11F7-D7B12BA1650D}"/>
                  </a:ext>
                </a:extLst>
              </p:cNvPr>
              <p:cNvSpPr txBox="1"/>
              <p:nvPr/>
            </p:nvSpPr>
            <p:spPr>
              <a:xfrm>
                <a:off x="6971545" y="1259693"/>
                <a:ext cx="1263392" cy="769441"/>
              </a:xfrm>
              <a:prstGeom prst="wedgeRectCallout">
                <a:avLst>
                  <a:gd name="adj1" fmla="val -40572"/>
                  <a:gd name="adj2" fmla="val 72103"/>
                </a:avLst>
              </a:prstGeom>
              <a:solidFill>
                <a:schemeClr val="accent3">
                  <a:lumMod val="20000"/>
                  <a:lumOff val="80000"/>
                </a:schemeClr>
              </a:solidFill>
              <a:ln>
                <a:noFill/>
              </a:ln>
            </p:spPr>
            <p:txBody>
              <a:bodyPr wrap="square" rtlCol="0">
                <a:spAutoFit/>
              </a:bodyPr>
              <a:lstStyle/>
              <a:p>
                <a:pPr algn="ctr"/>
                <a:r>
                  <a:rPr lang="en-SG" sz="1100">
                    <a:latin typeface="Arial" panose="020B0604020202020204" pitchFamily="34" charset="0"/>
                    <a:cs typeface="Arial" panose="020B0604020202020204" pitchFamily="34" charset="0"/>
                  </a:rPr>
                  <a:t>~ 16 % increase in prediction accuracy from aggregation</a:t>
                </a:r>
              </a:p>
            </p:txBody>
          </p:sp>
          <p:cxnSp>
            <p:nvCxnSpPr>
              <p:cNvPr id="35" name="Straight Connector 34">
                <a:extLst>
                  <a:ext uri="{FF2B5EF4-FFF2-40B4-BE49-F238E27FC236}">
                    <a16:creationId xmlns:a16="http://schemas.microsoft.com/office/drawing/2014/main" id="{2C74E825-5272-A1EA-D0C1-691ABE967019}"/>
                  </a:ext>
                </a:extLst>
              </p:cNvPr>
              <p:cNvCxnSpPr>
                <a:cxnSpLocks/>
              </p:cNvCxnSpPr>
              <p:nvPr/>
            </p:nvCxnSpPr>
            <p:spPr>
              <a:xfrm>
                <a:off x="4034061" y="2534669"/>
                <a:ext cx="4200876" cy="0"/>
              </a:xfrm>
              <a:prstGeom prst="line">
                <a:avLst/>
              </a:prstGeom>
              <a:ln>
                <a:no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1D8671BF-CD01-6AAD-E95D-1263CABFB557}"/>
                  </a:ext>
                </a:extLst>
              </p:cNvPr>
              <p:cNvSpPr txBox="1"/>
              <p:nvPr/>
            </p:nvSpPr>
            <p:spPr>
              <a:xfrm>
                <a:off x="6915300" y="2751509"/>
                <a:ext cx="1263392" cy="430887"/>
              </a:xfrm>
              <a:prstGeom prst="wedgeRectCallout">
                <a:avLst>
                  <a:gd name="adj1" fmla="val -39110"/>
                  <a:gd name="adj2" fmla="val 81792"/>
                </a:avLst>
              </a:prstGeom>
              <a:solidFill>
                <a:schemeClr val="tx2">
                  <a:lumMod val="10000"/>
                  <a:lumOff val="90000"/>
                </a:schemeClr>
              </a:solidFill>
              <a:ln>
                <a:noFill/>
              </a:ln>
            </p:spPr>
            <p:txBody>
              <a:bodyPr wrap="square" rtlCol="0">
                <a:spAutoFit/>
              </a:bodyPr>
              <a:lstStyle/>
              <a:p>
                <a:pPr algn="ctr"/>
                <a:r>
                  <a:rPr lang="en-SG" sz="1100">
                    <a:latin typeface="Arial" panose="020B0604020202020204" pitchFamily="34" charset="0"/>
                    <a:cs typeface="Arial" panose="020B0604020202020204" pitchFamily="34" charset="0"/>
                  </a:rPr>
                  <a:t>Individual cluster points</a:t>
                </a:r>
              </a:p>
            </p:txBody>
          </p:sp>
        </p:grpSp>
        <p:sp>
          <p:nvSpPr>
            <p:cNvPr id="37" name="Rectangle 36">
              <a:extLst>
                <a:ext uri="{FF2B5EF4-FFF2-40B4-BE49-F238E27FC236}">
                  <a16:creationId xmlns:a16="http://schemas.microsoft.com/office/drawing/2014/main" id="{1CAE6E71-7C24-6F3C-53EE-7F5567CE1AEB}"/>
                </a:ext>
              </a:extLst>
            </p:cNvPr>
            <p:cNvSpPr/>
            <p:nvPr/>
          </p:nvSpPr>
          <p:spPr>
            <a:xfrm>
              <a:off x="4034061" y="946680"/>
              <a:ext cx="4200875" cy="26999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3" name="TextBox 2">
            <a:extLst>
              <a:ext uri="{FF2B5EF4-FFF2-40B4-BE49-F238E27FC236}">
                <a16:creationId xmlns:a16="http://schemas.microsoft.com/office/drawing/2014/main" id="{E5C889E6-523F-3CDB-8896-000E76B3C0F6}"/>
              </a:ext>
            </a:extLst>
          </p:cNvPr>
          <p:cNvSpPr txBox="1"/>
          <p:nvPr/>
        </p:nvSpPr>
        <p:spPr>
          <a:xfrm>
            <a:off x="233586" y="980528"/>
            <a:ext cx="4144857" cy="141577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SG" sz="1600" b="1" u="sng">
                <a:latin typeface="Aharoni" panose="02010803020104030203" pitchFamily="2" charset="-79"/>
                <a:cs typeface="Aharoni" panose="02010803020104030203" pitchFamily="2" charset="-79"/>
              </a:rPr>
              <a:t>Feature preparation</a:t>
            </a:r>
          </a:p>
          <a:p>
            <a:r>
              <a:rPr lang="en-SG" sz="1400">
                <a:latin typeface="Arial" panose="020B0604020202020204" pitchFamily="34" charset="0"/>
                <a:cs typeface="Arial" panose="020B0604020202020204" pitchFamily="34" charset="0"/>
              </a:rPr>
              <a:t>From the dataset, additional features were created</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Create missing flags per sensor</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Fill all missing values 0</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Take the difference between each timestep and the previous</a:t>
            </a:r>
          </a:p>
        </p:txBody>
      </p:sp>
      <p:sp>
        <p:nvSpPr>
          <p:cNvPr id="6" name="TextBox 5">
            <a:extLst>
              <a:ext uri="{FF2B5EF4-FFF2-40B4-BE49-F238E27FC236}">
                <a16:creationId xmlns:a16="http://schemas.microsoft.com/office/drawing/2014/main" id="{D8465591-DED1-B9F4-2237-58FEC830D237}"/>
              </a:ext>
            </a:extLst>
          </p:cNvPr>
          <p:cNvSpPr txBox="1"/>
          <p:nvPr/>
        </p:nvSpPr>
        <p:spPr>
          <a:xfrm>
            <a:off x="227012" y="2552895"/>
            <a:ext cx="4155363" cy="98488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SG" sz="1600" b="1" u="sng">
                <a:latin typeface="Aharoni" panose="02010803020104030203" pitchFamily="2" charset="-79"/>
                <a:cs typeface="Aharoni" panose="02010803020104030203" pitchFamily="2" charset="-79"/>
              </a:rPr>
              <a:t>Setup</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Group K=3 folds for XGB classifier, on training data, parameters optimized with </a:t>
            </a:r>
            <a:r>
              <a:rPr lang="en-SG" sz="1400" err="1">
                <a:latin typeface="Arial" panose="020B0604020202020204" pitchFamily="34" charset="0"/>
                <a:cs typeface="Arial" panose="020B0604020202020204" pitchFamily="34" charset="0"/>
              </a:rPr>
              <a:t>Optuna</a:t>
            </a:r>
            <a:endParaRPr lang="en-SG" sz="1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Results then aggregated per flight</a:t>
            </a:r>
          </a:p>
        </p:txBody>
      </p:sp>
      <p:sp>
        <p:nvSpPr>
          <p:cNvPr id="8" name="TextBox 7">
            <a:extLst>
              <a:ext uri="{FF2B5EF4-FFF2-40B4-BE49-F238E27FC236}">
                <a16:creationId xmlns:a16="http://schemas.microsoft.com/office/drawing/2014/main" id="{2769DD26-ED53-5F76-3FEC-3C14B7DF3FF1}"/>
              </a:ext>
            </a:extLst>
          </p:cNvPr>
          <p:cNvSpPr txBox="1"/>
          <p:nvPr/>
        </p:nvSpPr>
        <p:spPr>
          <a:xfrm>
            <a:off x="233586" y="3686956"/>
            <a:ext cx="4148789" cy="166199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SG" sz="1600" b="1" u="sng">
                <a:latin typeface="Aharoni" panose="02010803020104030203" pitchFamily="2" charset="-79"/>
                <a:cs typeface="Aharoni" panose="02010803020104030203" pitchFamily="2" charset="-79"/>
              </a:rPr>
              <a:t>Results</a:t>
            </a:r>
          </a:p>
          <a:p>
            <a:pPr marL="285750" indent="-285750">
              <a:buFont typeface="Arial" panose="020B0604020202020204" pitchFamily="34" charset="0"/>
              <a:buChar char="•"/>
            </a:pPr>
            <a:r>
              <a:rPr lang="en-SG" sz="1400" u="sng">
                <a:latin typeface="Arial" panose="020B0604020202020204" pitchFamily="34" charset="0"/>
                <a:cs typeface="Arial" panose="020B0604020202020204" pitchFamily="34" charset="0"/>
              </a:rPr>
              <a:t>Flags have strong feature importance:</a:t>
            </a:r>
            <a:r>
              <a:rPr lang="en-SG" sz="1400">
                <a:latin typeface="Arial" panose="020B0604020202020204" pitchFamily="34" charset="0"/>
                <a:cs typeface="Arial" panose="020B0604020202020204" pitchFamily="34" charset="0"/>
              </a:rPr>
              <a:t> Missing sensor data is indicator of requiring maintenance</a:t>
            </a:r>
          </a:p>
          <a:p>
            <a:pPr marL="285750" indent="-285750">
              <a:buFont typeface="Arial" panose="020B0604020202020204" pitchFamily="34" charset="0"/>
              <a:buChar char="•"/>
            </a:pPr>
            <a:r>
              <a:rPr lang="en-SG" sz="1400" u="sng">
                <a:latin typeface="Arial" panose="020B0604020202020204" pitchFamily="34" charset="0"/>
                <a:cs typeface="Arial" panose="020B0604020202020204" pitchFamily="34" charset="0"/>
              </a:rPr>
              <a:t>Aggregated Data has a ~ 70% accuracy vs Raw:</a:t>
            </a:r>
            <a:r>
              <a:rPr lang="en-SG" sz="1400">
                <a:latin typeface="Arial" panose="020B0604020202020204" pitchFamily="34" charset="0"/>
                <a:cs typeface="Arial" panose="020B0604020202020204" pitchFamily="34" charset="0"/>
              </a:rPr>
              <a:t> Not all data points within a flight are problematic points</a:t>
            </a:r>
            <a:endParaRPr lang="en-SG" sz="16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4C58C15-229B-7A46-6428-3D8206F92ADB}"/>
              </a:ext>
            </a:extLst>
          </p:cNvPr>
          <p:cNvSpPr txBox="1"/>
          <p:nvPr/>
        </p:nvSpPr>
        <p:spPr>
          <a:xfrm>
            <a:off x="233586" y="5498125"/>
            <a:ext cx="4148789" cy="98488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SG" sz="1600" b="1" u="sng">
                <a:latin typeface="Aharoni" panose="02010803020104030203" pitchFamily="2" charset="-79"/>
                <a:cs typeface="Aharoni" panose="02010803020104030203" pitchFamily="2" charset="-79"/>
              </a:rPr>
              <a:t>Conclusion</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Able to sufficiently predict</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Costly to train ~ millions of rows</a:t>
            </a:r>
          </a:p>
          <a:p>
            <a:pPr marL="285750" indent="-285750">
              <a:buFont typeface="Arial" panose="020B0604020202020204" pitchFamily="34" charset="0"/>
              <a:buChar char="•"/>
            </a:pPr>
            <a:r>
              <a:rPr lang="en-SG" sz="1400">
                <a:latin typeface="Arial" panose="020B0604020202020204" pitchFamily="34" charset="0"/>
                <a:cs typeface="Arial" panose="020B0604020202020204" pitchFamily="34" charset="0"/>
              </a:rPr>
              <a:t>Utilizing transformer steps may be necessary</a:t>
            </a:r>
          </a:p>
        </p:txBody>
      </p:sp>
    </p:spTree>
    <p:extLst>
      <p:ext uri="{BB962C8B-B14F-4D97-AF65-F5344CB8AC3E}">
        <p14:creationId xmlns:p14="http://schemas.microsoft.com/office/powerpoint/2010/main" val="412411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C7A7-B4E5-70BA-91C9-17B8408D262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C7A1A5-E991-F9BD-2AE9-F98BD8A64B15}"/>
              </a:ext>
            </a:extLst>
          </p:cNvPr>
          <p:cNvSpPr/>
          <p:nvPr/>
        </p:nvSpPr>
        <p:spPr>
          <a:xfrm>
            <a:off x="758239" y="214722"/>
            <a:ext cx="3668268"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err="1">
                <a:latin typeface="Aharoni" panose="02010803020104030203" pitchFamily="2" charset="-79"/>
                <a:cs typeface="Aharoni" panose="02010803020104030203" pitchFamily="2" charset="-79"/>
              </a:rPr>
              <a:t>MiniRocket</a:t>
            </a:r>
            <a:endParaRPr lang="en-SG" sz="2800">
              <a:latin typeface="Aharoni" panose="02010803020104030203" pitchFamily="2" charset="-79"/>
              <a:cs typeface="Aharoni" panose="02010803020104030203" pitchFamily="2" charset="-79"/>
            </a:endParaRPr>
          </a:p>
        </p:txBody>
      </p:sp>
      <p:sp>
        <p:nvSpPr>
          <p:cNvPr id="6" name="Text 5">
            <a:extLst>
              <a:ext uri="{FF2B5EF4-FFF2-40B4-BE49-F238E27FC236}">
                <a16:creationId xmlns:a16="http://schemas.microsoft.com/office/drawing/2014/main" id="{728DFE8E-986F-601F-8CC6-437E98060303}"/>
              </a:ext>
            </a:extLst>
          </p:cNvPr>
          <p:cNvSpPr/>
          <p:nvPr/>
        </p:nvSpPr>
        <p:spPr>
          <a:xfrm>
            <a:off x="2843784" y="978408"/>
            <a:ext cx="1463040" cy="318516"/>
          </a:xfrm>
          <a:prstGeom prst="rect">
            <a:avLst/>
          </a:prstGeom>
          <a:noFill/>
          <a:ln/>
        </p:spPr>
        <p:txBody>
          <a:bodyPr wrap="square" rtlCol="0" anchor="ctr"/>
          <a:lstStyle/>
          <a:p>
            <a:pPr marL="0" indent="0" algn="ctr">
              <a:buNone/>
            </a:pPr>
            <a:r>
              <a:rPr lang="en-US" sz="1300" b="1">
                <a:solidFill>
                  <a:srgbClr val="FFFFFF"/>
                </a:solidFill>
              </a:rPr>
              <a:t>MINI</a:t>
            </a:r>
            <a:endParaRPr lang="en-US" sz="1300"/>
          </a:p>
        </p:txBody>
      </p:sp>
      <p:grpSp>
        <p:nvGrpSpPr>
          <p:cNvPr id="28" name="Group 27">
            <a:extLst>
              <a:ext uri="{FF2B5EF4-FFF2-40B4-BE49-F238E27FC236}">
                <a16:creationId xmlns:a16="http://schemas.microsoft.com/office/drawing/2014/main" id="{DEB529BC-58A2-D92B-4407-5736CCCB223D}"/>
              </a:ext>
            </a:extLst>
          </p:cNvPr>
          <p:cNvGrpSpPr/>
          <p:nvPr/>
        </p:nvGrpSpPr>
        <p:grpSpPr>
          <a:xfrm>
            <a:off x="4750307" y="273558"/>
            <a:ext cx="6836669" cy="613248"/>
            <a:chOff x="4717269" y="235620"/>
            <a:chExt cx="6836669" cy="613248"/>
          </a:xfrm>
        </p:grpSpPr>
        <p:sp>
          <p:nvSpPr>
            <p:cNvPr id="8" name="Text 6">
              <a:extLst>
                <a:ext uri="{FF2B5EF4-FFF2-40B4-BE49-F238E27FC236}">
                  <a16:creationId xmlns:a16="http://schemas.microsoft.com/office/drawing/2014/main" id="{B825D8BF-4BE7-5351-B3AB-92D8302DDEFA}"/>
                </a:ext>
              </a:extLst>
            </p:cNvPr>
            <p:cNvSpPr/>
            <p:nvPr/>
          </p:nvSpPr>
          <p:spPr>
            <a:xfrm>
              <a:off x="4717269" y="675132"/>
              <a:ext cx="1463040" cy="173736"/>
            </a:xfrm>
            <a:prstGeom prst="rect">
              <a:avLst/>
            </a:prstGeom>
            <a:noFill/>
            <a:ln/>
          </p:spPr>
          <p:txBody>
            <a:bodyPr wrap="square" rtlCol="0" anchor="ctr"/>
            <a:lstStyle/>
            <a:p>
              <a:pPr marL="0" indent="0" algn="ctr">
                <a:buNone/>
              </a:pPr>
              <a:r>
                <a:rPr lang="en-US" sz="1000">
                  <a:solidFill>
                    <a:schemeClr val="tx1">
                      <a:lumMod val="50000"/>
                      <a:lumOff val="50000"/>
                    </a:schemeClr>
                  </a:solidFill>
                  <a:latin typeface="Arial" panose="020B0604020202020204" pitchFamily="34" charset="0"/>
                  <a:cs typeface="Arial" panose="020B0604020202020204" pitchFamily="34" charset="0"/>
                </a:rPr>
                <a:t>Minimally</a:t>
              </a:r>
            </a:p>
          </p:txBody>
        </p:sp>
        <p:sp>
          <p:nvSpPr>
            <p:cNvPr id="12" name="Text 9">
              <a:extLst>
                <a:ext uri="{FF2B5EF4-FFF2-40B4-BE49-F238E27FC236}">
                  <a16:creationId xmlns:a16="http://schemas.microsoft.com/office/drawing/2014/main" id="{FAC2D41D-F171-FC7D-BF7E-3D5471464099}"/>
                </a:ext>
              </a:extLst>
            </p:cNvPr>
            <p:cNvSpPr/>
            <p:nvPr/>
          </p:nvSpPr>
          <p:spPr>
            <a:xfrm>
              <a:off x="5993104" y="675132"/>
              <a:ext cx="1463040" cy="173736"/>
            </a:xfrm>
            <a:prstGeom prst="rect">
              <a:avLst/>
            </a:prstGeom>
            <a:noFill/>
            <a:ln/>
          </p:spPr>
          <p:txBody>
            <a:bodyPr wrap="square" rtlCol="0" anchor="ctr"/>
            <a:lstStyle/>
            <a:p>
              <a:pPr marL="0" indent="0" algn="ctr">
                <a:buNone/>
              </a:pPr>
              <a:r>
                <a:rPr lang="en-US" sz="1000">
                  <a:solidFill>
                    <a:schemeClr val="tx1">
                      <a:lumMod val="50000"/>
                      <a:lumOff val="50000"/>
                    </a:schemeClr>
                  </a:solidFill>
                  <a:latin typeface="Arial" panose="020B0604020202020204" pitchFamily="34" charset="0"/>
                  <a:cs typeface="Arial" panose="020B0604020202020204" pitchFamily="34" charset="0"/>
                </a:rPr>
                <a:t>Random</a:t>
              </a:r>
            </a:p>
          </p:txBody>
        </p:sp>
        <p:sp>
          <p:nvSpPr>
            <p:cNvPr id="16" name="Text 12">
              <a:extLst>
                <a:ext uri="{FF2B5EF4-FFF2-40B4-BE49-F238E27FC236}">
                  <a16:creationId xmlns:a16="http://schemas.microsoft.com/office/drawing/2014/main" id="{60729153-DF4D-3C27-80EE-AF51D1AB2A9C}"/>
                </a:ext>
              </a:extLst>
            </p:cNvPr>
            <p:cNvSpPr/>
            <p:nvPr/>
          </p:nvSpPr>
          <p:spPr>
            <a:xfrm>
              <a:off x="7443463" y="675132"/>
              <a:ext cx="1463040" cy="173736"/>
            </a:xfrm>
            <a:prstGeom prst="rect">
              <a:avLst/>
            </a:prstGeom>
            <a:noFill/>
            <a:ln/>
          </p:spPr>
          <p:txBody>
            <a:bodyPr wrap="square" rtlCol="0" anchor="ctr"/>
            <a:lstStyle/>
            <a:p>
              <a:pPr marL="0" indent="0" algn="ctr">
                <a:buNone/>
              </a:pPr>
              <a:r>
                <a:rPr lang="en-US" sz="1000">
                  <a:solidFill>
                    <a:schemeClr val="tx1">
                      <a:lumMod val="50000"/>
                      <a:lumOff val="50000"/>
                    </a:schemeClr>
                  </a:solidFill>
                  <a:latin typeface="Arial" panose="020B0604020202020204" pitchFamily="34" charset="0"/>
                  <a:cs typeface="Arial" panose="020B0604020202020204" pitchFamily="34" charset="0"/>
                </a:rPr>
                <a:t>Convolutional</a:t>
              </a:r>
            </a:p>
          </p:txBody>
        </p:sp>
        <p:sp>
          <p:nvSpPr>
            <p:cNvPr id="20" name="Text 15">
              <a:extLst>
                <a:ext uri="{FF2B5EF4-FFF2-40B4-BE49-F238E27FC236}">
                  <a16:creationId xmlns:a16="http://schemas.microsoft.com/office/drawing/2014/main" id="{0989585F-28C3-4107-97EB-B73FA55FBB5B}"/>
                </a:ext>
              </a:extLst>
            </p:cNvPr>
            <p:cNvSpPr/>
            <p:nvPr/>
          </p:nvSpPr>
          <p:spPr>
            <a:xfrm>
              <a:off x="8760840" y="675132"/>
              <a:ext cx="1463040" cy="173736"/>
            </a:xfrm>
            <a:prstGeom prst="rect">
              <a:avLst/>
            </a:prstGeom>
            <a:noFill/>
            <a:ln/>
          </p:spPr>
          <p:txBody>
            <a:bodyPr wrap="square" rtlCol="0" anchor="ctr"/>
            <a:lstStyle/>
            <a:p>
              <a:pPr marL="0" indent="0" algn="ctr">
                <a:buNone/>
              </a:pPr>
              <a:r>
                <a:rPr lang="en-US" sz="1000">
                  <a:solidFill>
                    <a:schemeClr val="tx1">
                      <a:lumMod val="50000"/>
                      <a:lumOff val="50000"/>
                    </a:schemeClr>
                  </a:solidFill>
                  <a:latin typeface="Arial" panose="020B0604020202020204" pitchFamily="34" charset="0"/>
                  <a:cs typeface="Arial" panose="020B0604020202020204" pitchFamily="34" charset="0"/>
                </a:rPr>
                <a:t>Kernel</a:t>
              </a:r>
            </a:p>
          </p:txBody>
        </p:sp>
        <p:sp>
          <p:nvSpPr>
            <p:cNvPr id="24" name="Text 18">
              <a:extLst>
                <a:ext uri="{FF2B5EF4-FFF2-40B4-BE49-F238E27FC236}">
                  <a16:creationId xmlns:a16="http://schemas.microsoft.com/office/drawing/2014/main" id="{544EFC83-18CD-54DF-BE59-AFE421805306}"/>
                </a:ext>
              </a:extLst>
            </p:cNvPr>
            <p:cNvSpPr/>
            <p:nvPr/>
          </p:nvSpPr>
          <p:spPr>
            <a:xfrm>
              <a:off x="10090898" y="675132"/>
              <a:ext cx="1463040" cy="173736"/>
            </a:xfrm>
            <a:prstGeom prst="rect">
              <a:avLst/>
            </a:prstGeom>
            <a:noFill/>
            <a:ln/>
          </p:spPr>
          <p:txBody>
            <a:bodyPr wrap="square" rtlCol="0" anchor="ctr"/>
            <a:lstStyle/>
            <a:p>
              <a:pPr marL="0" indent="0" algn="ctr">
                <a:buNone/>
              </a:pPr>
              <a:r>
                <a:rPr lang="en-US" sz="1000">
                  <a:solidFill>
                    <a:schemeClr val="tx1">
                      <a:lumMod val="50000"/>
                      <a:lumOff val="50000"/>
                    </a:schemeClr>
                  </a:solidFill>
                  <a:latin typeface="Arial" panose="020B0604020202020204" pitchFamily="34" charset="0"/>
                  <a:cs typeface="Arial" panose="020B0604020202020204" pitchFamily="34" charset="0"/>
                </a:rPr>
                <a:t>Transform</a:t>
              </a:r>
            </a:p>
          </p:txBody>
        </p:sp>
        <p:grpSp>
          <p:nvGrpSpPr>
            <p:cNvPr id="27" name="Group 26">
              <a:extLst>
                <a:ext uri="{FF2B5EF4-FFF2-40B4-BE49-F238E27FC236}">
                  <a16:creationId xmlns:a16="http://schemas.microsoft.com/office/drawing/2014/main" id="{D9B96FA8-6B9D-23C9-CA2B-43FC60B759E7}"/>
                </a:ext>
              </a:extLst>
            </p:cNvPr>
            <p:cNvGrpSpPr/>
            <p:nvPr/>
          </p:nvGrpSpPr>
          <p:grpSpPr>
            <a:xfrm>
              <a:off x="4826510" y="235620"/>
              <a:ext cx="6684265" cy="394092"/>
              <a:chOff x="3840480" y="347472"/>
              <a:chExt cx="7754113" cy="323771"/>
            </a:xfrm>
          </p:grpSpPr>
          <p:sp>
            <p:nvSpPr>
              <p:cNvPr id="3" name="Shape 4">
                <a:extLst>
                  <a:ext uri="{FF2B5EF4-FFF2-40B4-BE49-F238E27FC236}">
                    <a16:creationId xmlns:a16="http://schemas.microsoft.com/office/drawing/2014/main" id="{8287F33C-C62D-8EF4-E9D7-3E35A8B5C46E}"/>
                  </a:ext>
                </a:extLst>
              </p:cNvPr>
              <p:cNvSpPr/>
              <p:nvPr/>
            </p:nvSpPr>
            <p:spPr>
              <a:xfrm>
                <a:off x="3840480" y="347472"/>
                <a:ext cx="1463040" cy="318516"/>
              </a:xfrm>
              <a:prstGeom prst="roundRect">
                <a:avLst>
                  <a:gd name="adj" fmla="val 14545"/>
                </a:avLst>
              </a:prstGeom>
              <a:solidFill>
                <a:srgbClr val="0D9488"/>
              </a:solidFill>
              <a:ln w="12700">
                <a:solidFill>
                  <a:srgbClr val="0D9488"/>
                </a:solidFill>
                <a:prstDash val="solid"/>
              </a:ln>
            </p:spPr>
            <p:txBody>
              <a:bodyPr/>
              <a:lstStyle/>
              <a:p>
                <a:pPr algn="ctr"/>
                <a:r>
                  <a:rPr lang="en-US" b="1">
                    <a:solidFill>
                      <a:schemeClr val="bg1"/>
                    </a:solidFill>
                    <a:latin typeface="Arial" panose="020B0604020202020204" pitchFamily="34" charset="0"/>
                    <a:cs typeface="Arial" panose="020B0604020202020204" pitchFamily="34" charset="0"/>
                  </a:rPr>
                  <a:t>MINI</a:t>
                </a:r>
                <a:endParaRPr lang="en-SG" b="1">
                  <a:solidFill>
                    <a:schemeClr val="bg1"/>
                  </a:solidFill>
                  <a:latin typeface="Arial" panose="020B0604020202020204" pitchFamily="34" charset="0"/>
                  <a:cs typeface="Arial" panose="020B0604020202020204" pitchFamily="34" charset="0"/>
                </a:endParaRPr>
              </a:p>
            </p:txBody>
          </p:sp>
          <p:sp>
            <p:nvSpPr>
              <p:cNvPr id="10" name="Shape 7">
                <a:extLst>
                  <a:ext uri="{FF2B5EF4-FFF2-40B4-BE49-F238E27FC236}">
                    <a16:creationId xmlns:a16="http://schemas.microsoft.com/office/drawing/2014/main" id="{2AA3759F-5245-5DA5-A705-D33711E1120A}"/>
                  </a:ext>
                </a:extLst>
              </p:cNvPr>
              <p:cNvSpPr/>
              <p:nvPr/>
            </p:nvSpPr>
            <p:spPr>
              <a:xfrm>
                <a:off x="5413248" y="347472"/>
                <a:ext cx="1463040" cy="318516"/>
              </a:xfrm>
              <a:prstGeom prst="roundRect">
                <a:avLst>
                  <a:gd name="adj" fmla="val 14545"/>
                </a:avLst>
              </a:prstGeom>
              <a:solidFill>
                <a:srgbClr val="0D9488"/>
              </a:solidFill>
              <a:ln w="12700">
                <a:solidFill>
                  <a:srgbClr val="0D9488"/>
                </a:solidFill>
                <a:prstDash val="solid"/>
              </a:ln>
            </p:spPr>
            <p:txBody>
              <a:bodyPr/>
              <a:lstStyle/>
              <a:p>
                <a:pPr algn="ctr"/>
                <a:r>
                  <a:rPr lang="en-US" b="1">
                    <a:solidFill>
                      <a:schemeClr val="bg1"/>
                    </a:solidFill>
                    <a:latin typeface="Arial" panose="020B0604020202020204" pitchFamily="34" charset="0"/>
                    <a:cs typeface="Arial" panose="020B0604020202020204" pitchFamily="34" charset="0"/>
                  </a:rPr>
                  <a:t>RO</a:t>
                </a:r>
                <a:endParaRPr lang="en-SG" b="1">
                  <a:solidFill>
                    <a:schemeClr val="bg1"/>
                  </a:solidFill>
                  <a:latin typeface="Arial" panose="020B0604020202020204" pitchFamily="34" charset="0"/>
                  <a:cs typeface="Arial" panose="020B0604020202020204" pitchFamily="34" charset="0"/>
                </a:endParaRPr>
              </a:p>
            </p:txBody>
          </p:sp>
          <p:sp>
            <p:nvSpPr>
              <p:cNvPr id="14" name="Shape 10">
                <a:extLst>
                  <a:ext uri="{FF2B5EF4-FFF2-40B4-BE49-F238E27FC236}">
                    <a16:creationId xmlns:a16="http://schemas.microsoft.com/office/drawing/2014/main" id="{32CF7736-7664-2583-C5CD-EA35373E9D80}"/>
                  </a:ext>
                </a:extLst>
              </p:cNvPr>
              <p:cNvSpPr/>
              <p:nvPr/>
            </p:nvSpPr>
            <p:spPr>
              <a:xfrm>
                <a:off x="6986016" y="347472"/>
                <a:ext cx="1463040" cy="318516"/>
              </a:xfrm>
              <a:prstGeom prst="roundRect">
                <a:avLst>
                  <a:gd name="adj" fmla="val 14545"/>
                </a:avLst>
              </a:prstGeom>
              <a:solidFill>
                <a:srgbClr val="0D9488"/>
              </a:solidFill>
              <a:ln w="12700">
                <a:solidFill>
                  <a:srgbClr val="0D9488"/>
                </a:solidFill>
                <a:prstDash val="solid"/>
              </a:ln>
            </p:spPr>
            <p:txBody>
              <a:bodyPr/>
              <a:lstStyle/>
              <a:p>
                <a:pPr algn="ctr"/>
                <a:r>
                  <a:rPr lang="en-US" b="1">
                    <a:solidFill>
                      <a:schemeClr val="bg1"/>
                    </a:solidFill>
                    <a:latin typeface="Arial" panose="020B0604020202020204" pitchFamily="34" charset="0"/>
                    <a:cs typeface="Arial" panose="020B0604020202020204" pitchFamily="34" charset="0"/>
                  </a:rPr>
                  <a:t>C</a:t>
                </a:r>
                <a:endParaRPr lang="en-SG" b="1">
                  <a:solidFill>
                    <a:schemeClr val="bg1"/>
                  </a:solidFill>
                  <a:latin typeface="Arial" panose="020B0604020202020204" pitchFamily="34" charset="0"/>
                  <a:cs typeface="Arial" panose="020B0604020202020204" pitchFamily="34" charset="0"/>
                </a:endParaRPr>
              </a:p>
            </p:txBody>
          </p:sp>
          <p:sp>
            <p:nvSpPr>
              <p:cNvPr id="18" name="Shape 13">
                <a:extLst>
                  <a:ext uri="{FF2B5EF4-FFF2-40B4-BE49-F238E27FC236}">
                    <a16:creationId xmlns:a16="http://schemas.microsoft.com/office/drawing/2014/main" id="{BF027CA7-677F-D6E0-10A7-FCD1CE10501F}"/>
                  </a:ext>
                </a:extLst>
              </p:cNvPr>
              <p:cNvSpPr/>
              <p:nvPr/>
            </p:nvSpPr>
            <p:spPr>
              <a:xfrm>
                <a:off x="8558784" y="347472"/>
                <a:ext cx="1463040" cy="318516"/>
              </a:xfrm>
              <a:prstGeom prst="roundRect">
                <a:avLst>
                  <a:gd name="adj" fmla="val 14545"/>
                </a:avLst>
              </a:prstGeom>
              <a:solidFill>
                <a:srgbClr val="0D9488"/>
              </a:solidFill>
              <a:ln w="12700">
                <a:solidFill>
                  <a:srgbClr val="0D9488"/>
                </a:solidFill>
                <a:prstDash val="solid"/>
              </a:ln>
            </p:spPr>
            <p:txBody>
              <a:bodyPr/>
              <a:lstStyle/>
              <a:p>
                <a:pPr algn="ctr"/>
                <a:r>
                  <a:rPr lang="en-US" b="1">
                    <a:solidFill>
                      <a:schemeClr val="bg1"/>
                    </a:solidFill>
                    <a:latin typeface="Arial" panose="020B0604020202020204" pitchFamily="34" charset="0"/>
                    <a:cs typeface="Arial" panose="020B0604020202020204" pitchFamily="34" charset="0"/>
                  </a:rPr>
                  <a:t>KE</a:t>
                </a:r>
                <a:endParaRPr lang="en-SG" b="1">
                  <a:solidFill>
                    <a:schemeClr val="bg1"/>
                  </a:solidFill>
                  <a:latin typeface="Arial" panose="020B0604020202020204" pitchFamily="34" charset="0"/>
                  <a:cs typeface="Arial" panose="020B0604020202020204" pitchFamily="34" charset="0"/>
                </a:endParaRPr>
              </a:p>
            </p:txBody>
          </p:sp>
          <p:sp>
            <p:nvSpPr>
              <p:cNvPr id="26" name="Shape 13">
                <a:extLst>
                  <a:ext uri="{FF2B5EF4-FFF2-40B4-BE49-F238E27FC236}">
                    <a16:creationId xmlns:a16="http://schemas.microsoft.com/office/drawing/2014/main" id="{56DFB94C-2C0A-517B-33C8-2F418AC6B740}"/>
                  </a:ext>
                </a:extLst>
              </p:cNvPr>
              <p:cNvSpPr/>
              <p:nvPr/>
            </p:nvSpPr>
            <p:spPr>
              <a:xfrm>
                <a:off x="10131553" y="352727"/>
                <a:ext cx="1463040" cy="318516"/>
              </a:xfrm>
              <a:prstGeom prst="roundRect">
                <a:avLst>
                  <a:gd name="adj" fmla="val 14545"/>
                </a:avLst>
              </a:prstGeom>
              <a:solidFill>
                <a:srgbClr val="0D9488"/>
              </a:solidFill>
              <a:ln w="12700">
                <a:solidFill>
                  <a:srgbClr val="0D9488"/>
                </a:solidFill>
                <a:prstDash val="solid"/>
              </a:ln>
            </p:spPr>
            <p:txBody>
              <a:bodyPr/>
              <a:lstStyle/>
              <a:p>
                <a:pPr algn="ctr"/>
                <a:r>
                  <a:rPr lang="en-US" b="1">
                    <a:solidFill>
                      <a:schemeClr val="bg1"/>
                    </a:solidFill>
                    <a:latin typeface="Arial" panose="020B0604020202020204" pitchFamily="34" charset="0"/>
                    <a:cs typeface="Arial" panose="020B0604020202020204" pitchFamily="34" charset="0"/>
                  </a:rPr>
                  <a:t>T</a:t>
                </a:r>
                <a:endParaRPr lang="en-SG" b="1">
                  <a:solidFill>
                    <a:schemeClr val="bg1"/>
                  </a:solidFill>
                  <a:latin typeface="Arial" panose="020B0604020202020204" pitchFamily="34" charset="0"/>
                  <a:cs typeface="Arial" panose="020B0604020202020204" pitchFamily="34" charset="0"/>
                </a:endParaRPr>
              </a:p>
            </p:txBody>
          </p:sp>
        </p:grpSp>
      </p:grpSp>
      <p:sp>
        <p:nvSpPr>
          <p:cNvPr id="5" name="TextBox 4">
            <a:extLst>
              <a:ext uri="{FF2B5EF4-FFF2-40B4-BE49-F238E27FC236}">
                <a16:creationId xmlns:a16="http://schemas.microsoft.com/office/drawing/2014/main" id="{6947DE20-6766-6DF7-F7B5-D37A0C7D8060}"/>
              </a:ext>
            </a:extLst>
          </p:cNvPr>
          <p:cNvSpPr txBox="1"/>
          <p:nvPr/>
        </p:nvSpPr>
        <p:spPr>
          <a:xfrm>
            <a:off x="621792" y="877465"/>
            <a:ext cx="11000232" cy="584775"/>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Why </a:t>
            </a:r>
            <a:r>
              <a:rPr lang="en-SG" sz="1600" u="sng" err="1">
                <a:latin typeface="Aharoni" panose="02010803020104030203" pitchFamily="2" charset="-79"/>
                <a:cs typeface="Aharoni" panose="02010803020104030203" pitchFamily="2" charset="-79"/>
              </a:rPr>
              <a:t>MiniRocket</a:t>
            </a:r>
            <a:r>
              <a:rPr lang="en-SG" sz="1600" u="sng">
                <a:latin typeface="Aharoni" panose="02010803020104030203" pitchFamily="2" charset="-79"/>
                <a:cs typeface="Aharoni" panose="02010803020104030203" pitchFamily="2" charset="-79"/>
              </a:rPr>
              <a:t>:</a:t>
            </a:r>
            <a:r>
              <a:rPr lang="en-SG" sz="1600">
                <a:latin typeface="Aharoni" panose="02010803020104030203" pitchFamily="2" charset="-79"/>
                <a:cs typeface="Aharoni" panose="02010803020104030203" pitchFamily="2" charset="-79"/>
              </a:rPr>
              <a:t> </a:t>
            </a:r>
            <a:r>
              <a:rPr lang="en-US" sz="1600">
                <a:latin typeface="Arial" panose="020B0604020202020204" pitchFamily="34" charset="0"/>
                <a:cs typeface="Arial" panose="020B0604020202020204" pitchFamily="34" charset="0"/>
              </a:rPr>
              <a:t>Time-series classification models are often computationally intensive and slow to train. </a:t>
            </a:r>
            <a:r>
              <a:rPr lang="en-US" sz="1600" err="1">
                <a:latin typeface="Arial" panose="020B0604020202020204" pitchFamily="34" charset="0"/>
                <a:cs typeface="Arial" panose="020B0604020202020204" pitchFamily="34" charset="0"/>
              </a:rPr>
              <a:t>MiniRocket</a:t>
            </a:r>
            <a:r>
              <a:rPr lang="en-US" sz="1600">
                <a:latin typeface="Arial" panose="020B0604020202020204" pitchFamily="34" charset="0"/>
                <a:cs typeface="Arial" panose="020B0604020202020204" pitchFamily="34" charset="0"/>
              </a:rPr>
              <a:t> provides a fast, deterministic, and highly efficient feature transformation approach, significantly reducing training time.</a:t>
            </a:r>
            <a:endParaRPr lang="en-SG" sz="1600">
              <a:latin typeface="Arial" panose="020B0604020202020204" pitchFamily="34" charset="0"/>
              <a:cs typeface="Arial" panose="020B0604020202020204" pitchFamily="34" charset="0"/>
            </a:endParaRPr>
          </a:p>
        </p:txBody>
      </p:sp>
      <p:graphicFrame>
        <p:nvGraphicFramePr>
          <p:cNvPr id="9" name="Diagram 8">
            <a:extLst>
              <a:ext uri="{FF2B5EF4-FFF2-40B4-BE49-F238E27FC236}">
                <a16:creationId xmlns:a16="http://schemas.microsoft.com/office/drawing/2014/main" id="{3E1DEAAC-7218-15DC-3AF6-B914A099E7B8}"/>
              </a:ext>
            </a:extLst>
          </p:cNvPr>
          <p:cNvGraphicFramePr/>
          <p:nvPr>
            <p:extLst>
              <p:ext uri="{D42A27DB-BD31-4B8C-83A1-F6EECF244321}">
                <p14:modId xmlns:p14="http://schemas.microsoft.com/office/powerpoint/2010/main" val="4034059175"/>
              </p:ext>
            </p:extLst>
          </p:nvPr>
        </p:nvGraphicFramePr>
        <p:xfrm>
          <a:off x="731995" y="2023840"/>
          <a:ext cx="10890029" cy="6916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Arrow: U-Turn 10">
            <a:extLst>
              <a:ext uri="{FF2B5EF4-FFF2-40B4-BE49-F238E27FC236}">
                <a16:creationId xmlns:a16="http://schemas.microsoft.com/office/drawing/2014/main" id="{6B110CDF-36AF-1A07-579E-B236A9015963}"/>
              </a:ext>
            </a:extLst>
          </p:cNvPr>
          <p:cNvSpPr/>
          <p:nvPr/>
        </p:nvSpPr>
        <p:spPr>
          <a:xfrm>
            <a:off x="3012799" y="1705424"/>
            <a:ext cx="4182328" cy="318415"/>
          </a:xfrm>
          <a:prstGeom prst="utur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3" name="TextBox 12">
            <a:extLst>
              <a:ext uri="{FF2B5EF4-FFF2-40B4-BE49-F238E27FC236}">
                <a16:creationId xmlns:a16="http://schemas.microsoft.com/office/drawing/2014/main" id="{26F8BAE1-9D63-5F90-5DEF-6755366379D9}"/>
              </a:ext>
            </a:extLst>
          </p:cNvPr>
          <p:cNvSpPr txBox="1"/>
          <p:nvPr/>
        </p:nvSpPr>
        <p:spPr>
          <a:xfrm>
            <a:off x="3701328" y="1439064"/>
            <a:ext cx="3144582"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Repeat for Many Kernels and Dilations</a:t>
            </a:r>
            <a:endParaRPr lang="en-SG" sz="1200" i="1">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B2AD3DFC-9918-CBF5-5A05-3A9DC687CAF2}"/>
              </a:ext>
            </a:extLst>
          </p:cNvPr>
          <p:cNvSpPr txBox="1"/>
          <p:nvPr/>
        </p:nvSpPr>
        <p:spPr>
          <a:xfrm>
            <a:off x="2512293" y="2753872"/>
            <a:ext cx="1699490" cy="492443"/>
          </a:xfrm>
          <a:prstGeom prst="rect">
            <a:avLst/>
          </a:prstGeom>
          <a:solidFill>
            <a:schemeClr val="bg1"/>
          </a:solidFill>
          <a:ln>
            <a:solidFill>
              <a:schemeClr val="accent4"/>
            </a:solidFill>
          </a:ln>
        </p:spPr>
        <p:txBody>
          <a:bodyPr wrap="square" rtlCol="0">
            <a:spAutoFit/>
          </a:bodyPr>
          <a:lstStyle/>
          <a:p>
            <a:r>
              <a:rPr lang="en-US" sz="1300">
                <a:latin typeface="Arial" panose="020B0604020202020204" pitchFamily="34" charset="0"/>
                <a:cs typeface="Arial" panose="020B0604020202020204" pitchFamily="34" charset="0"/>
              </a:rPr>
              <a:t>1D Kernel (length 9) dilation d</a:t>
            </a:r>
            <a:endParaRPr lang="en-SG" sz="130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5DC4579F-5672-6B5D-1105-58F9630D21AE}"/>
              </a:ext>
            </a:extLst>
          </p:cNvPr>
          <p:cNvSpPr txBox="1"/>
          <p:nvPr/>
        </p:nvSpPr>
        <p:spPr>
          <a:xfrm>
            <a:off x="4326652" y="2753872"/>
            <a:ext cx="1699490" cy="492443"/>
          </a:xfrm>
          <a:prstGeom prst="rect">
            <a:avLst/>
          </a:prstGeom>
          <a:solidFill>
            <a:schemeClr val="bg1"/>
          </a:solidFill>
          <a:ln>
            <a:solidFill>
              <a:schemeClr val="accent4"/>
            </a:solidFill>
          </a:ln>
        </p:spPr>
        <p:txBody>
          <a:bodyPr wrap="square" rtlCol="0">
            <a:spAutoFit/>
          </a:bodyPr>
          <a:lstStyle/>
          <a:p>
            <a:r>
              <a:rPr lang="en-US" sz="1300">
                <a:latin typeface="Arial" panose="020B0604020202020204" pitchFamily="34" charset="0"/>
                <a:cs typeface="Arial" panose="020B0604020202020204" pitchFamily="34" charset="0"/>
              </a:rPr>
              <a:t>Kernel slides across sequence</a:t>
            </a:r>
            <a:endParaRPr lang="en-SG" sz="130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1514F66-618A-1426-24DF-E08F90036181}"/>
              </a:ext>
            </a:extLst>
          </p:cNvPr>
          <p:cNvSpPr txBox="1"/>
          <p:nvPr/>
        </p:nvSpPr>
        <p:spPr>
          <a:xfrm>
            <a:off x="6096000" y="2753872"/>
            <a:ext cx="3398982" cy="492443"/>
          </a:xfrm>
          <a:prstGeom prst="rect">
            <a:avLst/>
          </a:prstGeom>
          <a:solidFill>
            <a:schemeClr val="bg1"/>
          </a:solidFill>
          <a:ln>
            <a:solidFill>
              <a:schemeClr val="accent4"/>
            </a:solidFill>
          </a:ln>
        </p:spPr>
        <p:txBody>
          <a:bodyPr wrap="square" rtlCol="0">
            <a:spAutoFit/>
          </a:bodyPr>
          <a:lstStyle/>
          <a:p>
            <a:r>
              <a:rPr lang="en-US" sz="1300">
                <a:latin typeface="Arial" panose="020B0604020202020204" pitchFamily="34" charset="0"/>
                <a:cs typeface="Arial" panose="020B0604020202020204" pitchFamily="34" charset="0"/>
              </a:rPr>
              <a:t>PPV converts each feature map to one number by taking fraction of positive values</a:t>
            </a:r>
            <a:endParaRPr lang="en-SG" sz="130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9C57B35-4CFD-A555-B14C-FD5183EFE93C}"/>
              </a:ext>
            </a:extLst>
          </p:cNvPr>
          <p:cNvSpPr txBox="1"/>
          <p:nvPr/>
        </p:nvSpPr>
        <p:spPr>
          <a:xfrm>
            <a:off x="9564840" y="2753872"/>
            <a:ext cx="1749705" cy="492443"/>
          </a:xfrm>
          <a:prstGeom prst="rect">
            <a:avLst/>
          </a:prstGeom>
          <a:solidFill>
            <a:schemeClr val="bg1"/>
          </a:solidFill>
          <a:ln>
            <a:solidFill>
              <a:schemeClr val="accent4"/>
            </a:solidFill>
          </a:ln>
        </p:spPr>
        <p:txBody>
          <a:bodyPr wrap="square" rtlCol="0">
            <a:spAutoFit/>
          </a:bodyPr>
          <a:lstStyle/>
          <a:p>
            <a:r>
              <a:rPr lang="en-US" sz="1300">
                <a:latin typeface="Arial" panose="020B0604020202020204" pitchFamily="34" charset="0"/>
                <a:cs typeface="Arial" panose="020B0604020202020204" pitchFamily="34" charset="0"/>
              </a:rPr>
              <a:t>Ridge/ Logistic regression</a:t>
            </a:r>
            <a:endParaRPr lang="en-SG" sz="1300">
              <a:latin typeface="Arial" panose="020B0604020202020204" pitchFamily="34" charset="0"/>
              <a:cs typeface="Arial" panose="020B0604020202020204" pitchFamily="34" charset="0"/>
            </a:endParaRPr>
          </a:p>
        </p:txBody>
      </p:sp>
      <p:graphicFrame>
        <p:nvGraphicFramePr>
          <p:cNvPr id="35" name="Table 34">
            <a:extLst>
              <a:ext uri="{FF2B5EF4-FFF2-40B4-BE49-F238E27FC236}">
                <a16:creationId xmlns:a16="http://schemas.microsoft.com/office/drawing/2014/main" id="{2135217B-D037-E054-4812-BA52BF9B996D}"/>
              </a:ext>
            </a:extLst>
          </p:cNvPr>
          <p:cNvGraphicFramePr>
            <a:graphicFrameLocks noGrp="1"/>
          </p:cNvGraphicFramePr>
          <p:nvPr>
            <p:extLst>
              <p:ext uri="{D42A27DB-BD31-4B8C-83A1-F6EECF244321}">
                <p14:modId xmlns:p14="http://schemas.microsoft.com/office/powerpoint/2010/main" val="2747295262"/>
              </p:ext>
            </p:extLst>
          </p:nvPr>
        </p:nvGraphicFramePr>
        <p:xfrm>
          <a:off x="368499" y="3515527"/>
          <a:ext cx="4058008" cy="2372360"/>
        </p:xfrm>
        <a:graphic>
          <a:graphicData uri="http://schemas.openxmlformats.org/drawingml/2006/table">
            <a:tbl>
              <a:tblPr firstRow="1" bandRow="1">
                <a:tableStyleId>{5940675A-B579-460E-94D1-54222C63F5DA}</a:tableStyleId>
              </a:tblPr>
              <a:tblGrid>
                <a:gridCol w="1899947">
                  <a:extLst>
                    <a:ext uri="{9D8B030D-6E8A-4147-A177-3AD203B41FA5}">
                      <a16:colId xmlns:a16="http://schemas.microsoft.com/office/drawing/2014/main" val="988678297"/>
                    </a:ext>
                  </a:extLst>
                </a:gridCol>
                <a:gridCol w="2158061">
                  <a:extLst>
                    <a:ext uri="{9D8B030D-6E8A-4147-A177-3AD203B41FA5}">
                      <a16:colId xmlns:a16="http://schemas.microsoft.com/office/drawing/2014/main" val="3315380036"/>
                    </a:ext>
                  </a:extLst>
                </a:gridCol>
              </a:tblGrid>
              <a:tr h="370840">
                <a:tc gridSpan="2">
                  <a:txBody>
                    <a:bodyPr/>
                    <a:lstStyle/>
                    <a:p>
                      <a:r>
                        <a:rPr lang="en-SG" sz="1400" b="0" i="1" err="1">
                          <a:highlight>
                            <a:srgbClr val="FFFFCC"/>
                          </a:highlight>
                          <a:latin typeface="Arial"/>
                          <a:cs typeface="Arial"/>
                        </a:rPr>
                        <a:t>MiniRocket</a:t>
                      </a:r>
                      <a:r>
                        <a:rPr lang="en-SG" sz="1400" b="0" i="1">
                          <a:highlight>
                            <a:srgbClr val="FFFFCC"/>
                          </a:highlight>
                          <a:latin typeface="Arial"/>
                          <a:cs typeface="Arial"/>
                        </a:rPr>
                        <a:t> is deterministic and minimally random</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SG"/>
                    </a:p>
                  </a:txBody>
                  <a:tcPr/>
                </a:tc>
                <a:extLst>
                  <a:ext uri="{0D108BD9-81ED-4DB2-BD59-A6C34878D82A}">
                    <a16:rowId xmlns:a16="http://schemas.microsoft.com/office/drawing/2014/main" val="22707147"/>
                  </a:ext>
                </a:extLst>
              </a:tr>
              <a:tr h="370840">
                <a:tc>
                  <a:txBody>
                    <a:bodyPr/>
                    <a:lstStyle/>
                    <a:p>
                      <a:r>
                        <a:rPr lang="en-SG" sz="1400">
                          <a:latin typeface="Arial" panose="020B0604020202020204" pitchFamily="34" charset="0"/>
                          <a:cs typeface="Arial" panose="020B0604020202020204" pitchFamily="34" charset="0"/>
                        </a:rPr>
                        <a:t>Kernel </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10000"/>
                        <a:lumOff val="90000"/>
                      </a:schemeClr>
                    </a:solidFill>
                  </a:tcPr>
                </a:tc>
                <a:tc>
                  <a:txBody>
                    <a:bodyPr/>
                    <a:lstStyle/>
                    <a:p>
                      <a:pPr algn="ctr"/>
                      <a:r>
                        <a:rPr lang="en-SG" sz="1400">
                          <a:latin typeface="Arial" panose="020B0604020202020204" pitchFamily="34" charset="0"/>
                          <a:cs typeface="Arial" panose="020B0604020202020204" pitchFamily="34" charset="0"/>
                        </a:rPr>
                        <a:t>Fixed set of 84 kernels</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949511"/>
                  </a:ext>
                </a:extLst>
              </a:tr>
              <a:tr h="370840">
                <a:tc>
                  <a:txBody>
                    <a:bodyPr/>
                    <a:lstStyle/>
                    <a:p>
                      <a:r>
                        <a:rPr lang="en-SG" sz="1400">
                          <a:latin typeface="Arial" panose="020B0604020202020204" pitchFamily="34" charset="0"/>
                          <a:cs typeface="Arial" panose="020B0604020202020204" pitchFamily="34" charset="0"/>
                        </a:rPr>
                        <a:t>Weights</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10000"/>
                        <a:lumOff val="90000"/>
                      </a:schemeClr>
                    </a:solidFill>
                  </a:tcPr>
                </a:tc>
                <a:tc>
                  <a:txBody>
                    <a:bodyPr/>
                    <a:lstStyle/>
                    <a:p>
                      <a:pPr algn="ctr"/>
                      <a:r>
                        <a:rPr lang="en-SG" sz="1400">
                          <a:latin typeface="Arial" panose="020B0604020202020204" pitchFamily="34" charset="0"/>
                          <a:cs typeface="Arial" panose="020B0604020202020204" pitchFamily="34" charset="0"/>
                        </a:rPr>
                        <a:t>{-1,2}</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52498037"/>
                  </a:ext>
                </a:extLst>
              </a:tr>
              <a:tr h="370840">
                <a:tc>
                  <a:txBody>
                    <a:bodyPr/>
                    <a:lstStyle/>
                    <a:p>
                      <a:r>
                        <a:rPr lang="en-SG" sz="1400">
                          <a:latin typeface="Arial" panose="020B0604020202020204" pitchFamily="34" charset="0"/>
                          <a:cs typeface="Arial" panose="020B0604020202020204" pitchFamily="34" charset="0"/>
                        </a:rPr>
                        <a:t>Dilation</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10000"/>
                        <a:lumOff val="90000"/>
                      </a:schemeClr>
                    </a:solidFill>
                  </a:tcPr>
                </a:tc>
                <a:tc>
                  <a:txBody>
                    <a:bodyPr/>
                    <a:lstStyle/>
                    <a:p>
                      <a:pPr algn="ctr"/>
                      <a:r>
                        <a:rPr lang="en-SG" sz="1400">
                          <a:latin typeface="Arial" panose="020B0604020202020204" pitchFamily="34" charset="0"/>
                          <a:cs typeface="Arial" panose="020B0604020202020204" pitchFamily="34" charset="0"/>
                        </a:rPr>
                        <a:t>Fixed (rel. to input length)</a:t>
                      </a:r>
                    </a:p>
                    <a:p>
                      <a:pPr algn="ctr"/>
                      <a:r>
                        <a:rPr lang="en-SG" sz="1400">
                          <a:latin typeface="Arial" panose="020B0604020202020204" pitchFamily="34" charset="0"/>
                          <a:cs typeface="Arial" panose="020B0604020202020204" pitchFamily="34" charset="0"/>
                        </a:rPr>
                        <a:t>Powers of 2 </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64533510"/>
                  </a:ext>
                </a:extLst>
              </a:tr>
              <a:tr h="370840">
                <a:tc>
                  <a:txBody>
                    <a:bodyPr/>
                    <a:lstStyle/>
                    <a:p>
                      <a:r>
                        <a:rPr lang="en-SG" sz="1400">
                          <a:latin typeface="Arial" panose="020B0604020202020204" pitchFamily="34" charset="0"/>
                          <a:cs typeface="Arial" panose="020B0604020202020204" pitchFamily="34" charset="0"/>
                        </a:rPr>
                        <a:t>Padding</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10000"/>
                        <a:lumOff val="90000"/>
                      </a:schemeClr>
                    </a:solidFill>
                  </a:tcPr>
                </a:tc>
                <a:tc>
                  <a:txBody>
                    <a:bodyPr/>
                    <a:lstStyle/>
                    <a:p>
                      <a:pPr algn="ctr"/>
                      <a:r>
                        <a:rPr lang="en-SG" sz="1400">
                          <a:latin typeface="Arial" panose="020B0604020202020204" pitchFamily="34" charset="0"/>
                          <a:cs typeface="Arial" panose="020B0604020202020204" pitchFamily="34" charset="0"/>
                        </a:rPr>
                        <a:t>Fixed</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04239298"/>
                  </a:ext>
                </a:extLst>
              </a:tr>
              <a:tr h="370840">
                <a:tc>
                  <a:txBody>
                    <a:bodyPr/>
                    <a:lstStyle/>
                    <a:p>
                      <a:r>
                        <a:rPr lang="en-SG" sz="1400">
                          <a:latin typeface="Arial" panose="020B0604020202020204" pitchFamily="34" charset="0"/>
                          <a:cs typeface="Arial" panose="020B0604020202020204" pitchFamily="34" charset="0"/>
                        </a:rPr>
                        <a:t># of features (default)</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10000"/>
                        <a:lumOff val="90000"/>
                      </a:schemeClr>
                    </a:solidFill>
                  </a:tcPr>
                </a:tc>
                <a:tc>
                  <a:txBody>
                    <a:bodyPr/>
                    <a:lstStyle/>
                    <a:p>
                      <a:pPr algn="ctr"/>
                      <a:r>
                        <a:rPr lang="en-SG" sz="1400">
                          <a:latin typeface="Arial" panose="020B0604020202020204" pitchFamily="34" charset="0"/>
                          <a:cs typeface="Arial" panose="020B0604020202020204" pitchFamily="34" charset="0"/>
                        </a:rPr>
                        <a:t>~10k</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94959218"/>
                  </a:ext>
                </a:extLst>
              </a:tr>
            </a:tbl>
          </a:graphicData>
        </a:graphic>
      </p:graphicFrame>
      <p:sp>
        <p:nvSpPr>
          <p:cNvPr id="37" name="TextBox 36">
            <a:extLst>
              <a:ext uri="{FF2B5EF4-FFF2-40B4-BE49-F238E27FC236}">
                <a16:creationId xmlns:a16="http://schemas.microsoft.com/office/drawing/2014/main" id="{286F76A2-D72B-C527-BE09-BC359FB5046F}"/>
              </a:ext>
            </a:extLst>
          </p:cNvPr>
          <p:cNvSpPr txBox="1"/>
          <p:nvPr/>
        </p:nvSpPr>
        <p:spPr>
          <a:xfrm>
            <a:off x="368499" y="6053203"/>
            <a:ext cx="4058007" cy="461665"/>
          </a:xfrm>
          <a:prstGeom prst="rect">
            <a:avLst/>
          </a:prstGeom>
          <a:solidFill>
            <a:schemeClr val="bg1"/>
          </a:solidFill>
          <a:ln>
            <a:solidFill>
              <a:schemeClr val="accent4"/>
            </a:solidFill>
          </a:ln>
        </p:spPr>
        <p:txBody>
          <a:bodyPr wrap="square" rtlCol="0">
            <a:spAutoFit/>
          </a:bodyPr>
          <a:lstStyle/>
          <a:p>
            <a:r>
              <a:rPr lang="en-US" sz="1200">
                <a:latin typeface="Arial" panose="020B0604020202020204" pitchFamily="34" charset="0"/>
                <a:cs typeface="Arial" panose="020B0604020202020204" pitchFamily="34" charset="0"/>
              </a:rPr>
              <a:t>Dilation creates gaps in kernel which increase receptive field and helps identify short and long patterns</a:t>
            </a:r>
            <a:endParaRPr lang="en-SG" sz="120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24FCDB0A-7919-A7D6-7A88-B892754BFC23}"/>
              </a:ext>
            </a:extLst>
          </p:cNvPr>
          <p:cNvSpPr txBox="1"/>
          <p:nvPr/>
        </p:nvSpPr>
        <p:spPr>
          <a:xfrm>
            <a:off x="4750307" y="3346250"/>
            <a:ext cx="1181397" cy="338554"/>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Approach</a:t>
            </a:r>
            <a:endParaRPr lang="en-SG" sz="1600">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617F298D-5DCB-CB1B-8279-812438F29F19}"/>
              </a:ext>
            </a:extLst>
          </p:cNvPr>
          <p:cNvSpPr/>
          <p:nvPr/>
        </p:nvSpPr>
        <p:spPr>
          <a:xfrm>
            <a:off x="4750306" y="3684804"/>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a:solidFill>
                  <a:schemeClr val="tx1"/>
                </a:solidFill>
                <a:latin typeface="Arial" panose="020B0604020202020204" pitchFamily="34" charset="0"/>
                <a:cs typeface="Arial" panose="020B0604020202020204" pitchFamily="34" charset="0"/>
              </a:rPr>
              <a:t>Input Time Series</a:t>
            </a:r>
          </a:p>
          <a:p>
            <a:pPr algn="ctr"/>
            <a:r>
              <a:rPr lang="en-SG" sz="1200" i="1">
                <a:solidFill>
                  <a:schemeClr val="tx1"/>
                </a:solidFill>
                <a:latin typeface="Arial" panose="020B0604020202020204" pitchFamily="34" charset="0"/>
                <a:cs typeface="Arial" panose="020B0604020202020204" pitchFamily="34" charset="0"/>
              </a:rPr>
              <a:t>Shape: (19540, 9212, 15)</a:t>
            </a:r>
          </a:p>
        </p:txBody>
      </p:sp>
      <p:sp>
        <p:nvSpPr>
          <p:cNvPr id="42" name="Rectangle 41">
            <a:extLst>
              <a:ext uri="{FF2B5EF4-FFF2-40B4-BE49-F238E27FC236}">
                <a16:creationId xmlns:a16="http://schemas.microsoft.com/office/drawing/2014/main" id="{86A2AA96-8BF5-705B-F885-11697F374A55}"/>
              </a:ext>
            </a:extLst>
          </p:cNvPr>
          <p:cNvSpPr/>
          <p:nvPr/>
        </p:nvSpPr>
        <p:spPr>
          <a:xfrm>
            <a:off x="4750307" y="4701707"/>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err="1">
                <a:solidFill>
                  <a:schemeClr val="tx1"/>
                </a:solidFill>
                <a:latin typeface="Arial" panose="020B0604020202020204" pitchFamily="34" charset="0"/>
                <a:cs typeface="Arial" panose="020B0604020202020204" pitchFamily="34" charset="0"/>
              </a:rPr>
              <a:t>MiniRocketMultivariate</a:t>
            </a:r>
            <a:r>
              <a:rPr lang="en-SG" sz="1400">
                <a:solidFill>
                  <a:schemeClr val="tx1"/>
                </a:solidFill>
                <a:latin typeface="Arial" panose="020B0604020202020204" pitchFamily="34" charset="0"/>
                <a:cs typeface="Arial" panose="020B0604020202020204" pitchFamily="34" charset="0"/>
              </a:rPr>
              <a:t>()</a:t>
            </a:r>
          </a:p>
          <a:p>
            <a:pPr algn="ctr"/>
            <a:r>
              <a:rPr lang="en-SG" sz="1200" i="1">
                <a:solidFill>
                  <a:schemeClr val="tx1"/>
                </a:solidFill>
                <a:latin typeface="Arial" panose="020B0604020202020204" pitchFamily="34" charset="0"/>
                <a:cs typeface="Arial" panose="020B0604020202020204" pitchFamily="34" charset="0"/>
              </a:rPr>
              <a:t>fitted to get features </a:t>
            </a:r>
          </a:p>
          <a:p>
            <a:pPr algn="ctr"/>
            <a:r>
              <a:rPr lang="en-SG" sz="1200" i="1">
                <a:solidFill>
                  <a:schemeClr val="tx1"/>
                </a:solidFill>
                <a:latin typeface="Arial" panose="020B0604020202020204" pitchFamily="34" charset="0"/>
                <a:cs typeface="Arial" panose="020B0604020202020204" pitchFamily="34" charset="0"/>
              </a:rPr>
              <a:t>Shape: (N, 9996)</a:t>
            </a:r>
          </a:p>
        </p:txBody>
      </p:sp>
      <p:cxnSp>
        <p:nvCxnSpPr>
          <p:cNvPr id="44" name="Straight Arrow Connector 43">
            <a:extLst>
              <a:ext uri="{FF2B5EF4-FFF2-40B4-BE49-F238E27FC236}">
                <a16:creationId xmlns:a16="http://schemas.microsoft.com/office/drawing/2014/main" id="{7A0811D0-E3E0-6343-847A-1A4726B9DAA4}"/>
              </a:ext>
            </a:extLst>
          </p:cNvPr>
          <p:cNvCxnSpPr>
            <a:stCxn id="40" idx="2"/>
            <a:endCxn id="42" idx="0"/>
          </p:cNvCxnSpPr>
          <p:nvPr/>
        </p:nvCxnSpPr>
        <p:spPr>
          <a:xfrm>
            <a:off x="5798108" y="4461164"/>
            <a:ext cx="1" cy="240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203B772E-7583-8DC4-AD75-672A59B75320}"/>
              </a:ext>
            </a:extLst>
          </p:cNvPr>
          <p:cNvSpPr/>
          <p:nvPr/>
        </p:nvSpPr>
        <p:spPr>
          <a:xfrm>
            <a:off x="4750305" y="5718610"/>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a:solidFill>
                  <a:schemeClr val="tx1"/>
                </a:solidFill>
                <a:latin typeface="Arial" panose="020B0604020202020204" pitchFamily="34" charset="0"/>
                <a:cs typeface="Arial" panose="020B0604020202020204" pitchFamily="34" charset="0"/>
              </a:rPr>
              <a:t>Concatenate tabular features </a:t>
            </a:r>
          </a:p>
          <a:p>
            <a:pPr algn="ctr"/>
            <a:r>
              <a:rPr lang="en-SG" sz="1200" i="1">
                <a:solidFill>
                  <a:schemeClr val="tx1"/>
                </a:solidFill>
                <a:latin typeface="Arial" panose="020B0604020202020204" pitchFamily="34" charset="0"/>
                <a:cs typeface="Arial" panose="020B0604020202020204" pitchFamily="34" charset="0"/>
              </a:rPr>
              <a:t>Shape: (N, 10293)</a:t>
            </a:r>
            <a:endParaRPr lang="en-SG" sz="1100" i="1">
              <a:solidFill>
                <a:schemeClr val="tx1"/>
              </a:solidFill>
              <a:latin typeface="Arial" panose="020B0604020202020204" pitchFamily="34" charset="0"/>
              <a:cs typeface="Arial" panose="020B0604020202020204" pitchFamily="34" charset="0"/>
            </a:endParaRPr>
          </a:p>
        </p:txBody>
      </p:sp>
      <p:cxnSp>
        <p:nvCxnSpPr>
          <p:cNvPr id="47" name="Straight Arrow Connector 46">
            <a:extLst>
              <a:ext uri="{FF2B5EF4-FFF2-40B4-BE49-F238E27FC236}">
                <a16:creationId xmlns:a16="http://schemas.microsoft.com/office/drawing/2014/main" id="{227D0F94-6AB2-CE94-F2C8-5688384C695F}"/>
              </a:ext>
            </a:extLst>
          </p:cNvPr>
          <p:cNvCxnSpPr/>
          <p:nvPr/>
        </p:nvCxnSpPr>
        <p:spPr>
          <a:xfrm>
            <a:off x="5798105" y="5478067"/>
            <a:ext cx="1" cy="240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B481BB86-D455-482F-C5A5-8B71C05E681E}"/>
              </a:ext>
            </a:extLst>
          </p:cNvPr>
          <p:cNvSpPr/>
          <p:nvPr/>
        </p:nvSpPr>
        <p:spPr>
          <a:xfrm>
            <a:off x="7153878" y="5718610"/>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G" sz="1400">
                <a:solidFill>
                  <a:schemeClr val="tx1"/>
                </a:solidFill>
                <a:latin typeface="Arial"/>
                <a:cs typeface="Arial"/>
              </a:rPr>
              <a:t>Scaling</a:t>
            </a:r>
          </a:p>
          <a:p>
            <a:pPr algn="ctr"/>
            <a:r>
              <a:rPr lang="en-SG" sz="1200" i="1" err="1">
                <a:solidFill>
                  <a:schemeClr val="tx1"/>
                </a:solidFill>
                <a:latin typeface="Arial"/>
                <a:cs typeface="Arial"/>
              </a:rPr>
              <a:t>StandardScalar</a:t>
            </a:r>
            <a:r>
              <a:rPr lang="en-SG" sz="1200" i="1">
                <a:solidFill>
                  <a:schemeClr val="tx1"/>
                </a:solidFill>
                <a:latin typeface="Arial"/>
                <a:cs typeface="Arial"/>
              </a:rPr>
              <a:t>()</a:t>
            </a:r>
          </a:p>
        </p:txBody>
      </p:sp>
      <p:sp>
        <p:nvSpPr>
          <p:cNvPr id="52" name="Rectangle 51">
            <a:extLst>
              <a:ext uri="{FF2B5EF4-FFF2-40B4-BE49-F238E27FC236}">
                <a16:creationId xmlns:a16="http://schemas.microsoft.com/office/drawing/2014/main" id="{03E500BE-FD2D-D874-6B8A-651A54919698}"/>
              </a:ext>
            </a:extLst>
          </p:cNvPr>
          <p:cNvSpPr/>
          <p:nvPr/>
        </p:nvSpPr>
        <p:spPr>
          <a:xfrm>
            <a:off x="7153877" y="4701707"/>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a:solidFill>
                  <a:schemeClr val="tx1"/>
                </a:solidFill>
                <a:latin typeface="Arial" panose="020B0604020202020204" pitchFamily="34" charset="0"/>
                <a:cs typeface="Arial" panose="020B0604020202020204" pitchFamily="34" charset="0"/>
              </a:rPr>
              <a:t>Ridge Classifier</a:t>
            </a:r>
          </a:p>
          <a:p>
            <a:pPr algn="ctr"/>
            <a:r>
              <a:rPr lang="en-SG" sz="1200" i="1">
                <a:solidFill>
                  <a:schemeClr val="tx1"/>
                </a:solidFill>
                <a:latin typeface="Arial" panose="020B0604020202020204" pitchFamily="34" charset="0"/>
                <a:cs typeface="Arial" panose="020B0604020202020204" pitchFamily="34" charset="0"/>
              </a:rPr>
              <a:t>alpha=1210, </a:t>
            </a:r>
            <a:r>
              <a:rPr lang="en-SG" sz="1200" i="1" err="1">
                <a:solidFill>
                  <a:schemeClr val="tx1"/>
                </a:solidFill>
                <a:latin typeface="Arial" panose="020B0604020202020204" pitchFamily="34" charset="0"/>
                <a:cs typeface="Arial" panose="020B0604020202020204" pitchFamily="34" charset="0"/>
              </a:rPr>
              <a:t>class_weight</a:t>
            </a:r>
            <a:r>
              <a:rPr lang="en-SG" sz="1200" i="1">
                <a:solidFill>
                  <a:schemeClr val="tx1"/>
                </a:solidFill>
                <a:latin typeface="Arial" panose="020B0604020202020204" pitchFamily="34" charset="0"/>
                <a:cs typeface="Arial" panose="020B0604020202020204" pitchFamily="34" charset="0"/>
              </a:rPr>
              <a:t>=“balanced”</a:t>
            </a:r>
          </a:p>
        </p:txBody>
      </p:sp>
      <p:sp>
        <p:nvSpPr>
          <p:cNvPr id="54" name="Rectangle 53">
            <a:extLst>
              <a:ext uri="{FF2B5EF4-FFF2-40B4-BE49-F238E27FC236}">
                <a16:creationId xmlns:a16="http://schemas.microsoft.com/office/drawing/2014/main" id="{2203ACCD-9962-8199-B51B-1B9F5D12CD00}"/>
              </a:ext>
            </a:extLst>
          </p:cNvPr>
          <p:cNvSpPr/>
          <p:nvPr/>
        </p:nvSpPr>
        <p:spPr>
          <a:xfrm>
            <a:off x="9494982" y="5702863"/>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a:solidFill>
                  <a:schemeClr val="tx1"/>
                </a:solidFill>
                <a:latin typeface="Arial" panose="020B0604020202020204" pitchFamily="34" charset="0"/>
                <a:cs typeface="Arial" panose="020B0604020202020204" pitchFamily="34" charset="0"/>
              </a:rPr>
              <a:t>Logistic Regression</a:t>
            </a:r>
          </a:p>
          <a:p>
            <a:pPr algn="ctr"/>
            <a:r>
              <a:rPr lang="en-SG" sz="1200" i="1">
                <a:solidFill>
                  <a:schemeClr val="tx1"/>
                </a:solidFill>
                <a:latin typeface="Arial" panose="020B0604020202020204" pitchFamily="34" charset="0"/>
                <a:cs typeface="Arial" panose="020B0604020202020204" pitchFamily="34" charset="0"/>
              </a:rPr>
              <a:t>C=0.005, </a:t>
            </a:r>
            <a:r>
              <a:rPr lang="en-SG" sz="1200" i="1" err="1">
                <a:solidFill>
                  <a:schemeClr val="tx1"/>
                </a:solidFill>
                <a:latin typeface="Arial" panose="020B0604020202020204" pitchFamily="34" charset="0"/>
                <a:cs typeface="Arial" panose="020B0604020202020204" pitchFamily="34" charset="0"/>
              </a:rPr>
              <a:t>class_weight</a:t>
            </a:r>
            <a:r>
              <a:rPr lang="en-SG" sz="1200" i="1">
                <a:solidFill>
                  <a:schemeClr val="tx1"/>
                </a:solidFill>
                <a:latin typeface="Arial" panose="020B0604020202020204" pitchFamily="34" charset="0"/>
                <a:cs typeface="Arial" panose="020B0604020202020204" pitchFamily="34" charset="0"/>
              </a:rPr>
              <a:t>=“balanced”</a:t>
            </a:r>
          </a:p>
        </p:txBody>
      </p:sp>
      <p:sp>
        <p:nvSpPr>
          <p:cNvPr id="56" name="TextBox 55">
            <a:extLst>
              <a:ext uri="{FF2B5EF4-FFF2-40B4-BE49-F238E27FC236}">
                <a16:creationId xmlns:a16="http://schemas.microsoft.com/office/drawing/2014/main" id="{5D01D12F-BA02-6368-667C-1BEE3022E68A}"/>
              </a:ext>
            </a:extLst>
          </p:cNvPr>
          <p:cNvSpPr txBox="1"/>
          <p:nvPr/>
        </p:nvSpPr>
        <p:spPr>
          <a:xfrm>
            <a:off x="5527890" y="6564811"/>
            <a:ext cx="4596046" cy="246221"/>
          </a:xfrm>
          <a:prstGeom prst="rect">
            <a:avLst/>
          </a:prstGeom>
          <a:solidFill>
            <a:schemeClr val="bg1"/>
          </a:solidFill>
          <a:ln>
            <a:noFill/>
          </a:ln>
        </p:spPr>
        <p:txBody>
          <a:bodyPr wrap="square" rtlCol="0">
            <a:spAutoFit/>
          </a:bodyPr>
          <a:lstStyle/>
          <a:p>
            <a:r>
              <a:rPr lang="en-US" sz="1000">
                <a:latin typeface="Arial" panose="020B0604020202020204" pitchFamily="34" charset="0"/>
                <a:cs typeface="Arial" panose="020B0604020202020204" pitchFamily="34" charset="0"/>
              </a:rPr>
              <a:t>*Hyperparameters were tuned of each classifier using </a:t>
            </a:r>
            <a:r>
              <a:rPr lang="en-US" sz="1000" err="1">
                <a:latin typeface="Arial" panose="020B0604020202020204" pitchFamily="34" charset="0"/>
                <a:cs typeface="Arial" panose="020B0604020202020204" pitchFamily="34" charset="0"/>
              </a:rPr>
              <a:t>Optuna</a:t>
            </a:r>
            <a:r>
              <a:rPr lang="en-US" sz="1000">
                <a:latin typeface="Arial" panose="020B0604020202020204" pitchFamily="34" charset="0"/>
                <a:cs typeface="Arial" panose="020B0604020202020204" pitchFamily="34" charset="0"/>
              </a:rPr>
              <a:t> no. of trials = 20 </a:t>
            </a:r>
            <a:endParaRPr lang="en-SG" sz="1000">
              <a:latin typeface="Arial" panose="020B0604020202020204" pitchFamily="34" charset="0"/>
              <a:cs typeface="Arial" panose="020B0604020202020204" pitchFamily="34" charset="0"/>
            </a:endParaRPr>
          </a:p>
        </p:txBody>
      </p:sp>
      <p:cxnSp>
        <p:nvCxnSpPr>
          <p:cNvPr id="58" name="Straight Arrow Connector 57">
            <a:extLst>
              <a:ext uri="{FF2B5EF4-FFF2-40B4-BE49-F238E27FC236}">
                <a16:creationId xmlns:a16="http://schemas.microsoft.com/office/drawing/2014/main" id="{26FC5F8F-E000-4329-8E1E-A4F64316906A}"/>
              </a:ext>
            </a:extLst>
          </p:cNvPr>
          <p:cNvCxnSpPr>
            <a:stCxn id="46" idx="3"/>
            <a:endCxn id="50" idx="1"/>
          </p:cNvCxnSpPr>
          <p:nvPr/>
        </p:nvCxnSpPr>
        <p:spPr>
          <a:xfrm>
            <a:off x="6845908" y="6106790"/>
            <a:ext cx="3079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4C0B8440-E5DF-E4F0-84CB-C2E38BC2BDE3}"/>
              </a:ext>
            </a:extLst>
          </p:cNvPr>
          <p:cNvCxnSpPr>
            <a:stCxn id="50" idx="0"/>
            <a:endCxn id="52" idx="2"/>
          </p:cNvCxnSpPr>
          <p:nvPr/>
        </p:nvCxnSpPr>
        <p:spPr>
          <a:xfrm flipH="1" flipV="1">
            <a:off x="8201679" y="5478067"/>
            <a:ext cx="1" cy="240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4EA993F9-94F7-0477-4E19-26782EF0911A}"/>
              </a:ext>
            </a:extLst>
          </p:cNvPr>
          <p:cNvCxnSpPr>
            <a:cxnSpLocks/>
            <a:stCxn id="50" idx="3"/>
            <a:endCxn id="54" idx="1"/>
          </p:cNvCxnSpPr>
          <p:nvPr/>
        </p:nvCxnSpPr>
        <p:spPr>
          <a:xfrm flipV="1">
            <a:off x="9249481" y="6091043"/>
            <a:ext cx="245501" cy="15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D0E49B8A-CCCA-63EA-B58D-81C64A2248DB}"/>
              </a:ext>
            </a:extLst>
          </p:cNvPr>
          <p:cNvSpPr/>
          <p:nvPr/>
        </p:nvSpPr>
        <p:spPr>
          <a:xfrm>
            <a:off x="9494982" y="3664372"/>
            <a:ext cx="2095603" cy="776360"/>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a:solidFill>
                  <a:schemeClr val="tx1"/>
                </a:solidFill>
                <a:latin typeface="Arial" panose="020B0604020202020204" pitchFamily="34" charset="0"/>
                <a:cs typeface="Arial" panose="020B0604020202020204" pitchFamily="34" charset="0"/>
              </a:rPr>
              <a:t>Best Model</a:t>
            </a:r>
          </a:p>
          <a:p>
            <a:pPr algn="ctr"/>
            <a:r>
              <a:rPr lang="en-SG" sz="1200" i="1">
                <a:solidFill>
                  <a:schemeClr val="tx1"/>
                </a:solidFill>
                <a:latin typeface="Arial" panose="020B0604020202020204" pitchFamily="34" charset="0"/>
                <a:cs typeface="Arial" panose="020B0604020202020204" pitchFamily="34" charset="0"/>
              </a:rPr>
              <a:t>Recall&gt;F1&gt;Precision</a:t>
            </a:r>
          </a:p>
        </p:txBody>
      </p:sp>
      <p:cxnSp>
        <p:nvCxnSpPr>
          <p:cNvPr id="68" name="Connector: Elbow 67">
            <a:extLst>
              <a:ext uri="{FF2B5EF4-FFF2-40B4-BE49-F238E27FC236}">
                <a16:creationId xmlns:a16="http://schemas.microsoft.com/office/drawing/2014/main" id="{633736E3-BEE7-71AA-5EEE-CC4CBE134F6F}"/>
              </a:ext>
            </a:extLst>
          </p:cNvPr>
          <p:cNvCxnSpPr>
            <a:stCxn id="52" idx="0"/>
            <a:endCxn id="64" idx="1"/>
          </p:cNvCxnSpPr>
          <p:nvPr/>
        </p:nvCxnSpPr>
        <p:spPr>
          <a:xfrm rot="5400000" flipH="1" flipV="1">
            <a:off x="8523753" y="3730479"/>
            <a:ext cx="649155" cy="129330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AD3DC290-79F2-D02C-3231-C56B5D296FA4}"/>
              </a:ext>
            </a:extLst>
          </p:cNvPr>
          <p:cNvCxnSpPr>
            <a:cxnSpLocks/>
            <a:stCxn id="54" idx="0"/>
            <a:endCxn id="64" idx="2"/>
          </p:cNvCxnSpPr>
          <p:nvPr/>
        </p:nvCxnSpPr>
        <p:spPr>
          <a:xfrm flipV="1">
            <a:off x="10542784" y="4440732"/>
            <a:ext cx="0" cy="12621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8E4BB6C0-5F48-624D-C33B-64B6F4F00975}"/>
              </a:ext>
            </a:extLst>
          </p:cNvPr>
          <p:cNvSpPr txBox="1"/>
          <p:nvPr/>
        </p:nvSpPr>
        <p:spPr>
          <a:xfrm>
            <a:off x="7334141" y="4226475"/>
            <a:ext cx="1672609" cy="246221"/>
          </a:xfrm>
          <a:prstGeom prst="rect">
            <a:avLst/>
          </a:prstGeom>
          <a:solidFill>
            <a:schemeClr val="bg1"/>
          </a:solidFill>
          <a:ln>
            <a:noFill/>
          </a:ln>
        </p:spPr>
        <p:txBody>
          <a:bodyPr wrap="square" rtlCol="0">
            <a:spAutoFit/>
          </a:bodyPr>
          <a:lstStyle/>
          <a:p>
            <a:r>
              <a:rPr lang="en-US" sz="1000">
                <a:latin typeface="Arial" panose="020B0604020202020204" pitchFamily="34" charset="0"/>
                <a:cs typeface="Arial" panose="020B0604020202020204" pitchFamily="34" charset="0"/>
              </a:rPr>
              <a:t>Calibrate for comparison</a:t>
            </a:r>
            <a:endParaRPr lang="en-SG"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309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2228-3581-9B77-9942-2A4CB5A1D83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68A7E7-32E9-23AB-9ECF-FD89F5D91561}"/>
              </a:ext>
            </a:extLst>
          </p:cNvPr>
          <p:cNvSpPr/>
          <p:nvPr/>
        </p:nvSpPr>
        <p:spPr>
          <a:xfrm>
            <a:off x="3923102" y="241465"/>
            <a:ext cx="5062125"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err="1">
                <a:latin typeface="Aharoni" panose="02010803020104030203" pitchFamily="2" charset="-79"/>
                <a:cs typeface="Aharoni" panose="02010803020104030203" pitchFamily="2" charset="-79"/>
              </a:rPr>
              <a:t>MiniRocket</a:t>
            </a:r>
            <a:r>
              <a:rPr lang="en-US" sz="2800">
                <a:latin typeface="Aharoni" panose="02010803020104030203" pitchFamily="2" charset="-79"/>
                <a:cs typeface="Aharoni" panose="02010803020104030203" pitchFamily="2" charset="-79"/>
              </a:rPr>
              <a:t> Results</a:t>
            </a:r>
            <a:endParaRPr lang="en-SG" sz="2800">
              <a:latin typeface="Aharoni" panose="02010803020104030203" pitchFamily="2" charset="-79"/>
              <a:cs typeface="Aharoni" panose="02010803020104030203" pitchFamily="2" charset="-79"/>
            </a:endParaRPr>
          </a:p>
        </p:txBody>
      </p:sp>
      <p:pic>
        <p:nvPicPr>
          <p:cNvPr id="17" name="Picture 16">
            <a:extLst>
              <a:ext uri="{FF2B5EF4-FFF2-40B4-BE49-F238E27FC236}">
                <a16:creationId xmlns:a16="http://schemas.microsoft.com/office/drawing/2014/main" id="{7EDCAB13-4603-1FBF-3078-B33C438FF4D6}"/>
              </a:ext>
            </a:extLst>
          </p:cNvPr>
          <p:cNvPicPr>
            <a:picLocks noChangeAspect="1"/>
          </p:cNvPicPr>
          <p:nvPr/>
        </p:nvPicPr>
        <p:blipFill>
          <a:blip r:embed="rId3"/>
          <a:stretch>
            <a:fillRect/>
          </a:stretch>
        </p:blipFill>
        <p:spPr>
          <a:xfrm>
            <a:off x="554180" y="2630487"/>
            <a:ext cx="5899984" cy="1143059"/>
          </a:xfrm>
          <a:prstGeom prst="rect">
            <a:avLst/>
          </a:prstGeom>
        </p:spPr>
      </p:pic>
      <p:pic>
        <p:nvPicPr>
          <p:cNvPr id="21" name="Picture 20">
            <a:extLst>
              <a:ext uri="{FF2B5EF4-FFF2-40B4-BE49-F238E27FC236}">
                <a16:creationId xmlns:a16="http://schemas.microsoft.com/office/drawing/2014/main" id="{2DD6E163-65E0-06A3-2DB6-AFEFFB4B3D85}"/>
              </a:ext>
            </a:extLst>
          </p:cNvPr>
          <p:cNvPicPr>
            <a:picLocks noChangeAspect="1"/>
          </p:cNvPicPr>
          <p:nvPr/>
        </p:nvPicPr>
        <p:blipFill>
          <a:blip r:embed="rId4"/>
          <a:srcRect l="4458"/>
          <a:stretch>
            <a:fillRect/>
          </a:stretch>
        </p:blipFill>
        <p:spPr>
          <a:xfrm>
            <a:off x="230620" y="3937442"/>
            <a:ext cx="2900712" cy="2521719"/>
          </a:xfrm>
          <a:prstGeom prst="rect">
            <a:avLst/>
          </a:prstGeom>
        </p:spPr>
      </p:pic>
      <p:pic>
        <p:nvPicPr>
          <p:cNvPr id="23" name="Picture 22">
            <a:extLst>
              <a:ext uri="{FF2B5EF4-FFF2-40B4-BE49-F238E27FC236}">
                <a16:creationId xmlns:a16="http://schemas.microsoft.com/office/drawing/2014/main" id="{790C754D-39E4-A2F5-D8AB-EEAB612E6261}"/>
              </a:ext>
            </a:extLst>
          </p:cNvPr>
          <p:cNvPicPr>
            <a:picLocks noChangeAspect="1"/>
          </p:cNvPicPr>
          <p:nvPr/>
        </p:nvPicPr>
        <p:blipFill>
          <a:blip r:embed="rId5"/>
          <a:stretch>
            <a:fillRect/>
          </a:stretch>
        </p:blipFill>
        <p:spPr>
          <a:xfrm>
            <a:off x="3131332" y="3973242"/>
            <a:ext cx="2964668" cy="2378912"/>
          </a:xfrm>
          <a:prstGeom prst="rect">
            <a:avLst/>
          </a:prstGeom>
        </p:spPr>
      </p:pic>
      <p:grpSp>
        <p:nvGrpSpPr>
          <p:cNvPr id="2" name="Group 1">
            <a:extLst>
              <a:ext uri="{FF2B5EF4-FFF2-40B4-BE49-F238E27FC236}">
                <a16:creationId xmlns:a16="http://schemas.microsoft.com/office/drawing/2014/main" id="{A26A0C02-C862-5173-DA89-9E884CCD0F01}"/>
              </a:ext>
            </a:extLst>
          </p:cNvPr>
          <p:cNvGrpSpPr/>
          <p:nvPr/>
        </p:nvGrpSpPr>
        <p:grpSpPr>
          <a:xfrm>
            <a:off x="554180" y="1351564"/>
            <a:ext cx="7389091" cy="755380"/>
            <a:chOff x="554181" y="1078062"/>
            <a:chExt cx="7389091" cy="755380"/>
          </a:xfrm>
        </p:grpSpPr>
        <p:pic>
          <p:nvPicPr>
            <p:cNvPr id="5" name="Picture 4">
              <a:extLst>
                <a:ext uri="{FF2B5EF4-FFF2-40B4-BE49-F238E27FC236}">
                  <a16:creationId xmlns:a16="http://schemas.microsoft.com/office/drawing/2014/main" id="{88C12BCE-BCAD-0847-1B86-CA4595000943}"/>
                </a:ext>
              </a:extLst>
            </p:cNvPr>
            <p:cNvPicPr>
              <a:picLocks noChangeAspect="1"/>
            </p:cNvPicPr>
            <p:nvPr/>
          </p:nvPicPr>
          <p:blipFill>
            <a:blip r:embed="rId6"/>
            <a:stretch>
              <a:fillRect/>
            </a:stretch>
          </p:blipFill>
          <p:spPr>
            <a:xfrm>
              <a:off x="554181" y="1078062"/>
              <a:ext cx="7389091" cy="755380"/>
            </a:xfrm>
            <a:prstGeom prst="rect">
              <a:avLst/>
            </a:prstGeom>
          </p:spPr>
        </p:pic>
        <p:sp>
          <p:nvSpPr>
            <p:cNvPr id="24" name="Rectangle 23">
              <a:extLst>
                <a:ext uri="{FF2B5EF4-FFF2-40B4-BE49-F238E27FC236}">
                  <a16:creationId xmlns:a16="http://schemas.microsoft.com/office/drawing/2014/main" id="{F45AEF98-F188-465B-45F0-3504DC4C225A}"/>
                </a:ext>
              </a:extLst>
            </p:cNvPr>
            <p:cNvSpPr/>
            <p:nvPr/>
          </p:nvSpPr>
          <p:spPr>
            <a:xfrm>
              <a:off x="554181" y="1607127"/>
              <a:ext cx="7389091" cy="226315"/>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26" name="Picture 25">
            <a:extLst>
              <a:ext uri="{FF2B5EF4-FFF2-40B4-BE49-F238E27FC236}">
                <a16:creationId xmlns:a16="http://schemas.microsoft.com/office/drawing/2014/main" id="{AD56C55A-4265-F359-24AA-3041BC4C6465}"/>
              </a:ext>
            </a:extLst>
          </p:cNvPr>
          <p:cNvPicPr>
            <a:picLocks noChangeAspect="1"/>
          </p:cNvPicPr>
          <p:nvPr/>
        </p:nvPicPr>
        <p:blipFill>
          <a:blip r:embed="rId7"/>
          <a:stretch>
            <a:fillRect/>
          </a:stretch>
        </p:blipFill>
        <p:spPr>
          <a:xfrm>
            <a:off x="6519685" y="2609395"/>
            <a:ext cx="5118133" cy="1201747"/>
          </a:xfrm>
          <a:prstGeom prst="rect">
            <a:avLst/>
          </a:prstGeom>
        </p:spPr>
      </p:pic>
      <p:sp>
        <p:nvSpPr>
          <p:cNvPr id="6" name="TextBox 5">
            <a:extLst>
              <a:ext uri="{FF2B5EF4-FFF2-40B4-BE49-F238E27FC236}">
                <a16:creationId xmlns:a16="http://schemas.microsoft.com/office/drawing/2014/main" id="{D2592184-421C-C359-F96E-A77AE814807C}"/>
              </a:ext>
            </a:extLst>
          </p:cNvPr>
          <p:cNvSpPr txBox="1"/>
          <p:nvPr/>
        </p:nvSpPr>
        <p:spPr>
          <a:xfrm>
            <a:off x="488663" y="967613"/>
            <a:ext cx="3221737" cy="338554"/>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Ridge vs Logistic Regression</a:t>
            </a:r>
            <a:endParaRPr lang="en-SG" sz="16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2C86C21-3132-1EA2-DD45-0D3A0AB4AE8B}"/>
              </a:ext>
            </a:extLst>
          </p:cNvPr>
          <p:cNvSpPr txBox="1"/>
          <p:nvPr/>
        </p:nvSpPr>
        <p:spPr>
          <a:xfrm>
            <a:off x="8071221" y="929823"/>
            <a:ext cx="3632116" cy="1384995"/>
          </a:xfrm>
          <a:prstGeom prst="rect">
            <a:avLst/>
          </a:prstGeom>
          <a:solidFill>
            <a:schemeClr val="bg1"/>
          </a:solidFill>
          <a:ln>
            <a:solidFill>
              <a:schemeClr val="accent4"/>
            </a:solidFill>
          </a:ln>
        </p:spPr>
        <p:txBody>
          <a:bodyPr wrap="square" rtlCol="0">
            <a:spAutoFit/>
          </a:bodyPr>
          <a:lstStyle/>
          <a:p>
            <a:r>
              <a:rPr lang="en-US" sz="1200" i="1" u="sng">
                <a:latin typeface="Arial" panose="020B0604020202020204" pitchFamily="34" charset="0"/>
                <a:cs typeface="Arial" panose="020B0604020202020204" pitchFamily="34" charset="0"/>
              </a:rPr>
              <a:t>Model Choice: Logistic Regression</a:t>
            </a:r>
          </a:p>
          <a:p>
            <a:pPr algn="just"/>
            <a:r>
              <a:rPr lang="en-US" sz="1200">
                <a:latin typeface="Arial" panose="020B0604020202020204" pitchFamily="34" charset="0"/>
                <a:cs typeface="Arial" panose="020B0604020202020204" pitchFamily="34" charset="0"/>
              </a:rPr>
              <a:t>Logistic Regression beats Ridge in all aspects except precision. Prioritizing recall of risk class, we choose Logistic because in a risk-sensitive setting catching true positives is more important than false alarms. It also achieves higher F1 and ROC-AUC, indicating better trade-off.</a:t>
            </a:r>
            <a:endParaRPr lang="en-SG" sz="13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F055D38-C22E-00A0-68F6-BDA86CB5ABC9}"/>
              </a:ext>
            </a:extLst>
          </p:cNvPr>
          <p:cNvSpPr txBox="1"/>
          <p:nvPr/>
        </p:nvSpPr>
        <p:spPr>
          <a:xfrm>
            <a:off x="488663" y="2270841"/>
            <a:ext cx="3221737" cy="338554"/>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Logistic Regression Evaluation</a:t>
            </a:r>
            <a:endParaRPr lang="en-SG" sz="16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4860E3A-C18B-429C-FECC-88E9154D52E7}"/>
              </a:ext>
            </a:extLst>
          </p:cNvPr>
          <p:cNvSpPr txBox="1"/>
          <p:nvPr/>
        </p:nvSpPr>
        <p:spPr>
          <a:xfrm>
            <a:off x="6257494" y="4074690"/>
            <a:ext cx="5380324" cy="2323713"/>
          </a:xfrm>
          <a:prstGeom prst="rect">
            <a:avLst/>
          </a:prstGeom>
          <a:solidFill>
            <a:schemeClr val="bg1"/>
          </a:solidFill>
          <a:ln>
            <a:solidFill>
              <a:schemeClr val="accent4"/>
            </a:solidFill>
          </a:ln>
        </p:spPr>
        <p:txBody>
          <a:bodyPr wrap="square" rtlCol="0">
            <a:spAutoFit/>
          </a:bodyPr>
          <a:lstStyle/>
          <a:p>
            <a:r>
              <a:rPr lang="en-US" sz="1200" i="1" u="sng">
                <a:latin typeface="Arial" panose="020B0604020202020204" pitchFamily="34" charset="0"/>
                <a:cs typeface="Arial" panose="020B0604020202020204" pitchFamily="34" charset="0"/>
              </a:rPr>
              <a:t>Key Insights</a:t>
            </a:r>
            <a:endParaRPr lang="en-US" sz="12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The model generalizes well with only a small drop from train to validation/test performance, indicating mild overfitting</a:t>
            </a:r>
          </a:p>
          <a:p>
            <a:pPr marL="285750" indent="-285750">
              <a:buFont typeface="Arial" panose="020B0604020202020204" pitchFamily="34" charset="0"/>
              <a:buChar char="•"/>
            </a:pPr>
            <a:endParaRPr lang="en-US" sz="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On the test set, PR-AUC is 0.6335, indicating a moderate ability to balance precision and recall under class imbalance.</a:t>
            </a:r>
          </a:p>
          <a:p>
            <a:pPr marL="285750" indent="-285750">
              <a:buFont typeface="Arial" panose="020B0604020202020204" pitchFamily="34" charset="0"/>
              <a:buChar char="•"/>
            </a:pPr>
            <a:endParaRPr lang="en-US" sz="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On the test set, model correct identifies 765 risk flags but misses 419, while producing 509 false alarms.</a:t>
            </a:r>
          </a:p>
          <a:p>
            <a:pPr marL="285750" indent="-285750">
              <a:buFont typeface="Arial" panose="020B0604020202020204" pitchFamily="34" charset="0"/>
              <a:buChar char="•"/>
            </a:pPr>
            <a:endParaRPr lang="en-US" sz="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Moving from Best-F1 to Recall-90% cuts missed risks from 35 to 10 per 100 flights, trading off more false alarms (29 to 60)</a:t>
            </a:r>
          </a:p>
          <a:p>
            <a:pPr marL="285750" indent="-285750">
              <a:buFont typeface="Arial" panose="020B0604020202020204" pitchFamily="34" charset="0"/>
              <a:buChar char="•"/>
            </a:pPr>
            <a:endParaRPr lang="en-US" sz="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a:latin typeface="Arial" panose="020B0604020202020204" pitchFamily="34" charset="0"/>
                <a:cs typeface="Arial" panose="020B0604020202020204" pitchFamily="34" charset="0"/>
              </a:rPr>
              <a:t>ROC-AUC 0.74 tops the </a:t>
            </a:r>
            <a:r>
              <a:rPr lang="en-US" sz="1300" err="1">
                <a:latin typeface="Arial" panose="020B0604020202020204" pitchFamily="34" charset="0"/>
                <a:cs typeface="Arial" panose="020B0604020202020204" pitchFamily="34" charset="0"/>
              </a:rPr>
              <a:t>XGBoost</a:t>
            </a:r>
            <a:r>
              <a:rPr lang="en-US" sz="1300">
                <a:latin typeface="Arial" panose="020B0604020202020204" pitchFamily="34" charset="0"/>
                <a:cs typeface="Arial" panose="020B0604020202020204" pitchFamily="34" charset="0"/>
              </a:rPr>
              <a:t> baseline (0.69)</a:t>
            </a:r>
          </a:p>
        </p:txBody>
      </p:sp>
      <p:sp>
        <p:nvSpPr>
          <p:cNvPr id="14" name="TextBox 13">
            <a:extLst>
              <a:ext uri="{FF2B5EF4-FFF2-40B4-BE49-F238E27FC236}">
                <a16:creationId xmlns:a16="http://schemas.microsoft.com/office/drawing/2014/main" id="{7C0F35FC-DBE6-8222-979D-2367B47AF1B2}"/>
              </a:ext>
            </a:extLst>
          </p:cNvPr>
          <p:cNvSpPr txBox="1"/>
          <p:nvPr/>
        </p:nvSpPr>
        <p:spPr>
          <a:xfrm>
            <a:off x="6460352" y="2329343"/>
            <a:ext cx="3221737" cy="338554"/>
          </a:xfrm>
          <a:prstGeom prst="rect">
            <a:avLst/>
          </a:prstGeom>
          <a:noFill/>
        </p:spPr>
        <p:txBody>
          <a:bodyPr wrap="square">
            <a:spAutoFit/>
          </a:bodyPr>
          <a:lstStyle/>
          <a:p>
            <a:r>
              <a:rPr lang="en-SG" sz="1600" u="sng">
                <a:latin typeface="Aharoni" panose="02010803020104030203" pitchFamily="2" charset="-79"/>
                <a:cs typeface="Aharoni" panose="02010803020104030203" pitchFamily="2" charset="-79"/>
              </a:rPr>
              <a:t>Threshold Sweep Analysis</a:t>
            </a:r>
            <a:endParaRPr lang="en-SG" sz="16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2E27841-51B7-F53F-596F-367DCF94C6A5}"/>
              </a:ext>
            </a:extLst>
          </p:cNvPr>
          <p:cNvSpPr txBox="1"/>
          <p:nvPr/>
        </p:nvSpPr>
        <p:spPr>
          <a:xfrm>
            <a:off x="554180" y="6551850"/>
            <a:ext cx="2997274" cy="246221"/>
          </a:xfrm>
          <a:prstGeom prst="rect">
            <a:avLst/>
          </a:prstGeom>
          <a:solidFill>
            <a:schemeClr val="bg1"/>
          </a:solidFill>
          <a:ln>
            <a:noFill/>
          </a:ln>
        </p:spPr>
        <p:txBody>
          <a:bodyPr wrap="square" rtlCol="0">
            <a:spAutoFit/>
          </a:bodyPr>
          <a:lstStyle/>
          <a:p>
            <a:r>
              <a:rPr lang="en-US" sz="1000">
                <a:latin typeface="Arial" panose="020B0604020202020204" pitchFamily="34" charset="0"/>
                <a:cs typeface="Arial" panose="020B0604020202020204" pitchFamily="34" charset="0"/>
              </a:rPr>
              <a:t>*Model choice was made based on validation data</a:t>
            </a:r>
            <a:endParaRPr lang="en-SG"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6093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83BFE-AAA1-044D-379F-000971C5768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A907CAF-9E23-BB71-0613-49B5AF8D960D}"/>
              </a:ext>
            </a:extLst>
          </p:cNvPr>
          <p:cNvSpPr/>
          <p:nvPr/>
        </p:nvSpPr>
        <p:spPr>
          <a:xfrm>
            <a:off x="4271771" y="283464"/>
            <a:ext cx="3648457"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Inception</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83330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6BA9-EDB1-D140-E649-0DD3064EB61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F7C86A-3004-980C-B36C-FB4B63976180}"/>
              </a:ext>
            </a:extLst>
          </p:cNvPr>
          <p:cNvSpPr/>
          <p:nvPr/>
        </p:nvSpPr>
        <p:spPr>
          <a:xfrm>
            <a:off x="2880550" y="283464"/>
            <a:ext cx="6430899"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Inception Approach and Results</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629732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74A0-9C21-FECF-F7B1-ECF9C257C8D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56AE3C6-C5E8-7711-FCEC-71D5D9DC76C2}"/>
              </a:ext>
            </a:extLst>
          </p:cNvPr>
          <p:cNvSpPr/>
          <p:nvPr/>
        </p:nvSpPr>
        <p:spPr>
          <a:xfrm>
            <a:off x="3740277" y="283464"/>
            <a:ext cx="471144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Transformer</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232648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B725F-A8B9-3DBF-DBFE-9CBCA808345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42A6B3-BCFD-68A9-A4BB-DFC87F1D23B3}"/>
              </a:ext>
            </a:extLst>
          </p:cNvPr>
          <p:cNvSpPr/>
          <p:nvPr/>
        </p:nvSpPr>
        <p:spPr>
          <a:xfrm>
            <a:off x="2880550" y="283464"/>
            <a:ext cx="6430899"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Transformer Approach and Results</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827981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AF0D0-FEBA-4CB1-CF98-E4F969B6750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B0AB3AC-E40A-76FD-B764-F74251EA9AEB}"/>
              </a:ext>
            </a:extLst>
          </p:cNvPr>
          <p:cNvSpPr/>
          <p:nvPr/>
        </p:nvSpPr>
        <p:spPr>
          <a:xfrm>
            <a:off x="2880550" y="283464"/>
            <a:ext cx="6930962"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Ensemble Model Approach and Results</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66064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D6FB0-ED6C-BA92-16D7-60779F33747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C9E8DA4-5F94-AF46-C326-EFE86D32EC60}"/>
              </a:ext>
            </a:extLst>
          </p:cNvPr>
          <p:cNvSpPr/>
          <p:nvPr/>
        </p:nvSpPr>
        <p:spPr>
          <a:xfrm>
            <a:off x="4340352" y="274320"/>
            <a:ext cx="3511296" cy="585216"/>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Summary</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948136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99136-2A36-61D2-8552-54D5DEB8EDB9}"/>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89AA2C48-0C25-C033-54E8-0F91E45D8757}"/>
              </a:ext>
            </a:extLst>
          </p:cNvPr>
          <p:cNvSpPr txBox="1"/>
          <p:nvPr/>
        </p:nvSpPr>
        <p:spPr>
          <a:xfrm>
            <a:off x="8159496" y="1338596"/>
            <a:ext cx="3758184" cy="369332"/>
          </a:xfrm>
          <a:prstGeom prst="rect">
            <a:avLst/>
          </a:prstGeom>
          <a:solidFill>
            <a:schemeClr val="tx2">
              <a:lumMod val="10000"/>
              <a:lumOff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sng" strike="noStrike" kern="1200" cap="none" spc="0" normalizeH="0" baseline="0" noProof="0">
                <a:ln>
                  <a:noFill/>
                </a:ln>
                <a:solidFill>
                  <a:prstClr val="black"/>
                </a:solidFill>
                <a:effectLst/>
                <a:uLnTx/>
                <a:uFillTx/>
                <a:latin typeface="Aharoni" panose="02010803020104030203" pitchFamily="2" charset="-79"/>
                <a:ea typeface="+mn-ea"/>
                <a:cs typeface="Aharoni" panose="02010803020104030203" pitchFamily="2" charset="-79"/>
              </a:rPr>
              <a:t>Future Scope</a:t>
            </a:r>
            <a:endParaRPr kumimoji="0" lang="en-SG"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2CBE11A7-7891-6CAD-480E-C14995C46D8B}"/>
              </a:ext>
            </a:extLst>
          </p:cNvPr>
          <p:cNvSpPr/>
          <p:nvPr/>
        </p:nvSpPr>
        <p:spPr>
          <a:xfrm>
            <a:off x="2165524" y="266108"/>
            <a:ext cx="7860952" cy="627605"/>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white"/>
                </a:solidFill>
                <a:effectLst/>
                <a:uLnTx/>
                <a:uFillTx/>
                <a:latin typeface="Aharoni" panose="02010803020104030203" pitchFamily="2" charset="-79"/>
                <a:ea typeface="+mn-ea"/>
                <a:cs typeface="Aharoni" panose="02010803020104030203" pitchFamily="2" charset="-79"/>
              </a:rPr>
              <a:t>Limitations, Deployment and Future Scope</a:t>
            </a:r>
            <a:endParaRPr kumimoji="0" lang="en-SG" sz="2800" b="0" i="0" u="none" strike="noStrike" kern="1200" cap="none" spc="0" normalizeH="0" baseline="0" noProof="0">
              <a:ln>
                <a:noFill/>
              </a:ln>
              <a:solidFill>
                <a:prstClr val="white"/>
              </a:solidFill>
              <a:effectLst/>
              <a:uLnTx/>
              <a:uFillTx/>
              <a:latin typeface="Aharoni" panose="02010803020104030203" pitchFamily="2" charset="-79"/>
              <a:ea typeface="+mn-ea"/>
              <a:cs typeface="Aharoni" panose="02010803020104030203" pitchFamily="2" charset="-79"/>
            </a:endParaRPr>
          </a:p>
        </p:txBody>
      </p:sp>
      <p:sp>
        <p:nvSpPr>
          <p:cNvPr id="15" name="Rectangle 14">
            <a:extLst>
              <a:ext uri="{FF2B5EF4-FFF2-40B4-BE49-F238E27FC236}">
                <a16:creationId xmlns:a16="http://schemas.microsoft.com/office/drawing/2014/main" id="{6130D0D0-BED4-5804-6B53-58735061595C}"/>
              </a:ext>
            </a:extLst>
          </p:cNvPr>
          <p:cNvSpPr/>
          <p:nvPr/>
        </p:nvSpPr>
        <p:spPr>
          <a:xfrm>
            <a:off x="8159496" y="1325880"/>
            <a:ext cx="3758184" cy="38204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0D1E66B2-C87E-7CB3-F9A2-18429CD29429}"/>
              </a:ext>
            </a:extLst>
          </p:cNvPr>
          <p:cNvSpPr txBox="1"/>
          <p:nvPr/>
        </p:nvSpPr>
        <p:spPr>
          <a:xfrm>
            <a:off x="274320" y="1338596"/>
            <a:ext cx="3758184" cy="369332"/>
          </a:xfrm>
          <a:prstGeom prst="rect">
            <a:avLst/>
          </a:prstGeom>
          <a:solidFill>
            <a:schemeClr val="tx2">
              <a:lumMod val="10000"/>
              <a:lumOff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sng" strike="noStrike" kern="1200" cap="none" spc="0" normalizeH="0" baseline="0" noProof="0">
                <a:ln>
                  <a:noFill/>
                </a:ln>
                <a:solidFill>
                  <a:prstClr val="black"/>
                </a:solidFill>
                <a:effectLst/>
                <a:uLnTx/>
                <a:uFillTx/>
                <a:latin typeface="Aharoni" panose="02010803020104030203" pitchFamily="2" charset="-79"/>
                <a:ea typeface="+mn-ea"/>
                <a:cs typeface="Aharoni" panose="02010803020104030203" pitchFamily="2" charset="-79"/>
              </a:rPr>
              <a:t>Limitations</a:t>
            </a:r>
            <a:r>
              <a:rPr kumimoji="0" lang="en-SG" sz="1800" b="0" i="0" u="none" strike="noStrike" kern="1200" cap="none" spc="0" normalizeH="0" baseline="0" noProof="0">
                <a:ln>
                  <a:noFill/>
                </a:ln>
                <a:solidFill>
                  <a:prstClr val="black"/>
                </a:solidFill>
                <a:effectLst/>
                <a:uLnTx/>
                <a:uFillTx/>
                <a:latin typeface="Aptos" panose="02110004020202020204"/>
                <a:ea typeface="+mn-ea"/>
                <a:cs typeface="+mn-cs"/>
              </a:rPr>
              <a:t> </a:t>
            </a:r>
          </a:p>
        </p:txBody>
      </p:sp>
      <p:pic>
        <p:nvPicPr>
          <p:cNvPr id="18" name="Graphic 17" descr="Stop with solid fill">
            <a:extLst>
              <a:ext uri="{FF2B5EF4-FFF2-40B4-BE49-F238E27FC236}">
                <a16:creationId xmlns:a16="http://schemas.microsoft.com/office/drawing/2014/main" id="{6B79474C-EA93-BB8B-C4C1-3EF12D4EF3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9952" y="1338596"/>
            <a:ext cx="369332" cy="369332"/>
          </a:xfrm>
          <a:prstGeom prst="rect">
            <a:avLst/>
          </a:prstGeom>
        </p:spPr>
      </p:pic>
      <p:sp>
        <p:nvSpPr>
          <p:cNvPr id="2" name="Rectangle 1">
            <a:extLst>
              <a:ext uri="{FF2B5EF4-FFF2-40B4-BE49-F238E27FC236}">
                <a16:creationId xmlns:a16="http://schemas.microsoft.com/office/drawing/2014/main" id="{E88C2E0F-FD87-52A5-BD8D-4C5C0C9DB519}"/>
              </a:ext>
            </a:extLst>
          </p:cNvPr>
          <p:cNvSpPr/>
          <p:nvPr/>
        </p:nvSpPr>
        <p:spPr>
          <a:xfrm>
            <a:off x="274320" y="1325880"/>
            <a:ext cx="3758184" cy="38204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27635FF-C07A-0F7E-A5E7-AD4F555B965D}"/>
              </a:ext>
            </a:extLst>
          </p:cNvPr>
          <p:cNvSpPr txBox="1"/>
          <p:nvPr/>
        </p:nvSpPr>
        <p:spPr>
          <a:xfrm>
            <a:off x="4216908" y="1338596"/>
            <a:ext cx="3758184" cy="369332"/>
          </a:xfrm>
          <a:prstGeom prst="rect">
            <a:avLst/>
          </a:prstGeom>
          <a:solidFill>
            <a:schemeClr val="tx2">
              <a:lumMod val="10000"/>
              <a:lumOff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Aharoni" panose="02010803020104030203" pitchFamily="2" charset="-79"/>
                <a:ea typeface="+mn-ea"/>
                <a:cs typeface="Aharoni" panose="02010803020104030203" pitchFamily="2" charset="-79"/>
              </a:rPr>
              <a:t> </a:t>
            </a:r>
            <a:r>
              <a:rPr kumimoji="0" lang="en-SG" sz="1800" b="0" i="0" u="sng" strike="noStrike" kern="1200" cap="none" spc="0" normalizeH="0" baseline="0" noProof="0">
                <a:ln>
                  <a:noFill/>
                </a:ln>
                <a:solidFill>
                  <a:prstClr val="black"/>
                </a:solidFill>
                <a:effectLst/>
                <a:uLnTx/>
                <a:uFillTx/>
                <a:latin typeface="Aharoni" panose="02010803020104030203" pitchFamily="2" charset="-79"/>
                <a:ea typeface="+mn-ea"/>
                <a:cs typeface="Aharoni" panose="02010803020104030203" pitchFamily="2" charset="-79"/>
              </a:rPr>
              <a:t>Deployment</a:t>
            </a:r>
            <a:r>
              <a:rPr kumimoji="0" lang="en-SG" sz="1800" b="0" i="0" u="none" strike="noStrike" kern="1200" cap="none" spc="0" normalizeH="0" baseline="0" noProof="0">
                <a:ln>
                  <a:noFill/>
                </a:ln>
                <a:solidFill>
                  <a:prstClr val="black"/>
                </a:solidFill>
                <a:effectLst/>
                <a:uLnTx/>
                <a:uFillTx/>
                <a:latin typeface="Aptos" panose="02110004020202020204"/>
                <a:ea typeface="+mn-ea"/>
                <a:cs typeface="+mn-cs"/>
              </a:rPr>
              <a:t> </a:t>
            </a:r>
          </a:p>
        </p:txBody>
      </p:sp>
      <p:sp>
        <p:nvSpPr>
          <p:cNvPr id="13" name="Rectangle 12">
            <a:extLst>
              <a:ext uri="{FF2B5EF4-FFF2-40B4-BE49-F238E27FC236}">
                <a16:creationId xmlns:a16="http://schemas.microsoft.com/office/drawing/2014/main" id="{6F62E5DE-C89E-BD0B-8667-69301209DF80}"/>
              </a:ext>
            </a:extLst>
          </p:cNvPr>
          <p:cNvSpPr/>
          <p:nvPr/>
        </p:nvSpPr>
        <p:spPr>
          <a:xfrm>
            <a:off x="4216908" y="1325880"/>
            <a:ext cx="3758184" cy="38204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26" name="Graphic 25" descr="Airplane with solid fill">
            <a:extLst>
              <a:ext uri="{FF2B5EF4-FFF2-40B4-BE49-F238E27FC236}">
                <a16:creationId xmlns:a16="http://schemas.microsoft.com/office/drawing/2014/main" id="{6268D7BB-E986-60E5-8A8F-43AFF5D4F0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4440" y="1325880"/>
            <a:ext cx="369332" cy="369332"/>
          </a:xfrm>
          <a:prstGeom prst="rect">
            <a:avLst/>
          </a:prstGeom>
        </p:spPr>
      </p:pic>
      <p:pic>
        <p:nvPicPr>
          <p:cNvPr id="28" name="Graphic 27" descr="Future with solid fill">
            <a:extLst>
              <a:ext uri="{FF2B5EF4-FFF2-40B4-BE49-F238E27FC236}">
                <a16:creationId xmlns:a16="http://schemas.microsoft.com/office/drawing/2014/main" id="{B6D514A9-CBB3-962F-0228-3D52EBC8AA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87004" y="1388888"/>
            <a:ext cx="268748" cy="268748"/>
          </a:xfrm>
          <a:prstGeom prst="rect">
            <a:avLst/>
          </a:prstGeom>
        </p:spPr>
      </p:pic>
      <p:grpSp>
        <p:nvGrpSpPr>
          <p:cNvPr id="27" name="Group 26">
            <a:extLst>
              <a:ext uri="{FF2B5EF4-FFF2-40B4-BE49-F238E27FC236}">
                <a16:creationId xmlns:a16="http://schemas.microsoft.com/office/drawing/2014/main" id="{845B02D8-1DF0-9180-CA69-8CD04A51D7D1}"/>
              </a:ext>
            </a:extLst>
          </p:cNvPr>
          <p:cNvGrpSpPr/>
          <p:nvPr/>
        </p:nvGrpSpPr>
        <p:grpSpPr>
          <a:xfrm>
            <a:off x="145947" y="1788853"/>
            <a:ext cx="3886557" cy="1492875"/>
            <a:chOff x="145947" y="1788853"/>
            <a:chExt cx="3886557" cy="1492875"/>
          </a:xfrm>
        </p:grpSpPr>
        <p:sp>
          <p:nvSpPr>
            <p:cNvPr id="3" name="Rectangle: Rounded Corners 2">
              <a:extLst>
                <a:ext uri="{FF2B5EF4-FFF2-40B4-BE49-F238E27FC236}">
                  <a16:creationId xmlns:a16="http://schemas.microsoft.com/office/drawing/2014/main" id="{53DD5E11-B745-1D21-FD2B-48534C1E7187}"/>
                </a:ext>
              </a:extLst>
            </p:cNvPr>
            <p:cNvSpPr/>
            <p:nvPr/>
          </p:nvSpPr>
          <p:spPr>
            <a:xfrm>
              <a:off x="274320" y="1868564"/>
              <a:ext cx="3758184" cy="1413164"/>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i="1" u="sng">
                  <a:solidFill>
                    <a:prstClr val="black"/>
                  </a:solidFill>
                  <a:latin typeface="Arial" panose="020B0604020202020204" pitchFamily="34" charset="0"/>
                  <a:cs typeface="Arial" panose="020B0604020202020204" pitchFamily="34" charset="0"/>
                </a:rPr>
                <a:t>Single aircraft type:</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Dataset is limited to US-operated Cessna 172 planes. Regional differences in climate, altitude and regulations may reduce model generalizability to other fleet types or geographies.</a:t>
              </a:r>
            </a:p>
          </p:txBody>
        </p:sp>
        <p:sp>
          <p:nvSpPr>
            <p:cNvPr id="19" name="Diamond 18">
              <a:extLst>
                <a:ext uri="{FF2B5EF4-FFF2-40B4-BE49-F238E27FC236}">
                  <a16:creationId xmlns:a16="http://schemas.microsoft.com/office/drawing/2014/main" id="{394487EC-9DC0-65CA-B0DF-D185E61F06BA}"/>
                </a:ext>
              </a:extLst>
            </p:cNvPr>
            <p:cNvSpPr/>
            <p:nvPr/>
          </p:nvSpPr>
          <p:spPr>
            <a:xfrm>
              <a:off x="145947" y="1788853"/>
              <a:ext cx="332509" cy="314036"/>
            </a:xfrm>
            <a:prstGeom prst="diamond">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1</a:t>
              </a:r>
            </a:p>
          </p:txBody>
        </p:sp>
      </p:grpSp>
      <p:grpSp>
        <p:nvGrpSpPr>
          <p:cNvPr id="30" name="Group 29">
            <a:extLst>
              <a:ext uri="{FF2B5EF4-FFF2-40B4-BE49-F238E27FC236}">
                <a16:creationId xmlns:a16="http://schemas.microsoft.com/office/drawing/2014/main" id="{4606E1DE-34F9-BB2A-39C9-ADA6310E71E5}"/>
              </a:ext>
            </a:extLst>
          </p:cNvPr>
          <p:cNvGrpSpPr/>
          <p:nvPr/>
        </p:nvGrpSpPr>
        <p:grpSpPr>
          <a:xfrm>
            <a:off x="145947" y="3361439"/>
            <a:ext cx="3898669" cy="1482664"/>
            <a:chOff x="145947" y="3361439"/>
            <a:chExt cx="3898669" cy="1482664"/>
          </a:xfrm>
        </p:grpSpPr>
        <p:sp>
          <p:nvSpPr>
            <p:cNvPr id="7" name="Rectangle: Rounded Corners 6">
              <a:extLst>
                <a:ext uri="{FF2B5EF4-FFF2-40B4-BE49-F238E27FC236}">
                  <a16:creationId xmlns:a16="http://schemas.microsoft.com/office/drawing/2014/main" id="{8BDBE991-1768-6A29-DE68-A62EDB385E7A}"/>
                </a:ext>
              </a:extLst>
            </p:cNvPr>
            <p:cNvSpPr/>
            <p:nvPr/>
          </p:nvSpPr>
          <p:spPr>
            <a:xfrm>
              <a:off x="286432" y="3504830"/>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Excluded same-day flights:</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Flights flagged </a:t>
              </a:r>
              <a:r>
                <a:rPr lang="en-US" sz="1400" err="1">
                  <a:solidFill>
                    <a:prstClr val="black"/>
                  </a:solidFill>
                  <a:latin typeface="Arial" panose="020B0604020202020204" pitchFamily="34" charset="0"/>
                  <a:cs typeface="Arial" panose="020B0604020202020204" pitchFamily="34" charset="0"/>
                </a:rPr>
                <a:t>before_after</a:t>
              </a:r>
              <a:r>
                <a:rPr lang="en-US" sz="1400">
                  <a:solidFill>
                    <a:prstClr val="black"/>
                  </a:solidFill>
                  <a:latin typeface="Arial" panose="020B0604020202020204" pitchFamily="34" charset="0"/>
                  <a:cs typeface="Arial" panose="020B0604020202020204" pitchFamily="34" charset="0"/>
                </a:rPr>
                <a:t>=“same” were removed, meaning the model has no visibility into sensor behavior during or immediately on the day of a maintenance event.</a:t>
              </a:r>
            </a:p>
          </p:txBody>
        </p:sp>
        <p:sp>
          <p:nvSpPr>
            <p:cNvPr id="23" name="Diamond 22">
              <a:extLst>
                <a:ext uri="{FF2B5EF4-FFF2-40B4-BE49-F238E27FC236}">
                  <a16:creationId xmlns:a16="http://schemas.microsoft.com/office/drawing/2014/main" id="{B34AFC47-B954-2B44-9995-2D74B8B317B4}"/>
                </a:ext>
              </a:extLst>
            </p:cNvPr>
            <p:cNvSpPr/>
            <p:nvPr/>
          </p:nvSpPr>
          <p:spPr>
            <a:xfrm>
              <a:off x="145947" y="3361439"/>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2</a:t>
              </a:r>
            </a:p>
          </p:txBody>
        </p:sp>
      </p:grpSp>
      <p:grpSp>
        <p:nvGrpSpPr>
          <p:cNvPr id="31" name="Group 30">
            <a:extLst>
              <a:ext uri="{FF2B5EF4-FFF2-40B4-BE49-F238E27FC236}">
                <a16:creationId xmlns:a16="http://schemas.microsoft.com/office/drawing/2014/main" id="{3475D1DC-1ABD-C1D3-CD2A-4438873C2679}"/>
              </a:ext>
            </a:extLst>
          </p:cNvPr>
          <p:cNvGrpSpPr/>
          <p:nvPr/>
        </p:nvGrpSpPr>
        <p:grpSpPr>
          <a:xfrm>
            <a:off x="145947" y="4977661"/>
            <a:ext cx="3898669" cy="1496291"/>
            <a:chOff x="145947" y="4977661"/>
            <a:chExt cx="3898669" cy="1496291"/>
          </a:xfrm>
        </p:grpSpPr>
        <p:sp>
          <p:nvSpPr>
            <p:cNvPr id="9" name="Rectangle: Rounded Corners 8">
              <a:extLst>
                <a:ext uri="{FF2B5EF4-FFF2-40B4-BE49-F238E27FC236}">
                  <a16:creationId xmlns:a16="http://schemas.microsoft.com/office/drawing/2014/main" id="{4E05B081-64D0-33D1-F4DA-F587C58FE47A}"/>
                </a:ext>
              </a:extLst>
            </p:cNvPr>
            <p:cNvSpPr/>
            <p:nvPr/>
          </p:nvSpPr>
          <p:spPr>
            <a:xfrm>
              <a:off x="286432" y="5134679"/>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Mild Class imbalance:</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The 40% Risk / 60% Safe split, while moderate, still biases models toward the majority class. </a:t>
              </a:r>
              <a:r>
                <a:rPr lang="en-US" sz="1400" err="1">
                  <a:solidFill>
                    <a:prstClr val="black"/>
                  </a:solidFill>
                  <a:latin typeface="Arial" panose="020B0604020202020204" pitchFamily="34" charset="0"/>
                  <a:cs typeface="Arial" panose="020B0604020202020204" pitchFamily="34" charset="0"/>
                </a:rPr>
                <a:t>class_weight</a:t>
              </a:r>
              <a:r>
                <a:rPr lang="en-US" sz="1400">
                  <a:solidFill>
                    <a:prstClr val="black"/>
                  </a:solidFill>
                  <a:latin typeface="Arial" panose="020B0604020202020204" pitchFamily="34" charset="0"/>
                  <a:cs typeface="Arial" panose="020B0604020202020204" pitchFamily="34" charset="0"/>
                </a:rPr>
                <a:t>=“balanced” was  applied but false negatives remain a concern in safety-critical contexts</a:t>
              </a:r>
            </a:p>
          </p:txBody>
        </p:sp>
        <p:sp>
          <p:nvSpPr>
            <p:cNvPr id="25" name="Diamond 24">
              <a:extLst>
                <a:ext uri="{FF2B5EF4-FFF2-40B4-BE49-F238E27FC236}">
                  <a16:creationId xmlns:a16="http://schemas.microsoft.com/office/drawing/2014/main" id="{02B15520-CD7B-2CC6-7601-99E820F63912}"/>
                </a:ext>
              </a:extLst>
            </p:cNvPr>
            <p:cNvSpPr/>
            <p:nvPr/>
          </p:nvSpPr>
          <p:spPr>
            <a:xfrm>
              <a:off x="145947" y="4977661"/>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3</a:t>
              </a:r>
            </a:p>
          </p:txBody>
        </p:sp>
      </p:grpSp>
      <p:grpSp>
        <p:nvGrpSpPr>
          <p:cNvPr id="32" name="Group 31">
            <a:extLst>
              <a:ext uri="{FF2B5EF4-FFF2-40B4-BE49-F238E27FC236}">
                <a16:creationId xmlns:a16="http://schemas.microsoft.com/office/drawing/2014/main" id="{01FF0191-0F1C-22C4-A780-570AF9807AA7}"/>
              </a:ext>
            </a:extLst>
          </p:cNvPr>
          <p:cNvGrpSpPr/>
          <p:nvPr/>
        </p:nvGrpSpPr>
        <p:grpSpPr>
          <a:xfrm>
            <a:off x="4088535" y="1788853"/>
            <a:ext cx="3886557" cy="1492875"/>
            <a:chOff x="145947" y="1788853"/>
            <a:chExt cx="3886557" cy="1492875"/>
          </a:xfrm>
        </p:grpSpPr>
        <p:sp>
          <p:nvSpPr>
            <p:cNvPr id="34" name="Rectangle: Rounded Corners 33">
              <a:extLst>
                <a:ext uri="{FF2B5EF4-FFF2-40B4-BE49-F238E27FC236}">
                  <a16:creationId xmlns:a16="http://schemas.microsoft.com/office/drawing/2014/main" id="{EDBB588A-4B3A-3128-8573-B3A02AAA9FEE}"/>
                </a:ext>
              </a:extLst>
            </p:cNvPr>
            <p:cNvSpPr/>
            <p:nvPr/>
          </p:nvSpPr>
          <p:spPr>
            <a:xfrm>
              <a:off x="274320" y="1868564"/>
              <a:ext cx="3758184" cy="1413164"/>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Cost reduction via early detection: </a:t>
              </a:r>
              <a:r>
                <a:rPr lang="en-US" sz="1400">
                  <a:solidFill>
                    <a:prstClr val="black"/>
                  </a:solidFill>
                  <a:latin typeface="Arial" panose="020B0604020202020204" pitchFamily="34" charset="0"/>
                  <a:cs typeface="Arial" panose="020B0604020202020204" pitchFamily="34" charset="0"/>
                </a:rPr>
                <a:t>Proactively flagging aircraft within the 2-day risk window allows maintenance crews to schedule interventions, replacing costly emergency repairs with planned and lower-cost servicing.</a:t>
              </a:r>
            </a:p>
          </p:txBody>
        </p:sp>
        <p:sp>
          <p:nvSpPr>
            <p:cNvPr id="36" name="Diamond 35">
              <a:extLst>
                <a:ext uri="{FF2B5EF4-FFF2-40B4-BE49-F238E27FC236}">
                  <a16:creationId xmlns:a16="http://schemas.microsoft.com/office/drawing/2014/main" id="{517A1B5E-9EC5-FBBB-3162-A03E754DAC47}"/>
                </a:ext>
              </a:extLst>
            </p:cNvPr>
            <p:cNvSpPr/>
            <p:nvPr/>
          </p:nvSpPr>
          <p:spPr>
            <a:xfrm>
              <a:off x="145947" y="1788853"/>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1</a:t>
              </a:r>
            </a:p>
          </p:txBody>
        </p:sp>
      </p:grpSp>
      <p:grpSp>
        <p:nvGrpSpPr>
          <p:cNvPr id="37" name="Group 36">
            <a:extLst>
              <a:ext uri="{FF2B5EF4-FFF2-40B4-BE49-F238E27FC236}">
                <a16:creationId xmlns:a16="http://schemas.microsoft.com/office/drawing/2014/main" id="{0EB58132-4640-74EB-8056-CD397CAFB7BA}"/>
              </a:ext>
            </a:extLst>
          </p:cNvPr>
          <p:cNvGrpSpPr/>
          <p:nvPr/>
        </p:nvGrpSpPr>
        <p:grpSpPr>
          <a:xfrm>
            <a:off x="4088535" y="3361439"/>
            <a:ext cx="3898669" cy="1482664"/>
            <a:chOff x="145947" y="3361439"/>
            <a:chExt cx="3898669" cy="1482664"/>
          </a:xfrm>
        </p:grpSpPr>
        <p:sp>
          <p:nvSpPr>
            <p:cNvPr id="38" name="Rectangle: Rounded Corners 37">
              <a:extLst>
                <a:ext uri="{FF2B5EF4-FFF2-40B4-BE49-F238E27FC236}">
                  <a16:creationId xmlns:a16="http://schemas.microsoft.com/office/drawing/2014/main" id="{7AEFDB56-DEC7-FA27-538A-582BF588623A}"/>
                </a:ext>
              </a:extLst>
            </p:cNvPr>
            <p:cNvSpPr/>
            <p:nvPr/>
          </p:nvSpPr>
          <p:spPr>
            <a:xfrm>
              <a:off x="286432" y="3504830"/>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Improved pilot safety:</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Detecting the need for maintenance 1–2 days ahead minimizes flight hours on degraded aircraft. The model’s high-recall configuration cuts missed risk directly enhancing operational safety.</a:t>
              </a:r>
            </a:p>
          </p:txBody>
        </p:sp>
        <p:sp>
          <p:nvSpPr>
            <p:cNvPr id="39" name="Diamond 38">
              <a:extLst>
                <a:ext uri="{FF2B5EF4-FFF2-40B4-BE49-F238E27FC236}">
                  <a16:creationId xmlns:a16="http://schemas.microsoft.com/office/drawing/2014/main" id="{6CC8C1F9-D53F-0380-DE97-9E1AEF1BEB50}"/>
                </a:ext>
              </a:extLst>
            </p:cNvPr>
            <p:cNvSpPr/>
            <p:nvPr/>
          </p:nvSpPr>
          <p:spPr>
            <a:xfrm>
              <a:off x="145947" y="3361439"/>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2</a:t>
              </a:r>
            </a:p>
          </p:txBody>
        </p:sp>
      </p:grpSp>
      <p:grpSp>
        <p:nvGrpSpPr>
          <p:cNvPr id="40" name="Group 39">
            <a:extLst>
              <a:ext uri="{FF2B5EF4-FFF2-40B4-BE49-F238E27FC236}">
                <a16:creationId xmlns:a16="http://schemas.microsoft.com/office/drawing/2014/main" id="{47DC9610-5455-D6F3-8D8D-7F2919D782B3}"/>
              </a:ext>
            </a:extLst>
          </p:cNvPr>
          <p:cNvGrpSpPr/>
          <p:nvPr/>
        </p:nvGrpSpPr>
        <p:grpSpPr>
          <a:xfrm>
            <a:off x="4088535" y="4934025"/>
            <a:ext cx="3898669" cy="1496291"/>
            <a:chOff x="145947" y="4977661"/>
            <a:chExt cx="3898669" cy="1496291"/>
          </a:xfrm>
        </p:grpSpPr>
        <p:sp>
          <p:nvSpPr>
            <p:cNvPr id="41" name="Rectangle: Rounded Corners 40">
              <a:extLst>
                <a:ext uri="{FF2B5EF4-FFF2-40B4-BE49-F238E27FC236}">
                  <a16:creationId xmlns:a16="http://schemas.microsoft.com/office/drawing/2014/main" id="{6ED9F500-E58E-3F00-5717-38FF1C7CE5A8}"/>
                </a:ext>
              </a:extLst>
            </p:cNvPr>
            <p:cNvSpPr/>
            <p:nvPr/>
          </p:nvSpPr>
          <p:spPr>
            <a:xfrm>
              <a:off x="286432" y="5134679"/>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defRPr/>
              </a:pPr>
              <a:r>
                <a:rPr lang="en-US" sz="1400" i="1" u="sng">
                  <a:solidFill>
                    <a:prstClr val="black"/>
                  </a:solidFill>
                  <a:latin typeface="Arial" panose="020B0604020202020204" pitchFamily="34" charset="0"/>
                  <a:cs typeface="Arial" panose="020B0604020202020204" pitchFamily="34" charset="0"/>
                </a:rPr>
                <a:t>Pipeline integration:</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The ensemble model can be deployed…</a:t>
              </a:r>
            </a:p>
          </p:txBody>
        </p:sp>
        <p:sp>
          <p:nvSpPr>
            <p:cNvPr id="42" name="Diamond 41">
              <a:extLst>
                <a:ext uri="{FF2B5EF4-FFF2-40B4-BE49-F238E27FC236}">
                  <a16:creationId xmlns:a16="http://schemas.microsoft.com/office/drawing/2014/main" id="{DAFAF66F-7929-FE9C-C04F-FD3F7A16A360}"/>
                </a:ext>
              </a:extLst>
            </p:cNvPr>
            <p:cNvSpPr/>
            <p:nvPr/>
          </p:nvSpPr>
          <p:spPr>
            <a:xfrm>
              <a:off x="145947" y="4977661"/>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3</a:t>
              </a:r>
            </a:p>
          </p:txBody>
        </p:sp>
      </p:grpSp>
      <p:grpSp>
        <p:nvGrpSpPr>
          <p:cNvPr id="43" name="Group 42">
            <a:extLst>
              <a:ext uri="{FF2B5EF4-FFF2-40B4-BE49-F238E27FC236}">
                <a16:creationId xmlns:a16="http://schemas.microsoft.com/office/drawing/2014/main" id="{E3207162-3961-DE08-A1EB-89A8B7A8A5F1}"/>
              </a:ext>
            </a:extLst>
          </p:cNvPr>
          <p:cNvGrpSpPr/>
          <p:nvPr/>
        </p:nvGrpSpPr>
        <p:grpSpPr>
          <a:xfrm>
            <a:off x="8031123" y="1792164"/>
            <a:ext cx="3886557" cy="1492875"/>
            <a:chOff x="145947" y="1788853"/>
            <a:chExt cx="3886557" cy="1492875"/>
          </a:xfrm>
        </p:grpSpPr>
        <p:sp>
          <p:nvSpPr>
            <p:cNvPr id="44" name="Rectangle: Rounded Corners 43">
              <a:extLst>
                <a:ext uri="{FF2B5EF4-FFF2-40B4-BE49-F238E27FC236}">
                  <a16:creationId xmlns:a16="http://schemas.microsoft.com/office/drawing/2014/main" id="{3712EC13-7420-0492-FB9E-0B86CFAB7401}"/>
                </a:ext>
              </a:extLst>
            </p:cNvPr>
            <p:cNvSpPr/>
            <p:nvPr/>
          </p:nvSpPr>
          <p:spPr>
            <a:xfrm>
              <a:off x="274320" y="1868564"/>
              <a:ext cx="3758184" cy="1413164"/>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Multi-class classification:</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Extend from binary risk prediction to classifying the specific maintenance issue type and hierarchy, enabling more targeted maintenance dispatch and parts pre-ordering.</a:t>
              </a:r>
            </a:p>
          </p:txBody>
        </p:sp>
        <p:sp>
          <p:nvSpPr>
            <p:cNvPr id="45" name="Diamond 44">
              <a:extLst>
                <a:ext uri="{FF2B5EF4-FFF2-40B4-BE49-F238E27FC236}">
                  <a16:creationId xmlns:a16="http://schemas.microsoft.com/office/drawing/2014/main" id="{1BE0EBF6-33F3-D3A0-2B61-3EAE298A079E}"/>
                </a:ext>
              </a:extLst>
            </p:cNvPr>
            <p:cNvSpPr/>
            <p:nvPr/>
          </p:nvSpPr>
          <p:spPr>
            <a:xfrm>
              <a:off x="145947" y="1788853"/>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1</a:t>
              </a:r>
            </a:p>
          </p:txBody>
        </p:sp>
      </p:grpSp>
      <p:grpSp>
        <p:nvGrpSpPr>
          <p:cNvPr id="49" name="Group 48">
            <a:extLst>
              <a:ext uri="{FF2B5EF4-FFF2-40B4-BE49-F238E27FC236}">
                <a16:creationId xmlns:a16="http://schemas.microsoft.com/office/drawing/2014/main" id="{B3F1ACBD-4BE0-2386-E4F5-4B00DB06B987}"/>
              </a:ext>
            </a:extLst>
          </p:cNvPr>
          <p:cNvGrpSpPr/>
          <p:nvPr/>
        </p:nvGrpSpPr>
        <p:grpSpPr>
          <a:xfrm>
            <a:off x="8019011" y="3361439"/>
            <a:ext cx="3898669" cy="1482664"/>
            <a:chOff x="145947" y="3361439"/>
            <a:chExt cx="3898669" cy="1482664"/>
          </a:xfrm>
        </p:grpSpPr>
        <p:sp>
          <p:nvSpPr>
            <p:cNvPr id="50" name="Rectangle: Rounded Corners 49">
              <a:extLst>
                <a:ext uri="{FF2B5EF4-FFF2-40B4-BE49-F238E27FC236}">
                  <a16:creationId xmlns:a16="http://schemas.microsoft.com/office/drawing/2014/main" id="{2FA86A9D-88C0-1F74-7B69-A430FDD6A02C}"/>
                </a:ext>
              </a:extLst>
            </p:cNvPr>
            <p:cNvSpPr/>
            <p:nvPr/>
          </p:nvSpPr>
          <p:spPr>
            <a:xfrm>
              <a:off x="286432" y="3504830"/>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Fleet generalization:</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Expand training data to include commercial airframes (Airbus A320, Boeing 737 MAX) to build a fleet-agnostic predictive maintenance framework applicable across the aviation industry.</a:t>
              </a:r>
            </a:p>
          </p:txBody>
        </p:sp>
        <p:sp>
          <p:nvSpPr>
            <p:cNvPr id="51" name="Diamond 50">
              <a:extLst>
                <a:ext uri="{FF2B5EF4-FFF2-40B4-BE49-F238E27FC236}">
                  <a16:creationId xmlns:a16="http://schemas.microsoft.com/office/drawing/2014/main" id="{48F56DDF-510B-5D17-AF6F-CF9C6864E8F2}"/>
                </a:ext>
              </a:extLst>
            </p:cNvPr>
            <p:cNvSpPr/>
            <p:nvPr/>
          </p:nvSpPr>
          <p:spPr>
            <a:xfrm>
              <a:off x="145947" y="3361439"/>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2</a:t>
              </a:r>
            </a:p>
          </p:txBody>
        </p:sp>
      </p:grpSp>
      <p:grpSp>
        <p:nvGrpSpPr>
          <p:cNvPr id="52" name="Group 51">
            <a:extLst>
              <a:ext uri="{FF2B5EF4-FFF2-40B4-BE49-F238E27FC236}">
                <a16:creationId xmlns:a16="http://schemas.microsoft.com/office/drawing/2014/main" id="{6234A1BE-B05E-67B0-49CA-3548DFA1A38F}"/>
              </a:ext>
            </a:extLst>
          </p:cNvPr>
          <p:cNvGrpSpPr/>
          <p:nvPr/>
        </p:nvGrpSpPr>
        <p:grpSpPr>
          <a:xfrm>
            <a:off x="8031123" y="4934025"/>
            <a:ext cx="3898669" cy="1496291"/>
            <a:chOff x="145947" y="4977661"/>
            <a:chExt cx="3898669" cy="1496291"/>
          </a:xfrm>
        </p:grpSpPr>
        <p:sp>
          <p:nvSpPr>
            <p:cNvPr id="53" name="Rectangle: Rounded Corners 52">
              <a:extLst>
                <a:ext uri="{FF2B5EF4-FFF2-40B4-BE49-F238E27FC236}">
                  <a16:creationId xmlns:a16="http://schemas.microsoft.com/office/drawing/2014/main" id="{02627B5B-7738-258A-EE94-342F7F45CB3A}"/>
                </a:ext>
              </a:extLst>
            </p:cNvPr>
            <p:cNvSpPr/>
            <p:nvPr/>
          </p:nvSpPr>
          <p:spPr>
            <a:xfrm>
              <a:off x="286432" y="5134679"/>
              <a:ext cx="3758184" cy="1339273"/>
            </a:xfrm>
            <a:prstGeom prst="roundRect">
              <a:avLst/>
            </a:prstGeom>
            <a:solidFill>
              <a:schemeClr val="bg1">
                <a:lumMod val="95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i="1" u="sng">
                  <a:solidFill>
                    <a:prstClr val="black"/>
                  </a:solidFill>
                  <a:latin typeface="Arial" panose="020B0604020202020204" pitchFamily="34" charset="0"/>
                  <a:cs typeface="Arial" panose="020B0604020202020204" pitchFamily="34" charset="0"/>
                </a:rPr>
                <a:t>Longer RUL horizons:</a:t>
              </a:r>
              <a:r>
                <a:rPr lang="en-US" sz="1400" i="1">
                  <a:solidFill>
                    <a:prstClr val="black"/>
                  </a:solidFill>
                  <a:latin typeface="Arial" panose="020B0604020202020204" pitchFamily="34" charset="0"/>
                  <a:cs typeface="Arial" panose="020B0604020202020204" pitchFamily="34" charset="0"/>
                </a:rPr>
                <a:t> </a:t>
              </a:r>
              <a:r>
                <a:rPr lang="en-US" sz="1400">
                  <a:solidFill>
                    <a:prstClr val="black"/>
                  </a:solidFill>
                  <a:latin typeface="Arial" panose="020B0604020202020204" pitchFamily="34" charset="0"/>
                  <a:cs typeface="Arial" panose="020B0604020202020204" pitchFamily="34" charset="0"/>
                </a:rPr>
                <a:t>Investigate 5- and 10-day prediction windows with confidence intervals to support advanced maintenance scheduling while quantifying the precision-recall trade-off at each horizon.</a:t>
              </a:r>
              <a:endParaRPr lang="en-SG" sz="1400">
                <a:solidFill>
                  <a:prstClr val="black"/>
                </a:solidFill>
                <a:latin typeface="Arial" panose="020B0604020202020204" pitchFamily="34" charset="0"/>
                <a:cs typeface="Arial" panose="020B0604020202020204" pitchFamily="34" charset="0"/>
              </a:endParaRPr>
            </a:p>
          </p:txBody>
        </p:sp>
        <p:sp>
          <p:nvSpPr>
            <p:cNvPr id="54" name="Diamond 53">
              <a:extLst>
                <a:ext uri="{FF2B5EF4-FFF2-40B4-BE49-F238E27FC236}">
                  <a16:creationId xmlns:a16="http://schemas.microsoft.com/office/drawing/2014/main" id="{A4DAE202-7B77-E51A-83FB-1800C6EDD627}"/>
                </a:ext>
              </a:extLst>
            </p:cNvPr>
            <p:cNvSpPr/>
            <p:nvPr/>
          </p:nvSpPr>
          <p:spPr>
            <a:xfrm>
              <a:off x="145947" y="4977661"/>
              <a:ext cx="332509" cy="314036"/>
            </a:xfrm>
            <a:prstGeom prst="diamond">
              <a:avLst/>
            </a:prstGeom>
            <a:ln w="635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SG" sz="1400" b="1">
                  <a:latin typeface="Arial" panose="020B0604020202020204" pitchFamily="34" charset="0"/>
                  <a:cs typeface="Arial" panose="020B0604020202020204" pitchFamily="34" charset="0"/>
                </a:rPr>
                <a:t>3</a:t>
              </a:r>
            </a:p>
          </p:txBody>
        </p:sp>
      </p:grpSp>
    </p:spTree>
    <p:extLst>
      <p:ext uri="{BB962C8B-B14F-4D97-AF65-F5344CB8AC3E}">
        <p14:creationId xmlns:p14="http://schemas.microsoft.com/office/powerpoint/2010/main" val="2797885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230552F-ACC1-F619-FEF0-EA02AF65F40F}"/>
              </a:ext>
            </a:extLst>
          </p:cNvPr>
          <p:cNvPicPr>
            <a:picLocks noChangeAspect="1"/>
          </p:cNvPicPr>
          <p:nvPr/>
        </p:nvPicPr>
        <p:blipFill>
          <a:blip r:embed="rId2">
            <a:alphaModFix amt="70000"/>
            <a:extLst>
              <a:ext uri="{28A0092B-C50C-407E-A947-70E740481C1C}">
                <a14:useLocalDpi xmlns:a14="http://schemas.microsoft.com/office/drawing/2010/main" val="0"/>
              </a:ext>
            </a:extLst>
          </a:blip>
          <a:srcRect b="15730"/>
          <a:stretch>
            <a:fillRect/>
          </a:stretch>
        </p:blipFill>
        <p:spPr>
          <a:xfrm>
            <a:off x="-3047" y="10"/>
            <a:ext cx="12191999" cy="6857990"/>
          </a:xfrm>
          <a:prstGeom prst="rect">
            <a:avLst/>
          </a:prstGeom>
        </p:spPr>
      </p:pic>
      <p:sp>
        <p:nvSpPr>
          <p:cNvPr id="25" name="Rectangle 2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5F7CF-593D-9AE5-837C-E49E50B5F1AB}"/>
              </a:ext>
            </a:extLst>
          </p:cNvPr>
          <p:cNvSpPr>
            <a:spLocks noGrp="1"/>
          </p:cNvSpPr>
          <p:nvPr>
            <p:ph type="title"/>
          </p:nvPr>
        </p:nvSpPr>
        <p:spPr>
          <a:xfrm>
            <a:off x="1857756" y="2020824"/>
            <a:ext cx="8470392" cy="2309272"/>
          </a:xfrm>
          <a:effectLst>
            <a:outerShdw blurRad="50800" dist="38100" dir="2700000" algn="tl" rotWithShape="0">
              <a:prstClr val="black">
                <a:alpha val="40000"/>
              </a:prstClr>
            </a:outerShdw>
          </a:effectLst>
        </p:spPr>
        <p:txBody>
          <a:bodyPr vert="horz" lIns="91440" tIns="45720" rIns="91440" bIns="45720" rtlCol="0" anchor="b">
            <a:normAutofit/>
          </a:bodyPr>
          <a:lstStyle/>
          <a:p>
            <a:pPr marL="0" indent="0" algn="ctr"/>
            <a:r>
              <a:rPr lang="en-US" sz="4800">
                <a:solidFill>
                  <a:srgbClr val="FFFFFF"/>
                </a:solidFill>
                <a:latin typeface="Aharoni"/>
                <a:cs typeface="Aharoni"/>
              </a:rPr>
              <a:t>Thank you</a:t>
            </a:r>
            <a:br>
              <a:rPr lang="en-US" sz="4800">
                <a:latin typeface="Aharoni" panose="02010803020104030203" pitchFamily="2" charset="-79"/>
                <a:cs typeface="Aharoni" panose="02010803020104030203" pitchFamily="2" charset="-79"/>
              </a:rPr>
            </a:br>
            <a:r>
              <a:rPr lang="en-US" sz="4800">
                <a:solidFill>
                  <a:srgbClr val="FFFFFF"/>
                </a:solidFill>
                <a:latin typeface="Aharoni"/>
                <a:cs typeface="Aharoni"/>
              </a:rPr>
              <a:t>Now open for inspection (questions)</a:t>
            </a:r>
          </a:p>
        </p:txBody>
      </p:sp>
    </p:spTree>
    <p:extLst>
      <p:ext uri="{BB962C8B-B14F-4D97-AF65-F5344CB8AC3E}">
        <p14:creationId xmlns:p14="http://schemas.microsoft.com/office/powerpoint/2010/main" val="2516359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DD3C-236E-C6B0-FA58-7E1904A6E5DC}"/>
              </a:ext>
            </a:extLst>
          </p:cNvPr>
          <p:cNvSpPr>
            <a:spLocks noGrp="1"/>
          </p:cNvSpPr>
          <p:nvPr>
            <p:ph type="title"/>
          </p:nvPr>
        </p:nvSpPr>
        <p:spPr>
          <a:xfrm>
            <a:off x="3965448" y="2715768"/>
            <a:ext cx="4261104" cy="969264"/>
          </a:xfrm>
          <a:prstGeom prst="roundRect">
            <a:avLst/>
          </a:prstGeom>
          <a:solidFill>
            <a:schemeClr val="bg1"/>
          </a:solidFill>
        </p:spPr>
        <p:txBody>
          <a:bodyPr/>
          <a:lstStyle/>
          <a:p>
            <a:pPr algn="ctr"/>
            <a:r>
              <a:rPr lang="en-SG">
                <a:latin typeface="Aharoni" panose="02010803020104030203" pitchFamily="2" charset="-79"/>
                <a:cs typeface="Aharoni" panose="02010803020104030203" pitchFamily="2" charset="-79"/>
              </a:rPr>
              <a:t>Appendix</a:t>
            </a:r>
          </a:p>
        </p:txBody>
      </p:sp>
      <p:pic>
        <p:nvPicPr>
          <p:cNvPr id="6" name="Picture 5">
            <a:extLst>
              <a:ext uri="{FF2B5EF4-FFF2-40B4-BE49-F238E27FC236}">
                <a16:creationId xmlns:a16="http://schemas.microsoft.com/office/drawing/2014/main" id="{9F83BF53-1440-68E6-8F12-3CDB0CEDF202}"/>
              </a:ext>
            </a:extLst>
          </p:cNvPr>
          <p:cNvPicPr>
            <a:picLocks noChangeAspect="1"/>
          </p:cNvPicPr>
          <p:nvPr/>
        </p:nvPicPr>
        <p:blipFill>
          <a:blip r:embed="rId2"/>
          <a:stretch>
            <a:fillRect/>
          </a:stretch>
        </p:blipFill>
        <p:spPr>
          <a:xfrm>
            <a:off x="7434072" y="1745528"/>
            <a:ext cx="3176398" cy="1786898"/>
          </a:xfrm>
          <a:prstGeom prst="rect">
            <a:avLst/>
          </a:prstGeom>
        </p:spPr>
      </p:pic>
      <p:sp>
        <p:nvSpPr>
          <p:cNvPr id="7" name="Rectangle 6">
            <a:extLst>
              <a:ext uri="{FF2B5EF4-FFF2-40B4-BE49-F238E27FC236}">
                <a16:creationId xmlns:a16="http://schemas.microsoft.com/office/drawing/2014/main" id="{3CD34601-C3FA-B043-D935-FD528C42A14F}"/>
              </a:ext>
            </a:extLst>
          </p:cNvPr>
          <p:cNvSpPr/>
          <p:nvPr/>
        </p:nvSpPr>
        <p:spPr>
          <a:xfrm>
            <a:off x="0" y="0"/>
            <a:ext cx="3300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664153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63B0D0-8DC2-2529-1661-C2C0BD491A7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1DB0479-16E3-A384-C28A-FE19C72CC06E}"/>
              </a:ext>
            </a:extLst>
          </p:cNvPr>
          <p:cNvSpPr/>
          <p:nvPr/>
        </p:nvSpPr>
        <p:spPr>
          <a:xfrm>
            <a:off x="4003388" y="221863"/>
            <a:ext cx="4175920" cy="573665"/>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Sample Data</a:t>
            </a:r>
            <a:endParaRPr lang="en-SG" sz="2800">
              <a:latin typeface="Aharoni" panose="02010803020104030203" pitchFamily="2" charset="-79"/>
              <a:cs typeface="Aharoni" panose="02010803020104030203" pitchFamily="2" charset="-79"/>
            </a:endParaRPr>
          </a:p>
        </p:txBody>
      </p:sp>
      <p:pic>
        <p:nvPicPr>
          <p:cNvPr id="3" name="Picture 2">
            <a:extLst>
              <a:ext uri="{FF2B5EF4-FFF2-40B4-BE49-F238E27FC236}">
                <a16:creationId xmlns:a16="http://schemas.microsoft.com/office/drawing/2014/main" id="{DF62AC68-F4C9-51C7-AB04-39918A00C52C}"/>
              </a:ext>
            </a:extLst>
          </p:cNvPr>
          <p:cNvPicPr>
            <a:picLocks noChangeAspect="1"/>
          </p:cNvPicPr>
          <p:nvPr/>
        </p:nvPicPr>
        <p:blipFill>
          <a:blip r:embed="rId3"/>
          <a:stretch>
            <a:fillRect/>
          </a:stretch>
        </p:blipFill>
        <p:spPr>
          <a:xfrm>
            <a:off x="4652" y="1202528"/>
            <a:ext cx="6191250" cy="4953923"/>
          </a:xfrm>
          <a:prstGeom prst="rect">
            <a:avLst/>
          </a:prstGeom>
        </p:spPr>
      </p:pic>
      <p:pic>
        <p:nvPicPr>
          <p:cNvPr id="6" name="Picture 5">
            <a:extLst>
              <a:ext uri="{FF2B5EF4-FFF2-40B4-BE49-F238E27FC236}">
                <a16:creationId xmlns:a16="http://schemas.microsoft.com/office/drawing/2014/main" id="{2809D28F-6011-341E-53EF-70152477E7F2}"/>
              </a:ext>
            </a:extLst>
          </p:cNvPr>
          <p:cNvPicPr>
            <a:picLocks noChangeAspect="1"/>
          </p:cNvPicPr>
          <p:nvPr/>
        </p:nvPicPr>
        <p:blipFill>
          <a:blip r:embed="rId4"/>
          <a:stretch>
            <a:fillRect/>
          </a:stretch>
        </p:blipFill>
        <p:spPr>
          <a:xfrm>
            <a:off x="6091348" y="1255745"/>
            <a:ext cx="6096000" cy="4900706"/>
          </a:xfrm>
          <a:prstGeom prst="rect">
            <a:avLst/>
          </a:prstGeom>
        </p:spPr>
      </p:pic>
    </p:spTree>
    <p:extLst>
      <p:ext uri="{BB962C8B-B14F-4D97-AF65-F5344CB8AC3E}">
        <p14:creationId xmlns:p14="http://schemas.microsoft.com/office/powerpoint/2010/main" val="166218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99DEE3-019D-EC1D-5A31-8A6D2CE5ED6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5A116EC-5D36-5075-101B-69218AEA1FB1}"/>
              </a:ext>
            </a:extLst>
          </p:cNvPr>
          <p:cNvGrpSpPr/>
          <p:nvPr/>
        </p:nvGrpSpPr>
        <p:grpSpPr>
          <a:xfrm>
            <a:off x="3147902" y="1917192"/>
            <a:ext cx="6096000" cy="3267018"/>
            <a:chOff x="0" y="2203450"/>
            <a:chExt cx="6096000" cy="3267018"/>
          </a:xfrm>
        </p:grpSpPr>
        <p:pic>
          <p:nvPicPr>
            <p:cNvPr id="5" name="Picture 4">
              <a:extLst>
                <a:ext uri="{FF2B5EF4-FFF2-40B4-BE49-F238E27FC236}">
                  <a16:creationId xmlns:a16="http://schemas.microsoft.com/office/drawing/2014/main" id="{949B53A0-C428-5D45-1A7D-6E7C9913C20D}"/>
                </a:ext>
              </a:extLst>
            </p:cNvPr>
            <p:cNvPicPr>
              <a:picLocks noChangeAspect="1"/>
            </p:cNvPicPr>
            <p:nvPr/>
          </p:nvPicPr>
          <p:blipFill>
            <a:blip r:embed="rId3"/>
            <a:stretch>
              <a:fillRect/>
            </a:stretch>
          </p:blipFill>
          <p:spPr>
            <a:xfrm>
              <a:off x="0" y="2203450"/>
              <a:ext cx="6096000" cy="3267018"/>
            </a:xfrm>
            <a:prstGeom prst="rect">
              <a:avLst/>
            </a:prstGeom>
          </p:spPr>
        </p:pic>
        <p:sp>
          <p:nvSpPr>
            <p:cNvPr id="7" name="Rectangle 6">
              <a:extLst>
                <a:ext uri="{FF2B5EF4-FFF2-40B4-BE49-F238E27FC236}">
                  <a16:creationId xmlns:a16="http://schemas.microsoft.com/office/drawing/2014/main" id="{E4F9807E-4697-ECEF-BCAE-AC0A715220CB}"/>
                </a:ext>
              </a:extLst>
            </p:cNvPr>
            <p:cNvSpPr/>
            <p:nvPr/>
          </p:nvSpPr>
          <p:spPr>
            <a:xfrm>
              <a:off x="4064000" y="3886200"/>
              <a:ext cx="1936750" cy="15842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 name="Rectangle: Rounded Corners 9">
            <a:extLst>
              <a:ext uri="{FF2B5EF4-FFF2-40B4-BE49-F238E27FC236}">
                <a16:creationId xmlns:a16="http://schemas.microsoft.com/office/drawing/2014/main" id="{73D51996-DB73-02E5-D860-EC1E4C2FF456}"/>
              </a:ext>
            </a:extLst>
          </p:cNvPr>
          <p:cNvSpPr/>
          <p:nvPr/>
        </p:nvSpPr>
        <p:spPr>
          <a:xfrm>
            <a:off x="4003388" y="221863"/>
            <a:ext cx="4175920" cy="573665"/>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Sample Data</a:t>
            </a:r>
            <a:endParaRPr lang="en-SG" sz="280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4951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C61A79-AAED-7484-F601-8056EB39C45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08A40BC-5764-FC02-7052-EFEEE14D0318}"/>
              </a:ext>
            </a:extLst>
          </p:cNvPr>
          <p:cNvSpPr/>
          <p:nvPr/>
        </p:nvSpPr>
        <p:spPr>
          <a:xfrm>
            <a:off x="3305556" y="231007"/>
            <a:ext cx="5780692" cy="591953"/>
          </a:xfrm>
          <a:prstGeom prst="roundRect">
            <a:avLst/>
          </a:prstGeom>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haroni" panose="02010803020104030203" pitchFamily="2" charset="-79"/>
                <a:cs typeface="Aharoni" panose="02010803020104030203" pitchFamily="2" charset="-79"/>
              </a:rPr>
              <a:t>XGB Feature Importance (Full)</a:t>
            </a:r>
            <a:endParaRPr lang="en-SG" sz="2800">
              <a:latin typeface="Aharoni" panose="02010803020104030203" pitchFamily="2" charset="-79"/>
              <a:cs typeface="Aharoni" panose="02010803020104030203" pitchFamily="2" charset="-79"/>
            </a:endParaRPr>
          </a:p>
        </p:txBody>
      </p:sp>
      <p:pic>
        <p:nvPicPr>
          <p:cNvPr id="3" name="Picture 2">
            <a:extLst>
              <a:ext uri="{FF2B5EF4-FFF2-40B4-BE49-F238E27FC236}">
                <a16:creationId xmlns:a16="http://schemas.microsoft.com/office/drawing/2014/main" id="{644A84B6-EC7E-C9DC-FEEB-CF18FCDE2354}"/>
              </a:ext>
            </a:extLst>
          </p:cNvPr>
          <p:cNvPicPr>
            <a:picLocks noChangeAspect="1"/>
          </p:cNvPicPr>
          <p:nvPr/>
        </p:nvPicPr>
        <p:blipFill>
          <a:blip r:embed="rId3"/>
          <a:stretch>
            <a:fillRect/>
          </a:stretch>
        </p:blipFill>
        <p:spPr>
          <a:xfrm>
            <a:off x="2577012" y="948569"/>
            <a:ext cx="7037975" cy="5678424"/>
          </a:xfrm>
          <a:prstGeom prst="rect">
            <a:avLst/>
          </a:prstGeom>
        </p:spPr>
      </p:pic>
    </p:spTree>
    <p:extLst>
      <p:ext uri="{BB962C8B-B14F-4D97-AF65-F5344CB8AC3E}">
        <p14:creationId xmlns:p14="http://schemas.microsoft.com/office/powerpoint/2010/main" val="52747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8720B97F7241943A28C8BBA23237CE2" ma:contentTypeVersion="3" ma:contentTypeDescription="Create a new document." ma:contentTypeScope="" ma:versionID="5397403cb0e6751c1537f9f5de8321ba">
  <xsd:schema xmlns:xsd="http://www.w3.org/2001/XMLSchema" xmlns:xs="http://www.w3.org/2001/XMLSchema" xmlns:p="http://schemas.microsoft.com/office/2006/metadata/properties" xmlns:ns2="79578535-e92b-4683-a9d6-ec57caa5ca1b" targetNamespace="http://schemas.microsoft.com/office/2006/metadata/properties" ma:root="true" ma:fieldsID="31aaa0d9606384ca82cb1539d40e7bb5" ns2:_="">
    <xsd:import namespace="79578535-e92b-4683-a9d6-ec57caa5ca1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578535-e92b-4683-a9d6-ec57caa5ca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958DB7-71C9-4E59-8DF4-9A8F20335118}">
  <ds:schemaRefs>
    <ds:schemaRef ds:uri="79578535-e92b-4683-a9d6-ec57caa5ca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7D53B5-9B34-4F06-B8A8-B4F9AB2311C9}">
  <ds:schemaRefs>
    <ds:schemaRef ds:uri="79578535-e92b-4683-a9d6-ec57caa5ca1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29C637D-CCAE-4A76-87E0-E14D04F16118}">
  <ds:schemaRefs>
    <ds:schemaRef ds:uri="http://schemas.microsoft.com/sharepoint/v3/contenttype/forms"/>
  </ds:schemaRefs>
</ds:datastoreItem>
</file>

<file path=docMetadata/LabelInfo.xml><?xml version="1.0" encoding="utf-8"?>
<clbl:labelList xmlns:clbl="http://schemas.microsoft.com/office/2020/mipLabelMetadata">
  <clbl:label id="{c98a79ca-5a9a-4791-a243-f06afd67464d}" enabled="0" method="" siteId="{c98a79ca-5a9a-4791-a243-f06afd67464d}"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18</Notes>
  <HiddenSlides>4</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Aircraft Maintenance Prediction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Now open for inspection (questions)</vt:lpstr>
      <vt:lpstr>Appendix</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Tanya ARORA</dc:creator>
  <cp:revision>2</cp:revision>
  <dcterms:created xsi:type="dcterms:W3CDTF">2026-06-15T15:02:34Z</dcterms:created>
  <dcterms:modified xsi:type="dcterms:W3CDTF">2026-06-25T04:43:50Z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0x010100A8720B97F7241943A28C8BBA23237CE2</vt:lpwstr>
  </property>
</Properties>
</file>